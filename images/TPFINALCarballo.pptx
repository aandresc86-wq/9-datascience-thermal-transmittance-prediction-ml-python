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78" r:id="rId3"/>
    <p:sldId id="258" r:id="rId4"/>
    <p:sldId id="261" r:id="rId5"/>
    <p:sldId id="262" r:id="rId6"/>
    <p:sldId id="263" r:id="rId7"/>
    <p:sldId id="264" r:id="rId8"/>
    <p:sldId id="265" r:id="rId9"/>
    <p:sldId id="267" r:id="rId10"/>
    <p:sldId id="269" r:id="rId11"/>
    <p:sldId id="266" r:id="rId12"/>
    <p:sldId id="280" r:id="rId13"/>
    <p:sldId id="271" r:id="rId14"/>
    <p:sldId id="277" r:id="rId15"/>
    <p:sldId id="281" r:id="rId16"/>
    <p:sldId id="272" r:id="rId17"/>
    <p:sldId id="273" r:id="rId18"/>
    <p:sldId id="275" r:id="rId19"/>
    <p:sldId id="276"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FDCB"/>
    <a:srgbClr val="8A5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108"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FD70CB-E0E6-4EFD-B25E-82C3C62921A7}" type="datetimeFigureOut">
              <a:rPr lang="en-US" smtClean="0"/>
              <a:t>11-Nov-25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B9DE20-379A-4B6D-A909-2B49B8D4E7D2}" type="slidenum">
              <a:rPr lang="en-US" smtClean="0"/>
              <a:t>‹#›</a:t>
            </a:fld>
            <a:endParaRPr lang="en-US"/>
          </a:p>
        </p:txBody>
      </p:sp>
    </p:spTree>
    <p:extLst>
      <p:ext uri="{BB962C8B-B14F-4D97-AF65-F5344CB8AC3E}">
        <p14:creationId xmlns:p14="http://schemas.microsoft.com/office/powerpoint/2010/main" val="2196475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E7A3E-21AC-DB43-DC42-63C2CA727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D13651-7C98-881E-3863-87CB9F315F8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0237E55-E4F7-2DA4-DB79-8A33AD1761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129035-D209-3D94-0858-14C63D70AAFC}"/>
              </a:ext>
            </a:extLst>
          </p:cNvPr>
          <p:cNvSpPr>
            <a:spLocks noGrp="1"/>
          </p:cNvSpPr>
          <p:nvPr>
            <p:ph type="sldNum" sz="quarter" idx="5"/>
          </p:nvPr>
        </p:nvSpPr>
        <p:spPr/>
        <p:txBody>
          <a:bodyPr/>
          <a:lstStyle/>
          <a:p>
            <a:fld id="{F5B9DE20-379A-4B6D-A909-2B49B8D4E7D2}" type="slidenum">
              <a:rPr lang="en-US" smtClean="0"/>
              <a:t>2</a:t>
            </a:fld>
            <a:endParaRPr lang="en-US"/>
          </a:p>
        </p:txBody>
      </p:sp>
    </p:spTree>
    <p:extLst>
      <p:ext uri="{BB962C8B-B14F-4D97-AF65-F5344CB8AC3E}">
        <p14:creationId xmlns:p14="http://schemas.microsoft.com/office/powerpoint/2010/main" val="2757017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B9DE20-379A-4B6D-A909-2B49B8D4E7D2}" type="slidenum">
              <a:rPr lang="en-US" smtClean="0"/>
              <a:t>3</a:t>
            </a:fld>
            <a:endParaRPr lang="en-US"/>
          </a:p>
        </p:txBody>
      </p:sp>
    </p:spTree>
    <p:extLst>
      <p:ext uri="{BB962C8B-B14F-4D97-AF65-F5344CB8AC3E}">
        <p14:creationId xmlns:p14="http://schemas.microsoft.com/office/powerpoint/2010/main" val="2810009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64620-90E8-0242-6E74-BAE0F10AB4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2C94B-BD94-344D-88F1-434CBCB56C1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E83B97-EF9E-247E-7D5F-C3EA36799F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951BBB-4034-4455-B57F-925891F9CA96}"/>
              </a:ext>
            </a:extLst>
          </p:cNvPr>
          <p:cNvSpPr>
            <a:spLocks noGrp="1"/>
          </p:cNvSpPr>
          <p:nvPr>
            <p:ph type="sldNum" sz="quarter" idx="5"/>
          </p:nvPr>
        </p:nvSpPr>
        <p:spPr/>
        <p:txBody>
          <a:bodyPr/>
          <a:lstStyle/>
          <a:p>
            <a:fld id="{F5B9DE20-379A-4B6D-A909-2B49B8D4E7D2}" type="slidenum">
              <a:rPr lang="en-US" smtClean="0"/>
              <a:t>4</a:t>
            </a:fld>
            <a:endParaRPr lang="en-US"/>
          </a:p>
        </p:txBody>
      </p:sp>
    </p:spTree>
    <p:extLst>
      <p:ext uri="{BB962C8B-B14F-4D97-AF65-F5344CB8AC3E}">
        <p14:creationId xmlns:p14="http://schemas.microsoft.com/office/powerpoint/2010/main" val="3429471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9694C-E85E-0AD1-946C-A1EA2DDC34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021C60-3365-922D-782C-A42101DE7E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3435BB4-2DDD-3D03-7B44-44996D69BD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579F66-52EA-7A03-9ADF-21BD39C9BBBC}"/>
              </a:ext>
            </a:extLst>
          </p:cNvPr>
          <p:cNvSpPr>
            <a:spLocks noGrp="1"/>
          </p:cNvSpPr>
          <p:nvPr>
            <p:ph type="sldNum" sz="quarter" idx="5"/>
          </p:nvPr>
        </p:nvSpPr>
        <p:spPr/>
        <p:txBody>
          <a:bodyPr/>
          <a:lstStyle/>
          <a:p>
            <a:fld id="{F5B9DE20-379A-4B6D-A909-2B49B8D4E7D2}" type="slidenum">
              <a:rPr lang="en-US" smtClean="0"/>
              <a:t>5</a:t>
            </a:fld>
            <a:endParaRPr lang="en-US"/>
          </a:p>
        </p:txBody>
      </p:sp>
    </p:spTree>
    <p:extLst>
      <p:ext uri="{BB962C8B-B14F-4D97-AF65-F5344CB8AC3E}">
        <p14:creationId xmlns:p14="http://schemas.microsoft.com/office/powerpoint/2010/main" val="3742947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170EC-43A1-6E1F-88E5-92F4A2EA2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DF798-401B-8F00-1531-3D7A5184491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7CB7633-BCE6-E9B1-410B-3F4A769B06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031211-19AF-6426-B2A6-76967E1ABBE3}"/>
              </a:ext>
            </a:extLst>
          </p:cNvPr>
          <p:cNvSpPr>
            <a:spLocks noGrp="1"/>
          </p:cNvSpPr>
          <p:nvPr>
            <p:ph type="sldNum" sz="quarter" idx="5"/>
          </p:nvPr>
        </p:nvSpPr>
        <p:spPr/>
        <p:txBody>
          <a:bodyPr/>
          <a:lstStyle/>
          <a:p>
            <a:fld id="{F5B9DE20-379A-4B6D-A909-2B49B8D4E7D2}" type="slidenum">
              <a:rPr lang="en-US" smtClean="0"/>
              <a:t>6</a:t>
            </a:fld>
            <a:endParaRPr lang="en-US"/>
          </a:p>
        </p:txBody>
      </p:sp>
    </p:spTree>
    <p:extLst>
      <p:ext uri="{BB962C8B-B14F-4D97-AF65-F5344CB8AC3E}">
        <p14:creationId xmlns:p14="http://schemas.microsoft.com/office/powerpoint/2010/main" val="864766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74190-650E-A2FF-0A46-087266E01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2B69D-0517-BF07-1330-B511A14AE61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0DC71D7-9A4B-4AF1-3898-09601D738B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C6C1A1-3F8C-2166-3AEB-DBC885D68DD0}"/>
              </a:ext>
            </a:extLst>
          </p:cNvPr>
          <p:cNvSpPr>
            <a:spLocks noGrp="1"/>
          </p:cNvSpPr>
          <p:nvPr>
            <p:ph type="sldNum" sz="quarter" idx="5"/>
          </p:nvPr>
        </p:nvSpPr>
        <p:spPr/>
        <p:txBody>
          <a:bodyPr/>
          <a:lstStyle/>
          <a:p>
            <a:fld id="{F5B9DE20-379A-4B6D-A909-2B49B8D4E7D2}" type="slidenum">
              <a:rPr lang="en-US" smtClean="0"/>
              <a:t>7</a:t>
            </a:fld>
            <a:endParaRPr lang="en-US"/>
          </a:p>
        </p:txBody>
      </p:sp>
    </p:spTree>
    <p:extLst>
      <p:ext uri="{BB962C8B-B14F-4D97-AF65-F5344CB8AC3E}">
        <p14:creationId xmlns:p14="http://schemas.microsoft.com/office/powerpoint/2010/main" val="4025030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2E457-653B-A1DE-4145-5D45FAB50A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29730-2A01-3A15-B936-5F34F7BB1D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3DE2C6-68F8-B056-7919-B959C355C2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C4CAEB-6408-ACE9-CC7D-158F390D1FFF}"/>
              </a:ext>
            </a:extLst>
          </p:cNvPr>
          <p:cNvSpPr>
            <a:spLocks noGrp="1"/>
          </p:cNvSpPr>
          <p:nvPr>
            <p:ph type="sldNum" sz="quarter" idx="5"/>
          </p:nvPr>
        </p:nvSpPr>
        <p:spPr/>
        <p:txBody>
          <a:bodyPr/>
          <a:lstStyle/>
          <a:p>
            <a:fld id="{F5B9DE20-379A-4B6D-A909-2B49B8D4E7D2}" type="slidenum">
              <a:rPr lang="en-US" smtClean="0"/>
              <a:t>8</a:t>
            </a:fld>
            <a:endParaRPr lang="en-US"/>
          </a:p>
        </p:txBody>
      </p:sp>
    </p:spTree>
    <p:extLst>
      <p:ext uri="{BB962C8B-B14F-4D97-AF65-F5344CB8AC3E}">
        <p14:creationId xmlns:p14="http://schemas.microsoft.com/office/powerpoint/2010/main" val="1477136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F1F96-29C9-036F-88D3-CE1864BF06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D0358C-90A4-108C-AE62-4BAD55AFBF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DCFFAA2-A4A5-4C00-4E30-732F147B57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C16516-7BBD-6FC2-0463-9054D694F219}"/>
              </a:ext>
            </a:extLst>
          </p:cNvPr>
          <p:cNvSpPr>
            <a:spLocks noGrp="1"/>
          </p:cNvSpPr>
          <p:nvPr>
            <p:ph type="sldNum" sz="quarter" idx="5"/>
          </p:nvPr>
        </p:nvSpPr>
        <p:spPr/>
        <p:txBody>
          <a:bodyPr/>
          <a:lstStyle/>
          <a:p>
            <a:fld id="{F5B9DE20-379A-4B6D-A909-2B49B8D4E7D2}" type="slidenum">
              <a:rPr lang="en-US" smtClean="0"/>
              <a:t>9</a:t>
            </a:fld>
            <a:endParaRPr lang="en-US"/>
          </a:p>
        </p:txBody>
      </p:sp>
    </p:spTree>
    <p:extLst>
      <p:ext uri="{BB962C8B-B14F-4D97-AF65-F5344CB8AC3E}">
        <p14:creationId xmlns:p14="http://schemas.microsoft.com/office/powerpoint/2010/main" val="346703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95D4F-DFD4-C050-41F8-09D06F5D3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5C849-C88C-C928-35B5-D6EE080F755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65CD36-9080-E96B-902F-33A32B71B8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C10415-9EDE-24B0-839B-C2E6E5A0EA22}"/>
              </a:ext>
            </a:extLst>
          </p:cNvPr>
          <p:cNvSpPr>
            <a:spLocks noGrp="1"/>
          </p:cNvSpPr>
          <p:nvPr>
            <p:ph type="sldNum" sz="quarter" idx="5"/>
          </p:nvPr>
        </p:nvSpPr>
        <p:spPr/>
        <p:txBody>
          <a:bodyPr/>
          <a:lstStyle/>
          <a:p>
            <a:fld id="{F5B9DE20-379A-4B6D-A909-2B49B8D4E7D2}" type="slidenum">
              <a:rPr lang="en-US" smtClean="0"/>
              <a:t>10</a:t>
            </a:fld>
            <a:endParaRPr lang="en-US"/>
          </a:p>
        </p:txBody>
      </p:sp>
    </p:spTree>
    <p:extLst>
      <p:ext uri="{BB962C8B-B14F-4D97-AF65-F5344CB8AC3E}">
        <p14:creationId xmlns:p14="http://schemas.microsoft.com/office/powerpoint/2010/main" val="4282586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D4030-621A-F1DB-8679-58D1D2CED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7B8E4-58A0-7D96-36BF-ADE0FF94147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030D07-34FB-70E6-C27E-855CF7677D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1A8E2B-2078-C2A2-A815-47B96602CDAA}"/>
              </a:ext>
            </a:extLst>
          </p:cNvPr>
          <p:cNvSpPr>
            <a:spLocks noGrp="1"/>
          </p:cNvSpPr>
          <p:nvPr>
            <p:ph type="sldNum" sz="quarter" idx="5"/>
          </p:nvPr>
        </p:nvSpPr>
        <p:spPr/>
        <p:txBody>
          <a:bodyPr/>
          <a:lstStyle/>
          <a:p>
            <a:fld id="{F5B9DE20-379A-4B6D-A909-2B49B8D4E7D2}" type="slidenum">
              <a:rPr lang="en-US" smtClean="0"/>
              <a:t>11</a:t>
            </a:fld>
            <a:endParaRPr lang="en-US"/>
          </a:p>
        </p:txBody>
      </p:sp>
    </p:spTree>
    <p:extLst>
      <p:ext uri="{BB962C8B-B14F-4D97-AF65-F5344CB8AC3E}">
        <p14:creationId xmlns:p14="http://schemas.microsoft.com/office/powerpoint/2010/main" val="4128673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EEF95-CE7E-4176-907B-478F7B7AA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0D10C9-7B2F-405B-2902-000562F2F69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00E605-7A08-F2E5-6187-C0A92AF20B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B55746-BE82-6DA5-2020-DA925C934EA5}"/>
              </a:ext>
            </a:extLst>
          </p:cNvPr>
          <p:cNvSpPr>
            <a:spLocks noGrp="1"/>
          </p:cNvSpPr>
          <p:nvPr>
            <p:ph type="sldNum" sz="quarter" idx="5"/>
          </p:nvPr>
        </p:nvSpPr>
        <p:spPr/>
        <p:txBody>
          <a:bodyPr/>
          <a:lstStyle/>
          <a:p>
            <a:fld id="{F5B9DE20-379A-4B6D-A909-2B49B8D4E7D2}" type="slidenum">
              <a:rPr lang="en-US" smtClean="0"/>
              <a:t>12</a:t>
            </a:fld>
            <a:endParaRPr lang="en-US"/>
          </a:p>
        </p:txBody>
      </p:sp>
    </p:spTree>
    <p:extLst>
      <p:ext uri="{BB962C8B-B14F-4D97-AF65-F5344CB8AC3E}">
        <p14:creationId xmlns:p14="http://schemas.microsoft.com/office/powerpoint/2010/main" val="2630759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637AF-A850-076F-AAD8-DDB0F2CCBC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6F88E-4B41-BB6D-BCDE-DE834033927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FF6868-8E31-B627-3B73-474EC96777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034C33-3932-4758-CAB0-5C13F5144B55}"/>
              </a:ext>
            </a:extLst>
          </p:cNvPr>
          <p:cNvSpPr>
            <a:spLocks noGrp="1"/>
          </p:cNvSpPr>
          <p:nvPr>
            <p:ph type="sldNum" sz="quarter" idx="5"/>
          </p:nvPr>
        </p:nvSpPr>
        <p:spPr/>
        <p:txBody>
          <a:bodyPr/>
          <a:lstStyle/>
          <a:p>
            <a:fld id="{F5B9DE20-379A-4B6D-A909-2B49B8D4E7D2}" type="slidenum">
              <a:rPr lang="en-US" smtClean="0"/>
              <a:t>13</a:t>
            </a:fld>
            <a:endParaRPr lang="en-US"/>
          </a:p>
        </p:txBody>
      </p:sp>
    </p:spTree>
    <p:extLst>
      <p:ext uri="{BB962C8B-B14F-4D97-AF65-F5344CB8AC3E}">
        <p14:creationId xmlns:p14="http://schemas.microsoft.com/office/powerpoint/2010/main" val="25326390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74395-0E6A-163B-89D0-E44BF85B80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827D4-7A41-2A71-7FA1-B58D4610343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6A2E455-F6B6-6960-CF5F-EDDFCD63AF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B60BDA-7556-C290-EA47-EE085AA5EEB5}"/>
              </a:ext>
            </a:extLst>
          </p:cNvPr>
          <p:cNvSpPr>
            <a:spLocks noGrp="1"/>
          </p:cNvSpPr>
          <p:nvPr>
            <p:ph type="sldNum" sz="quarter" idx="5"/>
          </p:nvPr>
        </p:nvSpPr>
        <p:spPr/>
        <p:txBody>
          <a:bodyPr/>
          <a:lstStyle/>
          <a:p>
            <a:fld id="{F5B9DE20-379A-4B6D-A909-2B49B8D4E7D2}" type="slidenum">
              <a:rPr lang="en-US" smtClean="0"/>
              <a:t>14</a:t>
            </a:fld>
            <a:endParaRPr lang="en-US"/>
          </a:p>
        </p:txBody>
      </p:sp>
    </p:spTree>
    <p:extLst>
      <p:ext uri="{BB962C8B-B14F-4D97-AF65-F5344CB8AC3E}">
        <p14:creationId xmlns:p14="http://schemas.microsoft.com/office/powerpoint/2010/main" val="17221870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578EC-3A95-E1A4-B946-D083AF0F8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4F6AB-4097-CBD6-5BE4-06BF9D6D7A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01A863E-CCC3-1AAE-45B2-2F1D5AB5CC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ADD6B3-AFEB-70AA-0B4C-3AAC15AAB6AD}"/>
              </a:ext>
            </a:extLst>
          </p:cNvPr>
          <p:cNvSpPr>
            <a:spLocks noGrp="1"/>
          </p:cNvSpPr>
          <p:nvPr>
            <p:ph type="sldNum" sz="quarter" idx="5"/>
          </p:nvPr>
        </p:nvSpPr>
        <p:spPr/>
        <p:txBody>
          <a:bodyPr/>
          <a:lstStyle/>
          <a:p>
            <a:fld id="{F5B9DE20-379A-4B6D-A909-2B49B8D4E7D2}" type="slidenum">
              <a:rPr lang="en-US" smtClean="0"/>
              <a:t>15</a:t>
            </a:fld>
            <a:endParaRPr lang="en-US"/>
          </a:p>
        </p:txBody>
      </p:sp>
    </p:spTree>
    <p:extLst>
      <p:ext uri="{BB962C8B-B14F-4D97-AF65-F5344CB8AC3E}">
        <p14:creationId xmlns:p14="http://schemas.microsoft.com/office/powerpoint/2010/main" val="15025341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0BA8B-4AD3-2899-31D6-9AB94C083B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A58A4-24F8-F3A1-6E2E-99C942BEF8C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88B875-DC03-A0B1-4152-B67187F65B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BA1DD7-FBDE-A357-1E21-399E2C49DDE4}"/>
              </a:ext>
            </a:extLst>
          </p:cNvPr>
          <p:cNvSpPr>
            <a:spLocks noGrp="1"/>
          </p:cNvSpPr>
          <p:nvPr>
            <p:ph type="sldNum" sz="quarter" idx="5"/>
          </p:nvPr>
        </p:nvSpPr>
        <p:spPr/>
        <p:txBody>
          <a:bodyPr/>
          <a:lstStyle/>
          <a:p>
            <a:fld id="{F5B9DE20-379A-4B6D-A909-2B49B8D4E7D2}" type="slidenum">
              <a:rPr lang="en-US" smtClean="0"/>
              <a:t>16</a:t>
            </a:fld>
            <a:endParaRPr lang="en-US"/>
          </a:p>
        </p:txBody>
      </p:sp>
    </p:spTree>
    <p:extLst>
      <p:ext uri="{BB962C8B-B14F-4D97-AF65-F5344CB8AC3E}">
        <p14:creationId xmlns:p14="http://schemas.microsoft.com/office/powerpoint/2010/main" val="39661357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3EFC9-24AC-03D0-C6A6-F93D1A247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8F297-FB5E-D3FA-013D-28F0D9E050B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D1E9136-199B-8694-10A3-4BABEC8A00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B340E9-658D-78DC-4947-0360D791341A}"/>
              </a:ext>
            </a:extLst>
          </p:cNvPr>
          <p:cNvSpPr>
            <a:spLocks noGrp="1"/>
          </p:cNvSpPr>
          <p:nvPr>
            <p:ph type="sldNum" sz="quarter" idx="5"/>
          </p:nvPr>
        </p:nvSpPr>
        <p:spPr/>
        <p:txBody>
          <a:bodyPr/>
          <a:lstStyle/>
          <a:p>
            <a:fld id="{F5B9DE20-379A-4B6D-A909-2B49B8D4E7D2}" type="slidenum">
              <a:rPr lang="en-US" smtClean="0"/>
              <a:t>17</a:t>
            </a:fld>
            <a:endParaRPr lang="en-US"/>
          </a:p>
        </p:txBody>
      </p:sp>
    </p:spTree>
    <p:extLst>
      <p:ext uri="{BB962C8B-B14F-4D97-AF65-F5344CB8AC3E}">
        <p14:creationId xmlns:p14="http://schemas.microsoft.com/office/powerpoint/2010/main" val="3055137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79DA9-CFD6-91F8-AFC0-D064568DF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8B381-90BD-EEFD-8EB6-B91DD5EB0E8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BE2C2B-7597-7A22-7CDF-73BB2015AE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7BC6AB-4AF9-7873-5FA7-760C0D29C1DC}"/>
              </a:ext>
            </a:extLst>
          </p:cNvPr>
          <p:cNvSpPr>
            <a:spLocks noGrp="1"/>
          </p:cNvSpPr>
          <p:nvPr>
            <p:ph type="sldNum" sz="quarter" idx="5"/>
          </p:nvPr>
        </p:nvSpPr>
        <p:spPr/>
        <p:txBody>
          <a:bodyPr/>
          <a:lstStyle/>
          <a:p>
            <a:fld id="{F5B9DE20-379A-4B6D-A909-2B49B8D4E7D2}" type="slidenum">
              <a:rPr lang="en-US" smtClean="0"/>
              <a:t>18</a:t>
            </a:fld>
            <a:endParaRPr lang="en-US"/>
          </a:p>
        </p:txBody>
      </p:sp>
    </p:spTree>
    <p:extLst>
      <p:ext uri="{BB962C8B-B14F-4D97-AF65-F5344CB8AC3E}">
        <p14:creationId xmlns:p14="http://schemas.microsoft.com/office/powerpoint/2010/main" val="42938781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69B46-282A-85D8-DFA9-F870B9DCD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2298F-7692-F8EB-0751-A43C5AC6BB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A0E3EEF-B720-4E02-D766-9F92823E5C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7F87D3-076A-10CC-4537-6C25542D5EB2}"/>
              </a:ext>
            </a:extLst>
          </p:cNvPr>
          <p:cNvSpPr>
            <a:spLocks noGrp="1"/>
          </p:cNvSpPr>
          <p:nvPr>
            <p:ph type="sldNum" sz="quarter" idx="5"/>
          </p:nvPr>
        </p:nvSpPr>
        <p:spPr/>
        <p:txBody>
          <a:bodyPr/>
          <a:lstStyle/>
          <a:p>
            <a:fld id="{F5B9DE20-379A-4B6D-A909-2B49B8D4E7D2}" type="slidenum">
              <a:rPr lang="en-US" smtClean="0"/>
              <a:t>19</a:t>
            </a:fld>
            <a:endParaRPr lang="en-US"/>
          </a:p>
        </p:txBody>
      </p:sp>
    </p:spTree>
    <p:extLst>
      <p:ext uri="{BB962C8B-B14F-4D97-AF65-F5344CB8AC3E}">
        <p14:creationId xmlns:p14="http://schemas.microsoft.com/office/powerpoint/2010/main" val="2464859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EF601-3B07-AD53-7C65-5A0FBE6B4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F3D23E-495A-F4E5-8524-6E8D4DEC3F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CF3593-3BBA-85E4-D343-F468EDD88B5F}"/>
              </a:ext>
            </a:extLst>
          </p:cNvPr>
          <p:cNvSpPr>
            <a:spLocks noGrp="1"/>
          </p:cNvSpPr>
          <p:nvPr>
            <p:ph type="dt" sz="half" idx="10"/>
          </p:nvPr>
        </p:nvSpPr>
        <p:spPr/>
        <p:txBody>
          <a:bodyPr/>
          <a:lstStyle/>
          <a:p>
            <a:fld id="{FE89E62B-BD3F-4D80-AD53-5225908B47DE}" type="datetimeFigureOut">
              <a:rPr lang="en-US" smtClean="0"/>
              <a:t>11-Nov-25</a:t>
            </a:fld>
            <a:endParaRPr lang="en-US"/>
          </a:p>
        </p:txBody>
      </p:sp>
      <p:sp>
        <p:nvSpPr>
          <p:cNvPr id="5" name="Footer Placeholder 4">
            <a:extLst>
              <a:ext uri="{FF2B5EF4-FFF2-40B4-BE49-F238E27FC236}">
                <a16:creationId xmlns:a16="http://schemas.microsoft.com/office/drawing/2014/main" id="{A1113BFF-3825-C63E-D935-18924B9FB2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E9B9F6-DBD2-CC64-D212-0C9695C62CC3}"/>
              </a:ext>
            </a:extLst>
          </p:cNvPr>
          <p:cNvSpPr>
            <a:spLocks noGrp="1"/>
          </p:cNvSpPr>
          <p:nvPr>
            <p:ph type="sldNum" sz="quarter" idx="12"/>
          </p:nvPr>
        </p:nvSpPr>
        <p:spPr/>
        <p:txBody>
          <a:bodyPr/>
          <a:lstStyle/>
          <a:p>
            <a:fld id="{8785EF68-37A5-490E-9B7F-80F0ED2D127A}" type="slidenum">
              <a:rPr lang="en-US" smtClean="0"/>
              <a:t>‹#›</a:t>
            </a:fld>
            <a:endParaRPr lang="en-US"/>
          </a:p>
        </p:txBody>
      </p:sp>
    </p:spTree>
    <p:extLst>
      <p:ext uri="{BB962C8B-B14F-4D97-AF65-F5344CB8AC3E}">
        <p14:creationId xmlns:p14="http://schemas.microsoft.com/office/powerpoint/2010/main" val="2847512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62E8B-33D9-0BD3-F0FC-F8E9162F8B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3B6ECD-D8BC-ABF9-1B9F-75821FF566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B4D8BC-08B5-9A32-6EAB-1FA21F7756C8}"/>
              </a:ext>
            </a:extLst>
          </p:cNvPr>
          <p:cNvSpPr>
            <a:spLocks noGrp="1"/>
          </p:cNvSpPr>
          <p:nvPr>
            <p:ph type="dt" sz="half" idx="10"/>
          </p:nvPr>
        </p:nvSpPr>
        <p:spPr/>
        <p:txBody>
          <a:bodyPr/>
          <a:lstStyle/>
          <a:p>
            <a:fld id="{FE89E62B-BD3F-4D80-AD53-5225908B47DE}" type="datetimeFigureOut">
              <a:rPr lang="en-US" smtClean="0"/>
              <a:t>11-Nov-25</a:t>
            </a:fld>
            <a:endParaRPr lang="en-US"/>
          </a:p>
        </p:txBody>
      </p:sp>
      <p:sp>
        <p:nvSpPr>
          <p:cNvPr id="5" name="Footer Placeholder 4">
            <a:extLst>
              <a:ext uri="{FF2B5EF4-FFF2-40B4-BE49-F238E27FC236}">
                <a16:creationId xmlns:a16="http://schemas.microsoft.com/office/drawing/2014/main" id="{B65187D1-5A26-0AE6-E248-BEEC85B4B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6DACF8-C092-E3DE-958F-AABFC77B8CB2}"/>
              </a:ext>
            </a:extLst>
          </p:cNvPr>
          <p:cNvSpPr>
            <a:spLocks noGrp="1"/>
          </p:cNvSpPr>
          <p:nvPr>
            <p:ph type="sldNum" sz="quarter" idx="12"/>
          </p:nvPr>
        </p:nvSpPr>
        <p:spPr/>
        <p:txBody>
          <a:bodyPr/>
          <a:lstStyle/>
          <a:p>
            <a:fld id="{8785EF68-37A5-490E-9B7F-80F0ED2D127A}" type="slidenum">
              <a:rPr lang="en-US" smtClean="0"/>
              <a:t>‹#›</a:t>
            </a:fld>
            <a:endParaRPr lang="en-US"/>
          </a:p>
        </p:txBody>
      </p:sp>
    </p:spTree>
    <p:extLst>
      <p:ext uri="{BB962C8B-B14F-4D97-AF65-F5344CB8AC3E}">
        <p14:creationId xmlns:p14="http://schemas.microsoft.com/office/powerpoint/2010/main" val="457063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9DB05-E9FE-D39D-2764-AAEFD53571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FA770AA-DDC2-1CB8-63C2-A4732CC86C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1975CA-534E-AC07-9E74-E0E67875BBD9}"/>
              </a:ext>
            </a:extLst>
          </p:cNvPr>
          <p:cNvSpPr>
            <a:spLocks noGrp="1"/>
          </p:cNvSpPr>
          <p:nvPr>
            <p:ph type="dt" sz="half" idx="10"/>
          </p:nvPr>
        </p:nvSpPr>
        <p:spPr/>
        <p:txBody>
          <a:bodyPr/>
          <a:lstStyle/>
          <a:p>
            <a:fld id="{FE89E62B-BD3F-4D80-AD53-5225908B47DE}" type="datetimeFigureOut">
              <a:rPr lang="en-US" smtClean="0"/>
              <a:t>11-Nov-25</a:t>
            </a:fld>
            <a:endParaRPr lang="en-US"/>
          </a:p>
        </p:txBody>
      </p:sp>
      <p:sp>
        <p:nvSpPr>
          <p:cNvPr id="5" name="Footer Placeholder 4">
            <a:extLst>
              <a:ext uri="{FF2B5EF4-FFF2-40B4-BE49-F238E27FC236}">
                <a16:creationId xmlns:a16="http://schemas.microsoft.com/office/drawing/2014/main" id="{413C8764-1368-D2D5-6854-B4BF941E64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F1F77-8D27-06A8-360F-845807F70531}"/>
              </a:ext>
            </a:extLst>
          </p:cNvPr>
          <p:cNvSpPr>
            <a:spLocks noGrp="1"/>
          </p:cNvSpPr>
          <p:nvPr>
            <p:ph type="sldNum" sz="quarter" idx="12"/>
          </p:nvPr>
        </p:nvSpPr>
        <p:spPr/>
        <p:txBody>
          <a:bodyPr/>
          <a:lstStyle/>
          <a:p>
            <a:fld id="{8785EF68-37A5-490E-9B7F-80F0ED2D127A}" type="slidenum">
              <a:rPr lang="en-US" smtClean="0"/>
              <a:t>‹#›</a:t>
            </a:fld>
            <a:endParaRPr lang="en-US"/>
          </a:p>
        </p:txBody>
      </p:sp>
    </p:spTree>
    <p:extLst>
      <p:ext uri="{BB962C8B-B14F-4D97-AF65-F5344CB8AC3E}">
        <p14:creationId xmlns:p14="http://schemas.microsoft.com/office/powerpoint/2010/main" val="1419923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61A24-CE64-E890-747C-42FC5B232D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FB9B23-3A36-1545-76C6-1B700862B7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CFE007-EE70-93F6-3160-142F260AE5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FA72B8-FB29-F3B4-F1DE-BEA10570BB6F}"/>
              </a:ext>
            </a:extLst>
          </p:cNvPr>
          <p:cNvSpPr>
            <a:spLocks noGrp="1"/>
          </p:cNvSpPr>
          <p:nvPr>
            <p:ph type="dt" sz="half" idx="10"/>
          </p:nvPr>
        </p:nvSpPr>
        <p:spPr/>
        <p:txBody>
          <a:bodyPr/>
          <a:lstStyle/>
          <a:p>
            <a:fld id="{FE89E62B-BD3F-4D80-AD53-5225908B47DE}" type="datetimeFigureOut">
              <a:rPr lang="en-US" smtClean="0"/>
              <a:t>11-Nov-25</a:t>
            </a:fld>
            <a:endParaRPr lang="en-US"/>
          </a:p>
        </p:txBody>
      </p:sp>
      <p:sp>
        <p:nvSpPr>
          <p:cNvPr id="6" name="Footer Placeholder 5">
            <a:extLst>
              <a:ext uri="{FF2B5EF4-FFF2-40B4-BE49-F238E27FC236}">
                <a16:creationId xmlns:a16="http://schemas.microsoft.com/office/drawing/2014/main" id="{9804801A-6A65-F8C7-3E8E-E7A2BBF479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9D21FD-9365-7E1C-D333-A26CF0AFFBF0}"/>
              </a:ext>
            </a:extLst>
          </p:cNvPr>
          <p:cNvSpPr>
            <a:spLocks noGrp="1"/>
          </p:cNvSpPr>
          <p:nvPr>
            <p:ph type="sldNum" sz="quarter" idx="12"/>
          </p:nvPr>
        </p:nvSpPr>
        <p:spPr/>
        <p:txBody>
          <a:bodyPr/>
          <a:lstStyle/>
          <a:p>
            <a:fld id="{8785EF68-37A5-490E-9B7F-80F0ED2D127A}" type="slidenum">
              <a:rPr lang="en-US" smtClean="0"/>
              <a:t>‹#›</a:t>
            </a:fld>
            <a:endParaRPr lang="en-US"/>
          </a:p>
        </p:txBody>
      </p:sp>
    </p:spTree>
    <p:extLst>
      <p:ext uri="{BB962C8B-B14F-4D97-AF65-F5344CB8AC3E}">
        <p14:creationId xmlns:p14="http://schemas.microsoft.com/office/powerpoint/2010/main" val="1232970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225AC-8DE3-DAB9-6501-3CBDA01DD4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138590-837F-D044-680C-4AEF688201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3FA457-43A7-E98C-B4AF-BCDFD6D58B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8939F9-455D-11AE-AADE-99E3CC0C85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AD1234-F8E5-F119-5745-A053C20FC6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59CFC0-E7EB-7A57-9C8F-A5527E052D66}"/>
              </a:ext>
            </a:extLst>
          </p:cNvPr>
          <p:cNvSpPr>
            <a:spLocks noGrp="1"/>
          </p:cNvSpPr>
          <p:nvPr>
            <p:ph type="dt" sz="half" idx="10"/>
          </p:nvPr>
        </p:nvSpPr>
        <p:spPr/>
        <p:txBody>
          <a:bodyPr/>
          <a:lstStyle/>
          <a:p>
            <a:fld id="{FE89E62B-BD3F-4D80-AD53-5225908B47DE}" type="datetimeFigureOut">
              <a:rPr lang="en-US" smtClean="0"/>
              <a:t>11-Nov-25</a:t>
            </a:fld>
            <a:endParaRPr lang="en-US"/>
          </a:p>
        </p:txBody>
      </p:sp>
      <p:sp>
        <p:nvSpPr>
          <p:cNvPr id="8" name="Footer Placeholder 7">
            <a:extLst>
              <a:ext uri="{FF2B5EF4-FFF2-40B4-BE49-F238E27FC236}">
                <a16:creationId xmlns:a16="http://schemas.microsoft.com/office/drawing/2014/main" id="{0BBC9246-16F9-6E46-F642-00917B7A81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A42785-411E-36A2-1422-7ED9CEAABE3F}"/>
              </a:ext>
            </a:extLst>
          </p:cNvPr>
          <p:cNvSpPr>
            <a:spLocks noGrp="1"/>
          </p:cNvSpPr>
          <p:nvPr>
            <p:ph type="sldNum" sz="quarter" idx="12"/>
          </p:nvPr>
        </p:nvSpPr>
        <p:spPr/>
        <p:txBody>
          <a:bodyPr/>
          <a:lstStyle/>
          <a:p>
            <a:fld id="{8785EF68-37A5-490E-9B7F-80F0ED2D127A}" type="slidenum">
              <a:rPr lang="en-US" smtClean="0"/>
              <a:t>‹#›</a:t>
            </a:fld>
            <a:endParaRPr lang="en-US"/>
          </a:p>
        </p:txBody>
      </p:sp>
    </p:spTree>
    <p:extLst>
      <p:ext uri="{BB962C8B-B14F-4D97-AF65-F5344CB8AC3E}">
        <p14:creationId xmlns:p14="http://schemas.microsoft.com/office/powerpoint/2010/main" val="2221386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FAE2C-5888-115F-DB0C-672A9FBB87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84977B-9DC9-EC15-3E4F-12B11034D5EC}"/>
              </a:ext>
            </a:extLst>
          </p:cNvPr>
          <p:cNvSpPr>
            <a:spLocks noGrp="1"/>
          </p:cNvSpPr>
          <p:nvPr>
            <p:ph type="dt" sz="half" idx="10"/>
          </p:nvPr>
        </p:nvSpPr>
        <p:spPr/>
        <p:txBody>
          <a:bodyPr/>
          <a:lstStyle/>
          <a:p>
            <a:fld id="{FE89E62B-BD3F-4D80-AD53-5225908B47DE}" type="datetimeFigureOut">
              <a:rPr lang="en-US" smtClean="0"/>
              <a:t>11-Nov-25</a:t>
            </a:fld>
            <a:endParaRPr lang="en-US"/>
          </a:p>
        </p:txBody>
      </p:sp>
      <p:sp>
        <p:nvSpPr>
          <p:cNvPr id="4" name="Footer Placeholder 3">
            <a:extLst>
              <a:ext uri="{FF2B5EF4-FFF2-40B4-BE49-F238E27FC236}">
                <a16:creationId xmlns:a16="http://schemas.microsoft.com/office/drawing/2014/main" id="{B9AFBCEC-AB5B-1695-E1A0-EADB4DC6D5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E97E76-34D1-40A8-0ABD-BF0EB3DC709B}"/>
              </a:ext>
            </a:extLst>
          </p:cNvPr>
          <p:cNvSpPr>
            <a:spLocks noGrp="1"/>
          </p:cNvSpPr>
          <p:nvPr>
            <p:ph type="sldNum" sz="quarter" idx="12"/>
          </p:nvPr>
        </p:nvSpPr>
        <p:spPr/>
        <p:txBody>
          <a:bodyPr/>
          <a:lstStyle/>
          <a:p>
            <a:fld id="{8785EF68-37A5-490E-9B7F-80F0ED2D127A}" type="slidenum">
              <a:rPr lang="en-US" smtClean="0"/>
              <a:t>‹#›</a:t>
            </a:fld>
            <a:endParaRPr lang="en-US"/>
          </a:p>
        </p:txBody>
      </p:sp>
    </p:spTree>
    <p:extLst>
      <p:ext uri="{BB962C8B-B14F-4D97-AF65-F5344CB8AC3E}">
        <p14:creationId xmlns:p14="http://schemas.microsoft.com/office/powerpoint/2010/main" val="3624272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57B256-938B-4DA6-2176-4C24E2C0E46A}"/>
              </a:ext>
            </a:extLst>
          </p:cNvPr>
          <p:cNvSpPr>
            <a:spLocks noGrp="1"/>
          </p:cNvSpPr>
          <p:nvPr>
            <p:ph type="dt" sz="half" idx="10"/>
          </p:nvPr>
        </p:nvSpPr>
        <p:spPr/>
        <p:txBody>
          <a:bodyPr/>
          <a:lstStyle/>
          <a:p>
            <a:fld id="{FE89E62B-BD3F-4D80-AD53-5225908B47DE}" type="datetimeFigureOut">
              <a:rPr lang="en-US" smtClean="0"/>
              <a:t>11-Nov-25</a:t>
            </a:fld>
            <a:endParaRPr lang="en-US"/>
          </a:p>
        </p:txBody>
      </p:sp>
      <p:sp>
        <p:nvSpPr>
          <p:cNvPr id="3" name="Footer Placeholder 2">
            <a:extLst>
              <a:ext uri="{FF2B5EF4-FFF2-40B4-BE49-F238E27FC236}">
                <a16:creationId xmlns:a16="http://schemas.microsoft.com/office/drawing/2014/main" id="{B20E87E4-9648-5F3C-BB67-4D86426D05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820A0A-B6FD-263B-BA5F-20C0782D9465}"/>
              </a:ext>
            </a:extLst>
          </p:cNvPr>
          <p:cNvSpPr>
            <a:spLocks noGrp="1"/>
          </p:cNvSpPr>
          <p:nvPr>
            <p:ph type="sldNum" sz="quarter" idx="12"/>
          </p:nvPr>
        </p:nvSpPr>
        <p:spPr/>
        <p:txBody>
          <a:bodyPr/>
          <a:lstStyle/>
          <a:p>
            <a:fld id="{8785EF68-37A5-490E-9B7F-80F0ED2D127A}" type="slidenum">
              <a:rPr lang="en-US" smtClean="0"/>
              <a:t>‹#›</a:t>
            </a:fld>
            <a:endParaRPr lang="en-US"/>
          </a:p>
        </p:txBody>
      </p:sp>
    </p:spTree>
    <p:extLst>
      <p:ext uri="{BB962C8B-B14F-4D97-AF65-F5344CB8AC3E}">
        <p14:creationId xmlns:p14="http://schemas.microsoft.com/office/powerpoint/2010/main" val="384993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5CA5-16D0-09DF-04E4-52EB749CC4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3FE701-12B2-910A-87A5-7454803312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46841F-FA2F-6B4E-1A70-BB6FFE097A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404B9A-B681-5EA4-C010-3768C2A9ED80}"/>
              </a:ext>
            </a:extLst>
          </p:cNvPr>
          <p:cNvSpPr>
            <a:spLocks noGrp="1"/>
          </p:cNvSpPr>
          <p:nvPr>
            <p:ph type="dt" sz="half" idx="10"/>
          </p:nvPr>
        </p:nvSpPr>
        <p:spPr/>
        <p:txBody>
          <a:bodyPr/>
          <a:lstStyle/>
          <a:p>
            <a:fld id="{FE89E62B-BD3F-4D80-AD53-5225908B47DE}" type="datetimeFigureOut">
              <a:rPr lang="en-US" smtClean="0"/>
              <a:t>11-Nov-25</a:t>
            </a:fld>
            <a:endParaRPr lang="en-US"/>
          </a:p>
        </p:txBody>
      </p:sp>
      <p:sp>
        <p:nvSpPr>
          <p:cNvPr id="6" name="Footer Placeholder 5">
            <a:extLst>
              <a:ext uri="{FF2B5EF4-FFF2-40B4-BE49-F238E27FC236}">
                <a16:creationId xmlns:a16="http://schemas.microsoft.com/office/drawing/2014/main" id="{64B412D2-7C5F-C4D3-084A-D4ABE3AE30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FBB43E-CDC7-70DB-F360-9FB04E3B54D6}"/>
              </a:ext>
            </a:extLst>
          </p:cNvPr>
          <p:cNvSpPr>
            <a:spLocks noGrp="1"/>
          </p:cNvSpPr>
          <p:nvPr>
            <p:ph type="sldNum" sz="quarter" idx="12"/>
          </p:nvPr>
        </p:nvSpPr>
        <p:spPr/>
        <p:txBody>
          <a:bodyPr/>
          <a:lstStyle/>
          <a:p>
            <a:fld id="{8785EF68-37A5-490E-9B7F-80F0ED2D127A}" type="slidenum">
              <a:rPr lang="en-US" smtClean="0"/>
              <a:t>‹#›</a:t>
            </a:fld>
            <a:endParaRPr lang="en-US"/>
          </a:p>
        </p:txBody>
      </p:sp>
    </p:spTree>
    <p:extLst>
      <p:ext uri="{BB962C8B-B14F-4D97-AF65-F5344CB8AC3E}">
        <p14:creationId xmlns:p14="http://schemas.microsoft.com/office/powerpoint/2010/main" val="1926063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59B65-EDE8-D8AF-E220-46899793A2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B22AD7-50EC-79C9-D077-C4C4CDFE38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C34C6A-8A50-C1CD-169F-70E7308D6A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EB02CE-C701-D022-97B4-31427D6A9557}"/>
              </a:ext>
            </a:extLst>
          </p:cNvPr>
          <p:cNvSpPr>
            <a:spLocks noGrp="1"/>
          </p:cNvSpPr>
          <p:nvPr>
            <p:ph type="dt" sz="half" idx="10"/>
          </p:nvPr>
        </p:nvSpPr>
        <p:spPr/>
        <p:txBody>
          <a:bodyPr/>
          <a:lstStyle/>
          <a:p>
            <a:fld id="{FE89E62B-BD3F-4D80-AD53-5225908B47DE}" type="datetimeFigureOut">
              <a:rPr lang="en-US" smtClean="0"/>
              <a:t>11-Nov-25</a:t>
            </a:fld>
            <a:endParaRPr lang="en-US"/>
          </a:p>
        </p:txBody>
      </p:sp>
      <p:sp>
        <p:nvSpPr>
          <p:cNvPr id="6" name="Footer Placeholder 5">
            <a:extLst>
              <a:ext uri="{FF2B5EF4-FFF2-40B4-BE49-F238E27FC236}">
                <a16:creationId xmlns:a16="http://schemas.microsoft.com/office/drawing/2014/main" id="{038D87F3-EE39-E82D-0683-B03A23FEF2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BECF36-849E-4EA6-98AB-6B07DF9EFD7B}"/>
              </a:ext>
            </a:extLst>
          </p:cNvPr>
          <p:cNvSpPr>
            <a:spLocks noGrp="1"/>
          </p:cNvSpPr>
          <p:nvPr>
            <p:ph type="sldNum" sz="quarter" idx="12"/>
          </p:nvPr>
        </p:nvSpPr>
        <p:spPr/>
        <p:txBody>
          <a:bodyPr/>
          <a:lstStyle/>
          <a:p>
            <a:fld id="{8785EF68-37A5-490E-9B7F-80F0ED2D127A}" type="slidenum">
              <a:rPr lang="en-US" smtClean="0"/>
              <a:t>‹#›</a:t>
            </a:fld>
            <a:endParaRPr lang="en-US"/>
          </a:p>
        </p:txBody>
      </p:sp>
    </p:spTree>
    <p:extLst>
      <p:ext uri="{BB962C8B-B14F-4D97-AF65-F5344CB8AC3E}">
        <p14:creationId xmlns:p14="http://schemas.microsoft.com/office/powerpoint/2010/main" val="3863452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1C68C-8181-439D-CECA-A29098A7C9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132E57-D70A-CE86-2159-BEE915D858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9EA970-8B4D-98EF-9A11-CA0B03408F21}"/>
              </a:ext>
            </a:extLst>
          </p:cNvPr>
          <p:cNvSpPr>
            <a:spLocks noGrp="1"/>
          </p:cNvSpPr>
          <p:nvPr>
            <p:ph type="dt" sz="half" idx="10"/>
          </p:nvPr>
        </p:nvSpPr>
        <p:spPr/>
        <p:txBody>
          <a:bodyPr/>
          <a:lstStyle/>
          <a:p>
            <a:fld id="{FE89E62B-BD3F-4D80-AD53-5225908B47DE}" type="datetimeFigureOut">
              <a:rPr lang="en-US" smtClean="0"/>
              <a:t>11-Nov-25</a:t>
            </a:fld>
            <a:endParaRPr lang="en-US"/>
          </a:p>
        </p:txBody>
      </p:sp>
      <p:sp>
        <p:nvSpPr>
          <p:cNvPr id="5" name="Footer Placeholder 4">
            <a:extLst>
              <a:ext uri="{FF2B5EF4-FFF2-40B4-BE49-F238E27FC236}">
                <a16:creationId xmlns:a16="http://schemas.microsoft.com/office/drawing/2014/main" id="{D4E6F6A1-865E-83D7-7D46-26A7BE2938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4183E9-D368-46C1-EB25-2B02B6F12D19}"/>
              </a:ext>
            </a:extLst>
          </p:cNvPr>
          <p:cNvSpPr>
            <a:spLocks noGrp="1"/>
          </p:cNvSpPr>
          <p:nvPr>
            <p:ph type="sldNum" sz="quarter" idx="12"/>
          </p:nvPr>
        </p:nvSpPr>
        <p:spPr/>
        <p:txBody>
          <a:bodyPr/>
          <a:lstStyle/>
          <a:p>
            <a:fld id="{8785EF68-37A5-490E-9B7F-80F0ED2D127A}" type="slidenum">
              <a:rPr lang="en-US" smtClean="0"/>
              <a:t>‹#›</a:t>
            </a:fld>
            <a:endParaRPr lang="en-US"/>
          </a:p>
        </p:txBody>
      </p:sp>
    </p:spTree>
    <p:extLst>
      <p:ext uri="{BB962C8B-B14F-4D97-AF65-F5344CB8AC3E}">
        <p14:creationId xmlns:p14="http://schemas.microsoft.com/office/powerpoint/2010/main" val="1981530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5147CB-1E88-F5F3-FC38-CE6F3D5B8A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EF7DB9-D006-CB85-CAF2-D10C00B9E9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9475A2-6C1D-D4B5-F3FA-8D66AA696B5F}"/>
              </a:ext>
            </a:extLst>
          </p:cNvPr>
          <p:cNvSpPr>
            <a:spLocks noGrp="1"/>
          </p:cNvSpPr>
          <p:nvPr>
            <p:ph type="dt" sz="half" idx="10"/>
          </p:nvPr>
        </p:nvSpPr>
        <p:spPr/>
        <p:txBody>
          <a:bodyPr/>
          <a:lstStyle/>
          <a:p>
            <a:fld id="{FE89E62B-BD3F-4D80-AD53-5225908B47DE}" type="datetimeFigureOut">
              <a:rPr lang="en-US" smtClean="0"/>
              <a:t>11-Nov-25</a:t>
            </a:fld>
            <a:endParaRPr lang="en-US"/>
          </a:p>
        </p:txBody>
      </p:sp>
      <p:sp>
        <p:nvSpPr>
          <p:cNvPr id="5" name="Footer Placeholder 4">
            <a:extLst>
              <a:ext uri="{FF2B5EF4-FFF2-40B4-BE49-F238E27FC236}">
                <a16:creationId xmlns:a16="http://schemas.microsoft.com/office/drawing/2014/main" id="{100A542E-6FFA-5396-FFA8-4CD5D98ECD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29C005-DE4C-0972-ABE0-3EADAC511121}"/>
              </a:ext>
            </a:extLst>
          </p:cNvPr>
          <p:cNvSpPr>
            <a:spLocks noGrp="1"/>
          </p:cNvSpPr>
          <p:nvPr>
            <p:ph type="sldNum" sz="quarter" idx="12"/>
          </p:nvPr>
        </p:nvSpPr>
        <p:spPr/>
        <p:txBody>
          <a:bodyPr/>
          <a:lstStyle/>
          <a:p>
            <a:fld id="{8785EF68-37A5-490E-9B7F-80F0ED2D127A}" type="slidenum">
              <a:rPr lang="en-US" smtClean="0"/>
              <a:t>‹#›</a:t>
            </a:fld>
            <a:endParaRPr lang="en-US"/>
          </a:p>
        </p:txBody>
      </p:sp>
    </p:spTree>
    <p:extLst>
      <p:ext uri="{BB962C8B-B14F-4D97-AF65-F5344CB8AC3E}">
        <p14:creationId xmlns:p14="http://schemas.microsoft.com/office/powerpoint/2010/main" val="350667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C1B4F1-B97A-533A-C204-A4CA1D24B6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79A7D0-DAE1-D9B7-FFC9-8165962489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4CF31C-20FE-93E5-DB7F-ABCBE34F92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89E62B-BD3F-4D80-AD53-5225908B47DE}" type="datetimeFigureOut">
              <a:rPr lang="en-US" smtClean="0"/>
              <a:t>11-Nov-25</a:t>
            </a:fld>
            <a:endParaRPr lang="en-US"/>
          </a:p>
        </p:txBody>
      </p:sp>
      <p:sp>
        <p:nvSpPr>
          <p:cNvPr id="5" name="Footer Placeholder 4">
            <a:extLst>
              <a:ext uri="{FF2B5EF4-FFF2-40B4-BE49-F238E27FC236}">
                <a16:creationId xmlns:a16="http://schemas.microsoft.com/office/drawing/2014/main" id="{F0DA31C4-5C9F-EFCA-D6B2-032729EE25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D98275-0CC6-F32A-6796-E7BBA23C1A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85EF68-37A5-490E-9B7F-80F0ED2D127A}" type="slidenum">
              <a:rPr lang="en-US" smtClean="0"/>
              <a:t>‹#›</a:t>
            </a:fld>
            <a:endParaRPr lang="en-US"/>
          </a:p>
        </p:txBody>
      </p:sp>
    </p:spTree>
    <p:extLst>
      <p:ext uri="{BB962C8B-B14F-4D97-AF65-F5344CB8AC3E}">
        <p14:creationId xmlns:p14="http://schemas.microsoft.com/office/powerpoint/2010/main" val="1894602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2.xml"/><Relationship Id="rId18" Type="http://schemas.openxmlformats.org/officeDocument/2006/relationships/slide" Target="slide18.xml"/><Relationship Id="rId3" Type="http://schemas.openxmlformats.org/officeDocument/2006/relationships/image" Target="../media/image1.png"/><Relationship Id="rId7" Type="http://schemas.openxmlformats.org/officeDocument/2006/relationships/slide" Target="slide6.xml"/><Relationship Id="rId12" Type="http://schemas.openxmlformats.org/officeDocument/2006/relationships/slide" Target="slide11.xml"/><Relationship Id="rId17" Type="http://schemas.openxmlformats.org/officeDocument/2006/relationships/slide" Target="slide17.xml"/><Relationship Id="rId2" Type="http://schemas.openxmlformats.org/officeDocument/2006/relationships/notesSlide" Target="../notesSlides/notesSlide1.xml"/><Relationship Id="rId16"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5.xml"/><Relationship Id="rId11" Type="http://schemas.openxmlformats.org/officeDocument/2006/relationships/slide" Target="slide10.xml"/><Relationship Id="rId5" Type="http://schemas.openxmlformats.org/officeDocument/2006/relationships/slide" Target="slide4.xml"/><Relationship Id="rId15" Type="http://schemas.openxmlformats.org/officeDocument/2006/relationships/slide" Target="slide15.xml"/><Relationship Id="rId10" Type="http://schemas.openxmlformats.org/officeDocument/2006/relationships/slide" Target="slide9.xml"/><Relationship Id="rId19" Type="http://schemas.openxmlformats.org/officeDocument/2006/relationships/slide" Target="slide19.xml"/><Relationship Id="rId4" Type="http://schemas.openxmlformats.org/officeDocument/2006/relationships/slide" Target="slide3.xml"/><Relationship Id="rId9" Type="http://schemas.openxmlformats.org/officeDocument/2006/relationships/slide" Target="slide8.xml"/><Relationship Id="rId14" Type="http://schemas.openxmlformats.org/officeDocument/2006/relationships/slide" Target="slide1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jpe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C4128A67-42B0-6901-8E21-5CA9E3A3B890}"/>
              </a:ext>
            </a:extLst>
          </p:cNvPr>
          <p:cNvGrpSpPr/>
          <p:nvPr/>
        </p:nvGrpSpPr>
        <p:grpSpPr>
          <a:xfrm>
            <a:off x="0" y="0"/>
            <a:ext cx="12192000" cy="6858000"/>
            <a:chOff x="0" y="0"/>
            <a:chExt cx="12192000" cy="6858000"/>
          </a:xfrm>
        </p:grpSpPr>
        <p:pic>
          <p:nvPicPr>
            <p:cNvPr id="11" name="Picture 10">
              <a:extLst>
                <a:ext uri="{FF2B5EF4-FFF2-40B4-BE49-F238E27FC236}">
                  <a16:creationId xmlns:a16="http://schemas.microsoft.com/office/drawing/2014/main" id="{FE3BF218-32EA-3F9D-239A-2D8A2CE51A55}"/>
                </a:ext>
              </a:extLst>
            </p:cNvPr>
            <p:cNvPicPr>
              <a:picLocks noChangeAspect="1"/>
            </p:cNvPicPr>
            <p:nvPr/>
          </p:nvPicPr>
          <p:blipFill>
            <a:blip r:embed="rId2"/>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EBC68993-BAF5-7E78-BCD4-EAF3C1A0F833}"/>
                </a:ext>
              </a:extLst>
            </p:cNvPr>
            <p:cNvPicPr>
              <a:picLocks noChangeAspect="1"/>
            </p:cNvPicPr>
            <p:nvPr/>
          </p:nvPicPr>
          <p:blipFill>
            <a:blip r:embed="rId2"/>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D78EE27B-4ACF-E74B-F9F4-9E9C88883101}"/>
                </a:ext>
              </a:extLst>
            </p:cNvPr>
            <p:cNvPicPr>
              <a:picLocks noChangeAspect="1"/>
            </p:cNvPicPr>
            <p:nvPr/>
          </p:nvPicPr>
          <p:blipFill>
            <a:blip r:embed="rId2"/>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D1C3232B-8D33-A351-EDF2-9049EEFF6D05}"/>
                </a:ext>
              </a:extLst>
            </p:cNvPr>
            <p:cNvPicPr>
              <a:picLocks noChangeAspect="1"/>
            </p:cNvPicPr>
            <p:nvPr/>
          </p:nvPicPr>
          <p:blipFill>
            <a:blip r:embed="rId2"/>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5B016232-61BA-AEC9-D913-EAC64CA4CB6E}"/>
                </a:ext>
              </a:extLst>
            </p:cNvPr>
            <p:cNvPicPr>
              <a:picLocks noChangeAspect="1"/>
            </p:cNvPicPr>
            <p:nvPr/>
          </p:nvPicPr>
          <p:blipFill>
            <a:blip r:embed="rId2"/>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3EFE83E6-8922-1FE8-7303-45B1A31319F8}"/>
                </a:ext>
              </a:extLst>
            </p:cNvPr>
            <p:cNvPicPr>
              <a:picLocks noChangeAspect="1"/>
            </p:cNvPicPr>
            <p:nvPr/>
          </p:nvPicPr>
          <p:blipFill>
            <a:blip r:embed="rId2"/>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EF1E9DB7-09EF-F974-704D-2EF3DB43EF86}"/>
                </a:ext>
              </a:extLst>
            </p:cNvPr>
            <p:cNvPicPr>
              <a:picLocks noChangeAspect="1"/>
            </p:cNvPicPr>
            <p:nvPr/>
          </p:nvPicPr>
          <p:blipFill>
            <a:blip r:embed="rId2"/>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5F817B92-9E9F-7487-9D23-E7EC453E2226}"/>
                </a:ext>
              </a:extLst>
            </p:cNvPr>
            <p:cNvPicPr>
              <a:picLocks noChangeAspect="1"/>
            </p:cNvPicPr>
            <p:nvPr/>
          </p:nvPicPr>
          <p:blipFill>
            <a:blip r:embed="rId2"/>
            <a:srcRect r="61980"/>
            <a:stretch>
              <a:fillRect/>
            </a:stretch>
          </p:blipFill>
          <p:spPr>
            <a:xfrm>
              <a:off x="10714262" y="3047468"/>
              <a:ext cx="1477738" cy="3810532"/>
            </a:xfrm>
            <a:prstGeom prst="rect">
              <a:avLst/>
            </a:prstGeom>
          </p:spPr>
        </p:pic>
      </p:grpSp>
      <p:sp>
        <p:nvSpPr>
          <p:cNvPr id="22" name="TextBox 21">
            <a:extLst>
              <a:ext uri="{FF2B5EF4-FFF2-40B4-BE49-F238E27FC236}">
                <a16:creationId xmlns:a16="http://schemas.microsoft.com/office/drawing/2014/main" id="{7F85C96A-E10B-EA40-61CF-60F9A7AA0557}"/>
              </a:ext>
            </a:extLst>
          </p:cNvPr>
          <p:cNvSpPr txBox="1"/>
          <p:nvPr/>
        </p:nvSpPr>
        <p:spPr>
          <a:xfrm>
            <a:off x="4700864" y="4801794"/>
            <a:ext cx="2871012" cy="1464231"/>
          </a:xfrm>
          <a:prstGeom prst="roundRect">
            <a:avLst/>
          </a:prstGeom>
          <a:noFill/>
          <a:ln>
            <a:solidFill>
              <a:srgbClr val="5DFDCB">
                <a:alpha val="44000"/>
              </a:srgbClr>
            </a:solidFill>
          </a:ln>
        </p:spPr>
        <p:txBody>
          <a:bodyPr wrap="square">
            <a:spAutoFit/>
          </a:bodyPr>
          <a:lstStyle/>
          <a:p>
            <a:pPr algn="l">
              <a:buNone/>
            </a:pPr>
            <a:r>
              <a:rPr lang="es-ES" sz="1600" b="0" i="0" dirty="0">
                <a:solidFill>
                  <a:srgbClr val="A8B3C7"/>
                </a:solidFill>
                <a:effectLst/>
                <a:latin typeface="system-ui"/>
              </a:rPr>
              <a:t>👨‍🎓 Alumno: </a:t>
            </a:r>
            <a:r>
              <a:rPr lang="es-ES" sz="1600" b="1" i="0" dirty="0">
                <a:solidFill>
                  <a:srgbClr val="A8B3C7"/>
                </a:solidFill>
                <a:effectLst/>
                <a:latin typeface="system-ui"/>
              </a:rPr>
              <a:t>Ángel Carballo</a:t>
            </a:r>
          </a:p>
          <a:p>
            <a:pPr algn="l">
              <a:buNone/>
            </a:pPr>
            <a:endParaRPr lang="es-ES" sz="1600" b="1" i="0" dirty="0">
              <a:solidFill>
                <a:srgbClr val="A8B3C7"/>
              </a:solidFill>
              <a:effectLst/>
              <a:latin typeface="system-ui"/>
            </a:endParaRPr>
          </a:p>
          <a:p>
            <a:pPr algn="l">
              <a:buNone/>
            </a:pPr>
            <a:r>
              <a:rPr lang="es-ES" sz="1600" b="0" i="0" dirty="0">
                <a:solidFill>
                  <a:srgbClr val="A8B3C7"/>
                </a:solidFill>
                <a:effectLst/>
                <a:latin typeface="system-ui"/>
              </a:rPr>
              <a:t>👨‍🏫 Tutor: </a:t>
            </a:r>
            <a:r>
              <a:rPr lang="es-ES" sz="1600" b="1" i="0" dirty="0">
                <a:solidFill>
                  <a:srgbClr val="A8B3C7"/>
                </a:solidFill>
                <a:effectLst/>
                <a:latin typeface="system-ui"/>
              </a:rPr>
              <a:t>Julio Paredes</a:t>
            </a:r>
          </a:p>
          <a:p>
            <a:pPr algn="l">
              <a:buNone/>
            </a:pPr>
            <a:endParaRPr lang="es-ES" sz="1600" b="1" i="0" dirty="0">
              <a:solidFill>
                <a:srgbClr val="A8B3C7"/>
              </a:solidFill>
              <a:effectLst/>
              <a:latin typeface="system-ui"/>
            </a:endParaRPr>
          </a:p>
          <a:p>
            <a:pPr algn="l">
              <a:buNone/>
            </a:pPr>
            <a:r>
              <a:rPr lang="es-ES" sz="1600" b="0" i="0" dirty="0">
                <a:solidFill>
                  <a:srgbClr val="A8B3C7"/>
                </a:solidFill>
                <a:effectLst/>
                <a:latin typeface="system-ui"/>
              </a:rPr>
              <a:t>🗓️ Año: </a:t>
            </a:r>
            <a:r>
              <a:rPr lang="es-ES" sz="1600" b="1" i="0" dirty="0">
                <a:solidFill>
                  <a:srgbClr val="A8B3C7"/>
                </a:solidFill>
                <a:effectLst/>
                <a:latin typeface="system-ui"/>
              </a:rPr>
              <a:t>2025</a:t>
            </a:r>
            <a:endParaRPr lang="es-ES" sz="1600" b="0" i="0" dirty="0">
              <a:solidFill>
                <a:srgbClr val="A8B3C7"/>
              </a:solidFill>
              <a:effectLst/>
              <a:latin typeface="system-ui"/>
            </a:endParaRPr>
          </a:p>
        </p:txBody>
      </p:sp>
      <p:sp>
        <p:nvSpPr>
          <p:cNvPr id="24" name="TextBox 23">
            <a:extLst>
              <a:ext uri="{FF2B5EF4-FFF2-40B4-BE49-F238E27FC236}">
                <a16:creationId xmlns:a16="http://schemas.microsoft.com/office/drawing/2014/main" id="{44B051E6-C053-4602-88CD-82E97FAA13D4}"/>
              </a:ext>
            </a:extLst>
          </p:cNvPr>
          <p:cNvSpPr txBox="1"/>
          <p:nvPr/>
        </p:nvSpPr>
        <p:spPr>
          <a:xfrm>
            <a:off x="1231489" y="2551837"/>
            <a:ext cx="9729019" cy="1754326"/>
          </a:xfrm>
          <a:prstGeom prst="rect">
            <a:avLst/>
          </a:prstGeom>
          <a:noFill/>
        </p:spPr>
        <p:txBody>
          <a:bodyPr wrap="square">
            <a:spAutoFit/>
          </a:bodyPr>
          <a:lstStyle/>
          <a:p>
            <a:pPr algn="ctr">
              <a:spcBef>
                <a:spcPts val="750"/>
              </a:spcBef>
              <a:spcAft>
                <a:spcPts val="600"/>
              </a:spcAft>
              <a:buNone/>
            </a:pPr>
            <a:r>
              <a:rPr lang="es-ES" sz="3600" b="1" dirty="0">
                <a:solidFill>
                  <a:srgbClr val="5DFDCB"/>
                </a:solidFill>
                <a:latin typeface="system-ui"/>
              </a:rPr>
              <a:t>Utilización de IA para la estimación de la transmitancia térmica (U) en muros no convencionales</a:t>
            </a:r>
          </a:p>
        </p:txBody>
      </p:sp>
      <p:pic>
        <p:nvPicPr>
          <p:cNvPr id="25" name="Picture 24">
            <a:extLst>
              <a:ext uri="{FF2B5EF4-FFF2-40B4-BE49-F238E27FC236}">
                <a16:creationId xmlns:a16="http://schemas.microsoft.com/office/drawing/2014/main" id="{7B16430D-ED28-25E7-4BCD-5B0CFF55E484}"/>
              </a:ext>
            </a:extLst>
          </p:cNvPr>
          <p:cNvPicPr>
            <a:picLocks noChangeAspect="1"/>
          </p:cNvPicPr>
          <p:nvPr/>
        </p:nvPicPr>
        <p:blipFill>
          <a:blip r:embed="rId3"/>
          <a:stretch>
            <a:fillRect/>
          </a:stretch>
        </p:blipFill>
        <p:spPr>
          <a:xfrm>
            <a:off x="3433389" y="867311"/>
            <a:ext cx="5325218" cy="1047896"/>
          </a:xfrm>
          <a:prstGeom prst="rect">
            <a:avLst/>
          </a:prstGeom>
        </p:spPr>
      </p:pic>
      <p:sp>
        <p:nvSpPr>
          <p:cNvPr id="27" name="TextBox 26">
            <a:extLst>
              <a:ext uri="{FF2B5EF4-FFF2-40B4-BE49-F238E27FC236}">
                <a16:creationId xmlns:a16="http://schemas.microsoft.com/office/drawing/2014/main" id="{E0BDF522-1DFC-C1CC-AB9C-BC585CE14381}"/>
              </a:ext>
            </a:extLst>
          </p:cNvPr>
          <p:cNvSpPr txBox="1"/>
          <p:nvPr/>
        </p:nvSpPr>
        <p:spPr>
          <a:xfrm>
            <a:off x="3238311" y="219386"/>
            <a:ext cx="5796117" cy="400110"/>
          </a:xfrm>
          <a:prstGeom prst="rect">
            <a:avLst/>
          </a:prstGeom>
          <a:noFill/>
        </p:spPr>
        <p:txBody>
          <a:bodyPr wrap="square">
            <a:spAutoFit/>
          </a:bodyPr>
          <a:lstStyle/>
          <a:p>
            <a:pPr algn="l">
              <a:spcAft>
                <a:spcPts val="450"/>
              </a:spcAft>
              <a:buNone/>
            </a:pPr>
            <a:r>
              <a:rPr lang="es-ES" sz="2000" b="0" i="0" dirty="0">
                <a:solidFill>
                  <a:srgbClr val="A8B3C7"/>
                </a:solidFill>
                <a:effectLst/>
                <a:latin typeface="system-ui"/>
              </a:rPr>
              <a:t>Diplomatura en Python orientada a científico de datos</a:t>
            </a:r>
          </a:p>
        </p:txBody>
      </p:sp>
      <p:sp>
        <p:nvSpPr>
          <p:cNvPr id="28" name="Rectangle 27">
            <a:extLst>
              <a:ext uri="{FF2B5EF4-FFF2-40B4-BE49-F238E27FC236}">
                <a16:creationId xmlns:a16="http://schemas.microsoft.com/office/drawing/2014/main" id="{5D74C415-0BEF-8DE8-A969-B4103C4EEFB3}"/>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9" name="Rectangle 28">
            <a:extLst>
              <a:ext uri="{FF2B5EF4-FFF2-40B4-BE49-F238E27FC236}">
                <a16:creationId xmlns:a16="http://schemas.microsoft.com/office/drawing/2014/main" id="{B2741FCD-3E2B-A9E4-363D-8B67839B549C}"/>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extLst>
      <p:ext uri="{BB962C8B-B14F-4D97-AF65-F5344CB8AC3E}">
        <p14:creationId xmlns:p14="http://schemas.microsoft.com/office/powerpoint/2010/main" val="504592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B6161-AB46-8DF7-0226-247586EF3049}"/>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9E86F68F-84D6-4122-86B1-543114A54BBE}"/>
              </a:ext>
            </a:extLst>
          </p:cNvPr>
          <p:cNvGrpSpPr/>
          <p:nvPr/>
        </p:nvGrpSpPr>
        <p:grpSpPr>
          <a:xfrm>
            <a:off x="0" y="0"/>
            <a:ext cx="12192000" cy="6858000"/>
            <a:chOff x="0" y="0"/>
            <a:chExt cx="12192000" cy="6858000"/>
          </a:xfrm>
        </p:grpSpPr>
        <p:pic>
          <p:nvPicPr>
            <p:cNvPr id="11" name="Picture 10">
              <a:extLst>
                <a:ext uri="{FF2B5EF4-FFF2-40B4-BE49-F238E27FC236}">
                  <a16:creationId xmlns:a16="http://schemas.microsoft.com/office/drawing/2014/main" id="{DC1188C7-8D38-C908-F565-1A2198DA1D3E}"/>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299EEFC4-CFDC-5F57-6916-ECBD49142DAB}"/>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204CD708-17D3-6451-3F6D-76C6419516AF}"/>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6ECA56CB-E2CF-1C77-55FA-0F78C569742B}"/>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86140C0D-CCFD-CD90-4F38-E450C8654EA2}"/>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F5805330-44FC-00DF-2B07-82E903ADFF40}"/>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38C37FFC-3E69-52DB-A8C4-E96160BA2600}"/>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40F1707E-ECC1-5021-C51D-8A99DE1E54D9}"/>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78608393-7A57-182F-312B-2D608DFBF5C3}"/>
              </a:ext>
            </a:extLst>
          </p:cNvPr>
          <p:cNvSpPr txBox="1"/>
          <p:nvPr/>
        </p:nvSpPr>
        <p:spPr>
          <a:xfrm>
            <a:off x="995025" y="142576"/>
            <a:ext cx="6096000" cy="646331"/>
          </a:xfrm>
          <a:prstGeom prst="rect">
            <a:avLst/>
          </a:prstGeom>
          <a:noFill/>
        </p:spPr>
        <p:txBody>
          <a:bodyPr wrap="square">
            <a:spAutoFit/>
          </a:bodyPr>
          <a:lstStyle/>
          <a:p>
            <a:r>
              <a:rPr lang="es-ES" sz="3600" b="1" dirty="0">
                <a:solidFill>
                  <a:schemeClr val="bg1"/>
                </a:solidFill>
                <a:latin typeface="system-ui"/>
              </a:rPr>
              <a:t>Índice</a:t>
            </a:r>
            <a:endParaRPr lang="en-US" sz="3600" dirty="0">
              <a:solidFill>
                <a:schemeClr val="bg1"/>
              </a:solidFill>
            </a:endParaRPr>
          </a:p>
        </p:txBody>
      </p:sp>
      <p:sp>
        <p:nvSpPr>
          <p:cNvPr id="5" name="TextBox 4">
            <a:extLst>
              <a:ext uri="{FF2B5EF4-FFF2-40B4-BE49-F238E27FC236}">
                <a16:creationId xmlns:a16="http://schemas.microsoft.com/office/drawing/2014/main" id="{11461092-0F95-1393-A968-DBC643E79AE9}"/>
              </a:ext>
            </a:extLst>
          </p:cNvPr>
          <p:cNvSpPr txBox="1"/>
          <p:nvPr/>
        </p:nvSpPr>
        <p:spPr>
          <a:xfrm>
            <a:off x="1141127" y="931483"/>
            <a:ext cx="5969834" cy="5550456"/>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marL="342900" indent="-342900">
              <a:buFont typeface="Arial" panose="020B0604020202020204" pitchFamily="34" charset="0"/>
              <a:buChar char="•"/>
            </a:pPr>
            <a:r>
              <a:rPr lang="es-AR" sz="2000" b="0" i="0" noProof="0" dirty="0">
                <a:solidFill>
                  <a:srgbClr val="A8B3C7"/>
                </a:solidFill>
                <a:effectLst/>
                <a:latin typeface="system-ui"/>
                <a:hlinkClick r:id="rId4" action="ppaction://hlinksldjump"/>
              </a:rPr>
              <a:t>Objetivo</a:t>
            </a:r>
            <a:endParaRPr lang="es-AR" sz="2000" b="0" i="0" noProof="0" dirty="0">
              <a:solidFill>
                <a:srgbClr val="A8B3C7"/>
              </a:solidFill>
              <a:effectLst/>
              <a:latin typeface="system-ui"/>
            </a:endParaRPr>
          </a:p>
          <a:p>
            <a:pPr marL="342900" indent="-342900">
              <a:buFont typeface="Arial" panose="020B0604020202020204" pitchFamily="34" charset="0"/>
              <a:buChar char="•"/>
            </a:pPr>
            <a:r>
              <a:rPr lang="es-AR" sz="2000" noProof="0" dirty="0">
                <a:solidFill>
                  <a:srgbClr val="A8B3C7"/>
                </a:solidFill>
                <a:latin typeface="system-ui"/>
                <a:hlinkClick r:id="rId5" action="ppaction://hlinksldjump"/>
              </a:rPr>
              <a:t>¿Qué es la transmitancia?</a:t>
            </a:r>
            <a:endParaRPr lang="es-AR" sz="2000" noProof="0" dirty="0">
              <a:solidFill>
                <a:srgbClr val="A8B3C7"/>
              </a:solidFill>
              <a:latin typeface="system-ui"/>
            </a:endParaRPr>
          </a:p>
          <a:p>
            <a:pPr marL="342900" indent="-342900">
              <a:buFont typeface="Arial" panose="020B0604020202020204" pitchFamily="34" charset="0"/>
              <a:buChar char="•"/>
            </a:pPr>
            <a:r>
              <a:rPr lang="es-AR" sz="2000" noProof="0" dirty="0">
                <a:solidFill>
                  <a:srgbClr val="A8B3C7"/>
                </a:solidFill>
                <a:latin typeface="system-ui"/>
                <a:hlinkClick r:id="rId6" action="ppaction://hlinksldjump"/>
              </a:rPr>
              <a:t>Formas de calcular la transmitancia</a:t>
            </a:r>
            <a:endParaRPr lang="es-AR" sz="2000" noProof="0" dirty="0">
              <a:solidFill>
                <a:srgbClr val="A8B3C7"/>
              </a:solidFill>
              <a:latin typeface="system-ui"/>
            </a:endParaRPr>
          </a:p>
          <a:p>
            <a:pPr marL="342900" indent="-342900">
              <a:buFont typeface="Arial" panose="020B0604020202020204" pitchFamily="34" charset="0"/>
              <a:buChar char="•"/>
            </a:pPr>
            <a:r>
              <a:rPr lang="es-AR" sz="2000" noProof="0" dirty="0">
                <a:solidFill>
                  <a:srgbClr val="A8B3C7"/>
                </a:solidFill>
                <a:latin typeface="system-ui"/>
                <a:hlinkClick r:id="rId7" action="ppaction://hlinksldjump"/>
              </a:rPr>
              <a:t>CEED</a:t>
            </a:r>
            <a:endParaRPr lang="es-AR" sz="2000" noProof="0" dirty="0">
              <a:solidFill>
                <a:srgbClr val="A8B3C7"/>
              </a:solidFill>
              <a:latin typeface="system-ui"/>
            </a:endParaRPr>
          </a:p>
          <a:p>
            <a:pPr marL="342900" indent="-342900">
              <a:buFont typeface="Arial" panose="020B0604020202020204" pitchFamily="34" charset="0"/>
              <a:buChar char="•"/>
            </a:pPr>
            <a:r>
              <a:rPr lang="es-AR" sz="2000" noProof="0" dirty="0">
                <a:solidFill>
                  <a:srgbClr val="A8B3C7"/>
                </a:solidFill>
                <a:latin typeface="system-ui"/>
                <a:hlinkClick r:id="rId8" action="ppaction://hlinksldjump"/>
              </a:rPr>
              <a:t>Materiales de construcción no convencionales</a:t>
            </a:r>
            <a:endParaRPr lang="es-AR" sz="2000" noProof="0" dirty="0">
              <a:solidFill>
                <a:srgbClr val="A8B3C7"/>
              </a:solidFill>
              <a:latin typeface="system-ui"/>
            </a:endParaRPr>
          </a:p>
          <a:p>
            <a:pPr marL="342900" indent="-342900">
              <a:buFont typeface="Arial" panose="020B0604020202020204" pitchFamily="34" charset="0"/>
              <a:buChar char="•"/>
            </a:pPr>
            <a:r>
              <a:rPr lang="es-AR" sz="2000" noProof="0" dirty="0">
                <a:solidFill>
                  <a:srgbClr val="A8B3C7"/>
                </a:solidFill>
                <a:latin typeface="system-ui"/>
                <a:hlinkClick r:id="rId9" action="ppaction://hlinksldjump"/>
              </a:rPr>
              <a:t>Pared ensayada</a:t>
            </a:r>
            <a:endParaRPr lang="es-AR" sz="2000" noProof="0" dirty="0">
              <a:solidFill>
                <a:srgbClr val="A8B3C7"/>
              </a:solidFill>
              <a:latin typeface="system-ui"/>
            </a:endParaRPr>
          </a:p>
          <a:p>
            <a:pPr marL="342900" indent="-342900">
              <a:buFont typeface="Arial" panose="020B0604020202020204" pitchFamily="34" charset="0"/>
              <a:buChar char="•"/>
            </a:pPr>
            <a:r>
              <a:rPr lang="es-AR" sz="2000" dirty="0">
                <a:solidFill>
                  <a:srgbClr val="A8B3C7"/>
                </a:solidFill>
                <a:latin typeface="system-ui"/>
                <a:hlinkClick r:id="rId10" action="ppaction://hlinksldjump"/>
              </a:rPr>
              <a:t>Metodología</a:t>
            </a:r>
            <a:endParaRPr lang="es-AR" sz="2000" dirty="0">
              <a:solidFill>
                <a:srgbClr val="A8B3C7"/>
              </a:solidFill>
              <a:latin typeface="system-ui"/>
            </a:endParaRPr>
          </a:p>
          <a:p>
            <a:pPr marL="342900" indent="-342900">
              <a:buFont typeface="Arial" panose="020B0604020202020204" pitchFamily="34" charset="0"/>
              <a:buChar char="•"/>
            </a:pPr>
            <a:r>
              <a:rPr lang="es-AR" sz="2000" noProof="0" dirty="0">
                <a:solidFill>
                  <a:srgbClr val="A8B3C7"/>
                </a:solidFill>
                <a:latin typeface="system-ui"/>
                <a:hlinkClick r:id="rId11" action="ppaction://hlinksldjump"/>
              </a:rPr>
              <a:t>Criterio de selección del mejor modelo</a:t>
            </a:r>
            <a:endParaRPr lang="es-AR" sz="2000" noProof="0" dirty="0">
              <a:solidFill>
                <a:srgbClr val="A8B3C7"/>
              </a:solidFill>
              <a:latin typeface="system-ui"/>
            </a:endParaRPr>
          </a:p>
          <a:p>
            <a:pPr marL="342900" indent="-342900">
              <a:buFont typeface="Arial" panose="020B0604020202020204" pitchFamily="34" charset="0"/>
              <a:buChar char="•"/>
            </a:pPr>
            <a:r>
              <a:rPr lang="es-AR" sz="2000" noProof="0" dirty="0">
                <a:solidFill>
                  <a:srgbClr val="A8B3C7"/>
                </a:solidFill>
                <a:latin typeface="system-ui"/>
                <a:hlinkClick r:id="rId12" action="ppaction://hlinksldjump"/>
              </a:rPr>
              <a:t>Datasets y variables</a:t>
            </a:r>
            <a:endParaRPr lang="es-AR" sz="2000" noProof="0" dirty="0">
              <a:solidFill>
                <a:srgbClr val="A8B3C7"/>
              </a:solidFill>
              <a:latin typeface="system-ui"/>
            </a:endParaRPr>
          </a:p>
          <a:p>
            <a:pPr marL="342900" indent="-342900">
              <a:buFont typeface="Arial" panose="020B0604020202020204" pitchFamily="34" charset="0"/>
              <a:buChar char="•"/>
            </a:pPr>
            <a:r>
              <a:rPr lang="es-AR" sz="2000" noProof="0" dirty="0">
                <a:solidFill>
                  <a:srgbClr val="A8B3C7"/>
                </a:solidFill>
                <a:latin typeface="system-ui"/>
                <a:hlinkClick r:id="rId13" action="ppaction://hlinksldjump"/>
              </a:rPr>
              <a:t>Análisis exploratorio de los datos</a:t>
            </a:r>
            <a:endParaRPr lang="es-AR" sz="2000" noProof="0" dirty="0">
              <a:solidFill>
                <a:srgbClr val="A8B3C7"/>
              </a:solidFill>
              <a:latin typeface="system-ui"/>
            </a:endParaRPr>
          </a:p>
          <a:p>
            <a:pPr marL="342900" indent="-342900">
              <a:buFont typeface="Arial" panose="020B0604020202020204" pitchFamily="34" charset="0"/>
              <a:buChar char="•"/>
            </a:pPr>
            <a:r>
              <a:rPr lang="es-AR" sz="2000" noProof="0" dirty="0">
                <a:solidFill>
                  <a:srgbClr val="A8B3C7"/>
                </a:solidFill>
                <a:latin typeface="system-ui"/>
                <a:hlinkClick r:id="rId14" action="ppaction://hlinksldjump"/>
              </a:rPr>
              <a:t>Matriz de correlación</a:t>
            </a:r>
            <a:endParaRPr lang="es-AR" sz="2000" noProof="0" dirty="0">
              <a:solidFill>
                <a:srgbClr val="A8B3C7"/>
              </a:solidFill>
              <a:latin typeface="system-ui"/>
            </a:endParaRPr>
          </a:p>
          <a:p>
            <a:pPr marL="342900" indent="-342900">
              <a:buFont typeface="Arial" panose="020B0604020202020204" pitchFamily="34" charset="0"/>
              <a:buChar char="•"/>
            </a:pPr>
            <a:r>
              <a:rPr lang="es-AR" sz="2000" noProof="0" dirty="0">
                <a:solidFill>
                  <a:srgbClr val="A8B3C7"/>
                </a:solidFill>
                <a:latin typeface="system-ui"/>
                <a:hlinkClick r:id="rId15" action="ppaction://hlinksldjump"/>
              </a:rPr>
              <a:t>Modelos y ajustes de </a:t>
            </a:r>
            <a:r>
              <a:rPr lang="es-AR" sz="2000" noProof="0" dirty="0" err="1">
                <a:solidFill>
                  <a:srgbClr val="A8B3C7"/>
                </a:solidFill>
                <a:latin typeface="system-ui"/>
                <a:hlinkClick r:id="rId15" action="ppaction://hlinksldjump"/>
              </a:rPr>
              <a:t>hiperparámetros</a:t>
            </a:r>
            <a:endParaRPr lang="es-AR" sz="2000" noProof="0" dirty="0">
              <a:solidFill>
                <a:srgbClr val="A8B3C7"/>
              </a:solidFill>
              <a:latin typeface="system-ui"/>
            </a:endParaRPr>
          </a:p>
          <a:p>
            <a:pPr marL="342900" indent="-342900">
              <a:buFont typeface="Arial" panose="020B0604020202020204" pitchFamily="34" charset="0"/>
              <a:buChar char="•"/>
            </a:pPr>
            <a:r>
              <a:rPr lang="es-AR" sz="2000" dirty="0">
                <a:solidFill>
                  <a:srgbClr val="A8B3C7"/>
                </a:solidFill>
                <a:latin typeface="system-ui"/>
                <a:hlinkClick r:id="rId16" action="ppaction://hlinksldjump"/>
              </a:rPr>
              <a:t>Resultados y modelo elegido</a:t>
            </a:r>
            <a:endParaRPr lang="es-AR" sz="2000" dirty="0">
              <a:solidFill>
                <a:srgbClr val="A8B3C7"/>
              </a:solidFill>
              <a:latin typeface="system-ui"/>
            </a:endParaRPr>
          </a:p>
          <a:p>
            <a:pPr marL="342900" indent="-342900">
              <a:buFont typeface="Arial" panose="020B0604020202020204" pitchFamily="34" charset="0"/>
              <a:buChar char="•"/>
            </a:pPr>
            <a:r>
              <a:rPr lang="es-AR" sz="2000" dirty="0">
                <a:solidFill>
                  <a:srgbClr val="A8B3C7"/>
                </a:solidFill>
                <a:latin typeface="system-ui"/>
                <a:hlinkClick r:id="rId17" action="ppaction://hlinksldjump"/>
              </a:rPr>
              <a:t>Predictor de Transmitancia</a:t>
            </a:r>
            <a:endParaRPr lang="es-AR" sz="2000" dirty="0">
              <a:solidFill>
                <a:srgbClr val="A8B3C7"/>
              </a:solidFill>
              <a:latin typeface="system-ui"/>
            </a:endParaRPr>
          </a:p>
          <a:p>
            <a:pPr marL="342900" indent="-342900">
              <a:buFont typeface="Arial" panose="020B0604020202020204" pitchFamily="34" charset="0"/>
              <a:buChar char="•"/>
            </a:pPr>
            <a:r>
              <a:rPr lang="es-AR" sz="2000" dirty="0">
                <a:solidFill>
                  <a:srgbClr val="A8B3C7"/>
                </a:solidFill>
                <a:latin typeface="system-ui"/>
                <a:hlinkClick r:id="rId18" action="ppaction://hlinksldjump"/>
              </a:rPr>
              <a:t>Análisis de ahorros y costos</a:t>
            </a:r>
            <a:endParaRPr lang="es-AR" sz="2000" dirty="0">
              <a:solidFill>
                <a:srgbClr val="A8B3C7"/>
              </a:solidFill>
              <a:latin typeface="system-ui"/>
            </a:endParaRPr>
          </a:p>
          <a:p>
            <a:pPr marL="342900" indent="-342900">
              <a:buFont typeface="Arial" panose="020B0604020202020204" pitchFamily="34" charset="0"/>
              <a:buChar char="•"/>
            </a:pPr>
            <a:r>
              <a:rPr lang="es-AR" sz="2000" dirty="0">
                <a:solidFill>
                  <a:srgbClr val="A8B3C7"/>
                </a:solidFill>
                <a:latin typeface="system-ui"/>
                <a:hlinkClick r:id="rId19" action="ppaction://hlinksldjump"/>
              </a:rPr>
              <a:t>Conclusiones</a:t>
            </a:r>
            <a:endParaRPr lang="es-AR" sz="2000" noProof="0" dirty="0">
              <a:solidFill>
                <a:srgbClr val="A8B3C7"/>
              </a:solidFill>
              <a:latin typeface="system-ui"/>
            </a:endParaRPr>
          </a:p>
        </p:txBody>
      </p:sp>
      <p:sp>
        <p:nvSpPr>
          <p:cNvPr id="7" name="Rectangle 6">
            <a:extLst>
              <a:ext uri="{FF2B5EF4-FFF2-40B4-BE49-F238E27FC236}">
                <a16:creationId xmlns:a16="http://schemas.microsoft.com/office/drawing/2014/main" id="{C535BC2D-4A0A-5F1D-626A-9E90482D8859}"/>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39634DD7-B275-10BA-CC94-8D2814AE24C2}"/>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CB7998BE-E2A8-9B3F-0092-4EF320CFD48D}"/>
              </a:ext>
            </a:extLst>
          </p:cNvPr>
          <p:cNvSpPr/>
          <p:nvPr/>
        </p:nvSpPr>
        <p:spPr>
          <a:xfrm rot="16200000">
            <a:off x="4547267" y="-2600150"/>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10E65116-AECA-5C60-31F5-998736D15520}"/>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Tree>
    <p:extLst>
      <p:ext uri="{BB962C8B-B14F-4D97-AF65-F5344CB8AC3E}">
        <p14:creationId xmlns:p14="http://schemas.microsoft.com/office/powerpoint/2010/main" val="1785080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5D423-7E4B-B0A4-16F7-E67F2A4B7B58}"/>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17D6C482-385C-7896-7A41-1F66BF792F9F}"/>
              </a:ext>
            </a:extLst>
          </p:cNvPr>
          <p:cNvGrpSpPr/>
          <p:nvPr/>
        </p:nvGrpSpPr>
        <p:grpSpPr>
          <a:xfrm>
            <a:off x="0" y="0"/>
            <a:ext cx="12192000" cy="6858000"/>
            <a:chOff x="0" y="0"/>
            <a:chExt cx="12192000" cy="6858000"/>
          </a:xfrm>
        </p:grpSpPr>
        <p:pic>
          <p:nvPicPr>
            <p:cNvPr id="11" name="Picture 10">
              <a:extLst>
                <a:ext uri="{FF2B5EF4-FFF2-40B4-BE49-F238E27FC236}">
                  <a16:creationId xmlns:a16="http://schemas.microsoft.com/office/drawing/2014/main" id="{6EBBE9C0-A4CE-2DDB-0A40-7FA3500F82FF}"/>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9B54BBAB-4B2A-C868-B9A3-53BDC5F4384B}"/>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F671164C-9177-5861-FFA1-8CAF7597840C}"/>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3E0E5BBA-30AC-85B0-F6AC-CCD3D8769477}"/>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2A5B3628-4EA5-9A9E-D5DE-7903ADC003C2}"/>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034E016D-B884-B8D7-3E3E-48A301FB7835}"/>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01D3391B-8CA1-7EA8-D6FF-29859F756BCE}"/>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C63209BE-1778-87C0-15A1-524515A41CFB}"/>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11147D5B-0FDD-47BF-3985-37F64D836F3C}"/>
              </a:ext>
            </a:extLst>
          </p:cNvPr>
          <p:cNvSpPr txBox="1"/>
          <p:nvPr/>
        </p:nvSpPr>
        <p:spPr>
          <a:xfrm>
            <a:off x="995025" y="142576"/>
            <a:ext cx="6096000" cy="646331"/>
          </a:xfrm>
          <a:prstGeom prst="rect">
            <a:avLst/>
          </a:prstGeom>
          <a:noFill/>
        </p:spPr>
        <p:txBody>
          <a:bodyPr wrap="square">
            <a:spAutoFit/>
          </a:bodyPr>
          <a:lstStyle/>
          <a:p>
            <a:r>
              <a:rPr lang="es-ES" sz="3600" b="1" dirty="0">
                <a:solidFill>
                  <a:schemeClr val="bg1"/>
                </a:solidFill>
                <a:latin typeface="system-ui"/>
              </a:rPr>
              <a:t>Objetivo</a:t>
            </a:r>
            <a:endParaRPr lang="en-US" sz="3600" dirty="0">
              <a:solidFill>
                <a:schemeClr val="bg1"/>
              </a:solidFill>
            </a:endParaRPr>
          </a:p>
        </p:txBody>
      </p:sp>
      <p:sp>
        <p:nvSpPr>
          <p:cNvPr id="5" name="TextBox 4">
            <a:extLst>
              <a:ext uri="{FF2B5EF4-FFF2-40B4-BE49-F238E27FC236}">
                <a16:creationId xmlns:a16="http://schemas.microsoft.com/office/drawing/2014/main" id="{8C1C3FF5-58D1-54F1-0D76-1DE32173846B}"/>
              </a:ext>
            </a:extLst>
          </p:cNvPr>
          <p:cNvSpPr txBox="1"/>
          <p:nvPr/>
        </p:nvSpPr>
        <p:spPr>
          <a:xfrm>
            <a:off x="1075296" y="1333675"/>
            <a:ext cx="10041408" cy="2095325"/>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2000" b="0" i="0" dirty="0">
                <a:solidFill>
                  <a:srgbClr val="A8B3C7"/>
                </a:solidFill>
                <a:effectLst/>
                <a:latin typeface="system-ui"/>
              </a:rPr>
              <a:t>Desarrollar un </a:t>
            </a:r>
            <a:r>
              <a:rPr lang="es-ES" sz="2000" b="1" dirty="0">
                <a:solidFill>
                  <a:srgbClr val="A8B3C7"/>
                </a:solidFill>
                <a:latin typeface="system-ui"/>
              </a:rPr>
              <a:t>M</a:t>
            </a:r>
            <a:r>
              <a:rPr lang="es-ES" sz="2000" b="1" i="0" dirty="0">
                <a:solidFill>
                  <a:srgbClr val="A8B3C7"/>
                </a:solidFill>
                <a:effectLst/>
                <a:latin typeface="system-ui"/>
              </a:rPr>
              <a:t>odelo de IA</a:t>
            </a:r>
            <a:r>
              <a:rPr lang="es-ES" sz="2000" b="0" i="0" dirty="0">
                <a:solidFill>
                  <a:srgbClr val="A8B3C7"/>
                </a:solidFill>
                <a:effectLst/>
                <a:latin typeface="system-ui"/>
              </a:rPr>
              <a:t> que prediga U (transmitancia) para muros con </a:t>
            </a:r>
            <a:r>
              <a:rPr lang="es-ES" sz="2000" b="0" i="1" dirty="0">
                <a:solidFill>
                  <a:srgbClr val="A8B3C7"/>
                </a:solidFill>
                <a:effectLst/>
                <a:latin typeface="system-ui"/>
              </a:rPr>
              <a:t>materiales sustentables no convencionales</a:t>
            </a:r>
            <a:r>
              <a:rPr lang="es-ES" sz="2000" b="0" i="0" dirty="0">
                <a:solidFill>
                  <a:srgbClr val="A8B3C7"/>
                </a:solidFill>
                <a:effectLst/>
                <a:latin typeface="system-ui"/>
              </a:rPr>
              <a:t> (pallet + botellas plásticas + adobe) sin necesidad de realizar ensayos destructivos directos, usando datos de ensayos previos, simulaciones y datos climatológicos locales.</a:t>
            </a:r>
            <a:endParaRPr lang="en-US" sz="2000" dirty="0"/>
          </a:p>
        </p:txBody>
      </p:sp>
      <p:sp>
        <p:nvSpPr>
          <p:cNvPr id="7" name="Rectangle 6">
            <a:extLst>
              <a:ext uri="{FF2B5EF4-FFF2-40B4-BE49-F238E27FC236}">
                <a16:creationId xmlns:a16="http://schemas.microsoft.com/office/drawing/2014/main" id="{02740319-29D6-5C28-A216-0D2F2BB71C94}"/>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0A898395-649C-5101-CAF6-5F7322531BA6}"/>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309B973D-2B35-4231-18BA-2FE850CD5DB4}"/>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7AD1802E-BBEE-B7C5-5B48-6E1D3A43C5E9}"/>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29" name="TextBox 28">
            <a:extLst>
              <a:ext uri="{FF2B5EF4-FFF2-40B4-BE49-F238E27FC236}">
                <a16:creationId xmlns:a16="http://schemas.microsoft.com/office/drawing/2014/main" id="{EE91D9DF-CED5-EA46-074E-192E99E1B89B}"/>
              </a:ext>
            </a:extLst>
          </p:cNvPr>
          <p:cNvSpPr txBox="1"/>
          <p:nvPr/>
        </p:nvSpPr>
        <p:spPr>
          <a:xfrm>
            <a:off x="1405079" y="3710147"/>
            <a:ext cx="10177317" cy="2758202"/>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defPPr>
              <a:defRPr lang="en-US"/>
            </a:defPPr>
            <a:lvl1pPr>
              <a:lnSpc>
                <a:spcPct val="150000"/>
              </a:lnSpc>
              <a:defRPr sz="2000" b="0" i="0">
                <a:solidFill>
                  <a:srgbClr val="A8B3C7"/>
                </a:solidFill>
                <a:effectLst/>
                <a:latin typeface="system-ui"/>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vl6pPr>
              <a:defRPr>
                <a:solidFill>
                  <a:schemeClr val="accent6"/>
                </a:solidFill>
              </a:defRPr>
            </a:lvl6pPr>
            <a:lvl7pPr>
              <a:defRPr>
                <a:solidFill>
                  <a:schemeClr val="accent6"/>
                </a:solidFill>
              </a:defRPr>
            </a:lvl7pPr>
            <a:lvl8pPr>
              <a:defRPr>
                <a:solidFill>
                  <a:schemeClr val="accent6"/>
                </a:solidFill>
              </a:defRPr>
            </a:lvl8pPr>
            <a:lvl9pPr>
              <a:defRPr>
                <a:solidFill>
                  <a:schemeClr val="accent6"/>
                </a:solidFill>
              </a:defRPr>
            </a:lvl9pPr>
          </a:lstStyle>
          <a:p>
            <a:r>
              <a:rPr lang="es-AR" sz="1200" dirty="0"/>
              <a:t>Este trabajo se basa en dos trabajos previos presentados por el CEA (Centro de investigación de </a:t>
            </a:r>
            <a:r>
              <a:rPr lang="es-AR" sz="1200" dirty="0" err="1"/>
              <a:t>Energia</a:t>
            </a:r>
            <a:r>
              <a:rPr lang="es-AR" sz="1200" dirty="0"/>
              <a:t> y Ambiente) de la UTN Facultad Regional Delta:</a:t>
            </a:r>
          </a:p>
          <a:p>
            <a:endParaRPr lang="es-AR" sz="1200" dirty="0"/>
          </a:p>
          <a:p>
            <a:pPr lvl="1"/>
            <a:r>
              <a:rPr lang="es-AR" sz="1200" dirty="0">
                <a:solidFill>
                  <a:srgbClr val="A8B3C7"/>
                </a:solidFill>
                <a:latin typeface="system-ui"/>
              </a:rPr>
              <a:t>“DETERMINACIÓN DE LA TRANSMITANCIA TÉRMICA DE UN COMPONENTE OPACO MEDIANTE EL USO DE UNA CELDA DE ENSAYO AL EXTERIOR Y EL PROGRAMA LORD” Centro CEA - Facultad Regional Delta </a:t>
            </a:r>
            <a:r>
              <a:rPr lang="es-AR" sz="1200" dirty="0" err="1">
                <a:solidFill>
                  <a:srgbClr val="A8B3C7"/>
                </a:solidFill>
                <a:latin typeface="system-ui"/>
              </a:rPr>
              <a:t>Odobez</a:t>
            </a:r>
            <a:r>
              <a:rPr lang="es-AR" sz="1200" dirty="0">
                <a:solidFill>
                  <a:srgbClr val="A8B3C7"/>
                </a:solidFill>
                <a:latin typeface="system-ui"/>
              </a:rPr>
              <a:t>, </a:t>
            </a:r>
            <a:r>
              <a:rPr lang="es-AR" sz="1200" dirty="0" err="1">
                <a:solidFill>
                  <a:srgbClr val="A8B3C7"/>
                </a:solidFill>
                <a:latin typeface="system-ui"/>
              </a:rPr>
              <a:t>Soldatti</a:t>
            </a:r>
            <a:r>
              <a:rPr lang="es-AR" sz="1200" dirty="0">
                <a:solidFill>
                  <a:srgbClr val="A8B3C7"/>
                </a:solidFill>
                <a:latin typeface="system-ui"/>
              </a:rPr>
              <a:t>, Godoy, Taddei – </a:t>
            </a:r>
            <a:r>
              <a:rPr lang="es-ES" sz="1200" dirty="0">
                <a:solidFill>
                  <a:srgbClr val="A8B3C7"/>
                </a:solidFill>
                <a:latin typeface="system-ui"/>
              </a:rPr>
              <a:t>V Seminario Nacional de Energía y su uso Eficiente - Entidad organizadora: Facultad Regional del Neuquén - Programa Energía Septiembre de 2015.</a:t>
            </a:r>
          </a:p>
          <a:p>
            <a:pPr lvl="1"/>
            <a:endParaRPr lang="es-AR" sz="1200" dirty="0">
              <a:solidFill>
                <a:srgbClr val="A8B3C7"/>
              </a:solidFill>
              <a:latin typeface="system-ui"/>
            </a:endParaRPr>
          </a:p>
          <a:p>
            <a:pPr lvl="1"/>
            <a:r>
              <a:rPr lang="es-AR" sz="1200" dirty="0">
                <a:solidFill>
                  <a:srgbClr val="A8B3C7"/>
                </a:solidFill>
                <a:latin typeface="system-ui"/>
              </a:rPr>
              <a:t>“VALIDACION DEL ESTUDIO TEORICO DE LA TRANSMITANCIA TERMICA DE UN MURO CONSTRUIDO CON MATERIALES NO TRADICIONALES; MEDIANTE UNA CELDA DE ENSAYO AL EXTERIOR” - Centro CEA - Facultad Regional Delta </a:t>
            </a:r>
            <a:r>
              <a:rPr lang="es-AR" sz="1200" dirty="0" err="1">
                <a:solidFill>
                  <a:srgbClr val="A8B3C7"/>
                </a:solidFill>
                <a:latin typeface="system-ui"/>
              </a:rPr>
              <a:t>Odobez</a:t>
            </a:r>
            <a:r>
              <a:rPr lang="es-AR" sz="1200" dirty="0">
                <a:solidFill>
                  <a:srgbClr val="A8B3C7"/>
                </a:solidFill>
                <a:latin typeface="system-ui"/>
              </a:rPr>
              <a:t>, </a:t>
            </a:r>
            <a:r>
              <a:rPr lang="es-AR" sz="1200" dirty="0" err="1">
                <a:solidFill>
                  <a:srgbClr val="A8B3C7"/>
                </a:solidFill>
                <a:latin typeface="system-ui"/>
              </a:rPr>
              <a:t>Soldatti</a:t>
            </a:r>
            <a:r>
              <a:rPr lang="es-AR" sz="1200" dirty="0">
                <a:solidFill>
                  <a:srgbClr val="A8B3C7"/>
                </a:solidFill>
                <a:latin typeface="system-ui"/>
              </a:rPr>
              <a:t>, 22nd LACCEI International Multi-</a:t>
            </a:r>
            <a:r>
              <a:rPr lang="es-AR" sz="1200" dirty="0" err="1">
                <a:solidFill>
                  <a:srgbClr val="A8B3C7"/>
                </a:solidFill>
                <a:latin typeface="system-ui"/>
              </a:rPr>
              <a:t>Conference</a:t>
            </a:r>
            <a:r>
              <a:rPr lang="es-AR" sz="1200" dirty="0">
                <a:solidFill>
                  <a:srgbClr val="A8B3C7"/>
                </a:solidFill>
                <a:latin typeface="system-ui"/>
              </a:rPr>
              <a:t> </a:t>
            </a:r>
            <a:r>
              <a:rPr lang="es-AR" sz="1200" dirty="0" err="1">
                <a:solidFill>
                  <a:srgbClr val="A8B3C7"/>
                </a:solidFill>
                <a:latin typeface="system-ui"/>
              </a:rPr>
              <a:t>for</a:t>
            </a:r>
            <a:r>
              <a:rPr lang="es-AR" sz="1200" dirty="0">
                <a:solidFill>
                  <a:srgbClr val="A8B3C7"/>
                </a:solidFill>
                <a:latin typeface="system-ui"/>
              </a:rPr>
              <a:t> </a:t>
            </a:r>
            <a:r>
              <a:rPr lang="es-AR" sz="1200" dirty="0" err="1">
                <a:solidFill>
                  <a:srgbClr val="A8B3C7"/>
                </a:solidFill>
                <a:latin typeface="system-ui"/>
              </a:rPr>
              <a:t>Engineering</a:t>
            </a:r>
            <a:r>
              <a:rPr lang="es-AR" sz="1200" dirty="0">
                <a:solidFill>
                  <a:srgbClr val="A8B3C7"/>
                </a:solidFill>
                <a:latin typeface="system-ui"/>
              </a:rPr>
              <a:t>, </a:t>
            </a:r>
            <a:r>
              <a:rPr lang="es-AR" sz="1200" dirty="0" err="1">
                <a:solidFill>
                  <a:srgbClr val="A8B3C7"/>
                </a:solidFill>
                <a:latin typeface="system-ui"/>
              </a:rPr>
              <a:t>Education</a:t>
            </a:r>
            <a:r>
              <a:rPr lang="es-AR" sz="1200" dirty="0">
                <a:solidFill>
                  <a:srgbClr val="A8B3C7"/>
                </a:solidFill>
                <a:latin typeface="system-ui"/>
              </a:rPr>
              <a:t>, and </a:t>
            </a:r>
            <a:r>
              <a:rPr lang="es-AR" sz="1200" dirty="0" err="1">
                <a:solidFill>
                  <a:srgbClr val="A8B3C7"/>
                </a:solidFill>
                <a:latin typeface="system-ui"/>
              </a:rPr>
              <a:t>Technology</a:t>
            </a:r>
            <a:r>
              <a:rPr lang="es-AR" sz="1200" dirty="0">
                <a:solidFill>
                  <a:srgbClr val="A8B3C7"/>
                </a:solidFill>
                <a:latin typeface="system-ui"/>
              </a:rPr>
              <a:t>: 2024.</a:t>
            </a:r>
          </a:p>
          <a:p>
            <a:pPr lvl="1"/>
            <a:endParaRPr lang="es-AR" sz="1200" dirty="0">
              <a:solidFill>
                <a:srgbClr val="A8B3C7"/>
              </a:solidFill>
              <a:latin typeface="system-ui"/>
            </a:endParaRPr>
          </a:p>
          <a:p>
            <a:pPr lvl="1"/>
            <a:r>
              <a:rPr lang="es-AR" sz="1200" dirty="0">
                <a:solidFill>
                  <a:srgbClr val="A8B3C7"/>
                </a:solidFill>
                <a:latin typeface="system-ui"/>
              </a:rPr>
              <a:t>Su interés y utilidad se encuadra en el PID homologado: ENTCDE0010069TC;  "ESTUDIO DE LA EFICIENCIA ENERGÉTICA Y LA APLICACIÓN DE LAS ENERGÍAS RENOVABLES EN UN PROYECTO DEMOSTRATIVO DE UNA BIOCONSTRUCCIÓN EN EL DELTA BONAERENSE" </a:t>
            </a:r>
          </a:p>
        </p:txBody>
      </p:sp>
    </p:spTree>
    <p:extLst>
      <p:ext uri="{BB962C8B-B14F-4D97-AF65-F5344CB8AC3E}">
        <p14:creationId xmlns:p14="http://schemas.microsoft.com/office/powerpoint/2010/main" val="411685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B5F98-4689-4280-3D93-F038D6C4E2C1}"/>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E7E4BF04-17DA-53D6-A34C-0D5EB484B3D5}"/>
              </a:ext>
            </a:extLst>
          </p:cNvPr>
          <p:cNvGrpSpPr/>
          <p:nvPr/>
        </p:nvGrpSpPr>
        <p:grpSpPr>
          <a:xfrm>
            <a:off x="0" y="0"/>
            <a:ext cx="12192000" cy="6858000"/>
            <a:chOff x="0" y="0"/>
            <a:chExt cx="12192000" cy="6858000"/>
          </a:xfrm>
        </p:grpSpPr>
        <p:pic>
          <p:nvPicPr>
            <p:cNvPr id="11" name="Picture 10">
              <a:extLst>
                <a:ext uri="{FF2B5EF4-FFF2-40B4-BE49-F238E27FC236}">
                  <a16:creationId xmlns:a16="http://schemas.microsoft.com/office/drawing/2014/main" id="{90DA08B2-0D74-C9A9-24B0-52BD3064A2D5}"/>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AEA2ED95-E5E2-33CD-72D6-40F705C2784A}"/>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732E8AC1-44DC-591A-7D15-D77AAF3D15AF}"/>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E77ABB12-3809-BD2B-9398-B2188F615DA5}"/>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8C4AB6EE-DCF7-4B84-4F50-E03B26FCA619}"/>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557ED9D9-0074-163F-625D-E4BDE5AAB6B7}"/>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C66500AE-4E2B-5DAB-ECD8-09403F2EDCC3}"/>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75AA5C7D-DAC2-77C1-3713-0F75A63D61FD}"/>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E419540D-A28C-35AF-B153-93BECD9E55DB}"/>
              </a:ext>
            </a:extLst>
          </p:cNvPr>
          <p:cNvSpPr txBox="1"/>
          <p:nvPr/>
        </p:nvSpPr>
        <p:spPr>
          <a:xfrm>
            <a:off x="995025" y="74193"/>
            <a:ext cx="6096000" cy="646331"/>
          </a:xfrm>
          <a:prstGeom prst="rect">
            <a:avLst/>
          </a:prstGeom>
          <a:noFill/>
        </p:spPr>
        <p:txBody>
          <a:bodyPr wrap="square">
            <a:spAutoFit/>
          </a:bodyPr>
          <a:lstStyle/>
          <a:p>
            <a:r>
              <a:rPr lang="es-ES" sz="3600" b="1" dirty="0">
                <a:solidFill>
                  <a:schemeClr val="bg1"/>
                </a:solidFill>
                <a:latin typeface="system-ui"/>
              </a:rPr>
              <a:t>¿Qué es la Transmitancia?</a:t>
            </a:r>
            <a:endParaRPr lang="en-US" sz="3600" dirty="0">
              <a:solidFill>
                <a:schemeClr val="bg1"/>
              </a:solidFill>
            </a:endParaRPr>
          </a:p>
        </p:txBody>
      </p:sp>
      <p:sp>
        <p:nvSpPr>
          <p:cNvPr id="5" name="TextBox 4">
            <a:extLst>
              <a:ext uri="{FF2B5EF4-FFF2-40B4-BE49-F238E27FC236}">
                <a16:creationId xmlns:a16="http://schemas.microsoft.com/office/drawing/2014/main" id="{45D9FA5A-7FC0-6E72-7F31-ECF982977282}"/>
              </a:ext>
            </a:extLst>
          </p:cNvPr>
          <p:cNvSpPr txBox="1"/>
          <p:nvPr/>
        </p:nvSpPr>
        <p:spPr>
          <a:xfrm>
            <a:off x="995025" y="1224319"/>
            <a:ext cx="10041408" cy="1581710"/>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2000" b="0" i="0" dirty="0">
                <a:solidFill>
                  <a:srgbClr val="A8B3C7"/>
                </a:solidFill>
                <a:effectLst/>
                <a:latin typeface="system-ui"/>
              </a:rPr>
              <a:t>La transmitancia térmica de una pared, también conocida como conductancia térmica o conductividad térmica de transmisión, es una medida que indica qué tan fácil es que el calor pase a través de esa pared. </a:t>
            </a:r>
          </a:p>
        </p:txBody>
      </p:sp>
      <p:sp>
        <p:nvSpPr>
          <p:cNvPr id="7" name="Rectangle 6">
            <a:extLst>
              <a:ext uri="{FF2B5EF4-FFF2-40B4-BE49-F238E27FC236}">
                <a16:creationId xmlns:a16="http://schemas.microsoft.com/office/drawing/2014/main" id="{CCDBDB59-F16E-A0D7-EF1D-94D499D42E74}"/>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3AC70299-DC76-BF64-7B62-C75A296BF170}"/>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75E42F79-844E-A4DE-75B9-4C32C55AB9D8}"/>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A90691E2-2252-3F50-0580-9EBFC2EBA1A8}"/>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29" name="TextBox 28">
            <a:extLst>
              <a:ext uri="{FF2B5EF4-FFF2-40B4-BE49-F238E27FC236}">
                <a16:creationId xmlns:a16="http://schemas.microsoft.com/office/drawing/2014/main" id="{46CDDC4C-807C-A768-9400-2350F31E26FF}"/>
              </a:ext>
            </a:extLst>
          </p:cNvPr>
          <p:cNvSpPr txBox="1"/>
          <p:nvPr/>
        </p:nvSpPr>
        <p:spPr>
          <a:xfrm>
            <a:off x="1251958" y="3547333"/>
            <a:ext cx="10177317" cy="2879795"/>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defPPr>
              <a:defRPr lang="en-US"/>
            </a:defPPr>
            <a:lvl1pPr>
              <a:lnSpc>
                <a:spcPct val="150000"/>
              </a:lnSpc>
              <a:defRPr sz="2000" b="0" i="0">
                <a:solidFill>
                  <a:srgbClr val="A8B3C7"/>
                </a:solidFill>
                <a:effectLst/>
                <a:latin typeface="system-ui"/>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vl6pPr>
              <a:defRPr>
                <a:solidFill>
                  <a:schemeClr val="accent6"/>
                </a:solidFill>
              </a:defRPr>
            </a:lvl6pPr>
            <a:lvl7pPr>
              <a:defRPr>
                <a:solidFill>
                  <a:schemeClr val="accent6"/>
                </a:solidFill>
              </a:defRPr>
            </a:lvl7pPr>
            <a:lvl8pPr>
              <a:defRPr>
                <a:solidFill>
                  <a:schemeClr val="accent6"/>
                </a:solidFill>
              </a:defRPr>
            </a:lvl8pPr>
            <a:lvl9pPr>
              <a:defRPr>
                <a:solidFill>
                  <a:schemeClr val="accent6"/>
                </a:solidFill>
              </a:defRPr>
            </a:lvl9pPr>
          </a:lstStyle>
          <a:p>
            <a:r>
              <a:rPr lang="es-AR" sz="1400" b="1" dirty="0"/>
              <a:t>¿Por qué es tan importante?</a:t>
            </a:r>
          </a:p>
          <a:p>
            <a:pPr marL="171450" indent="-171450">
              <a:buFont typeface="Arial" panose="020B0604020202020204" pitchFamily="34" charset="0"/>
              <a:buChar char="•"/>
            </a:pPr>
            <a:r>
              <a:rPr lang="es-AR" sz="1200" dirty="0"/>
              <a:t>Eficiencia energética: Permite evaluar cuánto calor se transfiere entre el interior y el exterior del edificio. Una baja transmitancia significa que la pared es eficiente en evitar pérdidas de calor en invierno o ganancias en verano</a:t>
            </a:r>
          </a:p>
          <a:p>
            <a:pPr marL="171450" indent="-171450">
              <a:buFont typeface="Arial" panose="020B0604020202020204" pitchFamily="34" charset="0"/>
              <a:buChar char="•"/>
            </a:pPr>
            <a:r>
              <a:rPr lang="es-AR" sz="1200" dirty="0"/>
              <a:t>Confort térmico: Una adecuada transmitancia contribuye a mantener condiciones interiores confortables, evitando temperaturas extremas y fluctuaciones no deseadas.</a:t>
            </a:r>
          </a:p>
          <a:p>
            <a:pPr marL="171450" indent="-171450">
              <a:buFont typeface="Arial" panose="020B0604020202020204" pitchFamily="34" charset="0"/>
              <a:buChar char="•"/>
            </a:pPr>
            <a:r>
              <a:rPr lang="es-AR" sz="1200" dirty="0"/>
              <a:t>Cumplimiento de normativas: Muchas regulaciones de construcción establecen valores máximos de transmitancia permitidos para asegurar la eficiencia energética y el cumplimiento con estándares ambientales.</a:t>
            </a:r>
          </a:p>
          <a:p>
            <a:pPr marL="171450" indent="-171450">
              <a:buFont typeface="Arial" panose="020B0604020202020204" pitchFamily="34" charset="0"/>
              <a:buChar char="•"/>
            </a:pPr>
            <a:r>
              <a:rPr lang="es-AR" sz="1200" dirty="0"/>
              <a:t>Diseño y selección de materiales: Permite a los ingenieros y arquitectos escoger materiales adecuados y diseñar paredes con el aislamiento necesario, equilibrando costos y rendimiento.</a:t>
            </a:r>
          </a:p>
        </p:txBody>
      </p:sp>
    </p:spTree>
    <p:extLst>
      <p:ext uri="{BB962C8B-B14F-4D97-AF65-F5344CB8AC3E}">
        <p14:creationId xmlns:p14="http://schemas.microsoft.com/office/powerpoint/2010/main" val="1075243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15AA8-2F10-376E-4651-5AEDB5722EFE}"/>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CC9621AB-FDCB-6E29-70E9-375F532C6CD1}"/>
              </a:ext>
            </a:extLst>
          </p:cNvPr>
          <p:cNvGrpSpPr/>
          <p:nvPr/>
        </p:nvGrpSpPr>
        <p:grpSpPr>
          <a:xfrm>
            <a:off x="0" y="0"/>
            <a:ext cx="12192000" cy="6858000"/>
            <a:chOff x="0" y="0"/>
            <a:chExt cx="12192000" cy="6858000"/>
          </a:xfrm>
        </p:grpSpPr>
        <p:pic>
          <p:nvPicPr>
            <p:cNvPr id="11" name="Picture 10">
              <a:extLst>
                <a:ext uri="{FF2B5EF4-FFF2-40B4-BE49-F238E27FC236}">
                  <a16:creationId xmlns:a16="http://schemas.microsoft.com/office/drawing/2014/main" id="{6E269F38-8327-9B91-D5B3-2F6AAEE6AD09}"/>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59D8E746-386A-755E-7BD5-910220E8309B}"/>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FF2B276F-FFD0-D4CC-595A-7E9709AD0C21}"/>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92C098DC-018A-C08D-6AFC-C38CBAE52EBD}"/>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84196623-A4DD-C3E5-5AF2-2C49860C146F}"/>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0ED4293F-116F-2EBF-13F3-3919C245AB72}"/>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4A387C04-7DAA-3C9E-11B2-1754C45A5AF0}"/>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C252EF66-7DDC-014B-106B-275445FD3941}"/>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3BC385A7-364E-8412-F692-E8C4EC62E04B}"/>
              </a:ext>
            </a:extLst>
          </p:cNvPr>
          <p:cNvSpPr txBox="1"/>
          <p:nvPr/>
        </p:nvSpPr>
        <p:spPr>
          <a:xfrm>
            <a:off x="995028" y="78904"/>
            <a:ext cx="9719234" cy="646331"/>
          </a:xfrm>
          <a:prstGeom prst="rect">
            <a:avLst/>
          </a:prstGeom>
          <a:noFill/>
        </p:spPr>
        <p:txBody>
          <a:bodyPr wrap="square">
            <a:spAutoFit/>
          </a:bodyPr>
          <a:lstStyle/>
          <a:p>
            <a:r>
              <a:rPr lang="es-ES" sz="3600" b="1" dirty="0">
                <a:solidFill>
                  <a:schemeClr val="bg1"/>
                </a:solidFill>
                <a:latin typeface="system-ui"/>
              </a:rPr>
              <a:t>Formas de calcular la Transmitancia Térmica</a:t>
            </a:r>
            <a:endParaRPr lang="en-US" sz="3600" dirty="0">
              <a:solidFill>
                <a:schemeClr val="bg1"/>
              </a:solidFill>
            </a:endParaRPr>
          </a:p>
        </p:txBody>
      </p:sp>
      <p:sp>
        <p:nvSpPr>
          <p:cNvPr id="5" name="TextBox 4">
            <a:extLst>
              <a:ext uri="{FF2B5EF4-FFF2-40B4-BE49-F238E27FC236}">
                <a16:creationId xmlns:a16="http://schemas.microsoft.com/office/drawing/2014/main" id="{F0719016-792E-A985-BC5A-64697D9E7C90}"/>
              </a:ext>
            </a:extLst>
          </p:cNvPr>
          <p:cNvSpPr txBox="1"/>
          <p:nvPr/>
        </p:nvSpPr>
        <p:spPr>
          <a:xfrm>
            <a:off x="724919" y="3693641"/>
            <a:ext cx="1693103" cy="468497"/>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1600" b="0" i="0" dirty="0">
                <a:solidFill>
                  <a:srgbClr val="A8B3C7"/>
                </a:solidFill>
                <a:effectLst/>
                <a:latin typeface="system-ui"/>
              </a:rPr>
              <a:t>Transmitancia (U)</a:t>
            </a:r>
          </a:p>
        </p:txBody>
      </p:sp>
      <p:sp>
        <p:nvSpPr>
          <p:cNvPr id="7" name="Rectangle 6">
            <a:extLst>
              <a:ext uri="{FF2B5EF4-FFF2-40B4-BE49-F238E27FC236}">
                <a16:creationId xmlns:a16="http://schemas.microsoft.com/office/drawing/2014/main" id="{462A23A2-73C7-075F-C06A-DD7D258B5BCE}"/>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C731158F-452A-BBAD-85ED-2C0A36DCA21B}"/>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CE3DC4E1-8EED-A62D-EF0B-477B27FE2505}"/>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B5817A79-499F-9421-5E3D-2843FC522D6D}"/>
              </a:ext>
            </a:extLst>
          </p:cNvPr>
          <p:cNvSpPr/>
          <p:nvPr/>
        </p:nvSpPr>
        <p:spPr>
          <a:xfrm rot="5400000" flipH="1">
            <a:off x="7891684" y="3322288"/>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2" name="TextBox 1">
            <a:extLst>
              <a:ext uri="{FF2B5EF4-FFF2-40B4-BE49-F238E27FC236}">
                <a16:creationId xmlns:a16="http://schemas.microsoft.com/office/drawing/2014/main" id="{CFC7259E-0350-18C5-B2C9-906EFB28E462}"/>
              </a:ext>
            </a:extLst>
          </p:cNvPr>
          <p:cNvSpPr txBox="1"/>
          <p:nvPr/>
        </p:nvSpPr>
        <p:spPr>
          <a:xfrm>
            <a:off x="3030836" y="1867208"/>
            <a:ext cx="1693103" cy="468497"/>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1600" b="0" i="0" dirty="0">
                <a:solidFill>
                  <a:srgbClr val="A8B3C7"/>
                </a:solidFill>
                <a:effectLst/>
                <a:latin typeface="system-ui"/>
              </a:rPr>
              <a:t>Cálculo Teórico</a:t>
            </a:r>
          </a:p>
        </p:txBody>
      </p:sp>
      <p:sp>
        <p:nvSpPr>
          <p:cNvPr id="4" name="TextBox 3">
            <a:extLst>
              <a:ext uri="{FF2B5EF4-FFF2-40B4-BE49-F238E27FC236}">
                <a16:creationId xmlns:a16="http://schemas.microsoft.com/office/drawing/2014/main" id="{4CE95D4C-C507-38FA-1810-DB3A30481090}"/>
              </a:ext>
            </a:extLst>
          </p:cNvPr>
          <p:cNvSpPr txBox="1"/>
          <p:nvPr/>
        </p:nvSpPr>
        <p:spPr>
          <a:xfrm>
            <a:off x="3158698" y="3673073"/>
            <a:ext cx="1693103" cy="468497"/>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1600" b="0" i="0" dirty="0">
                <a:solidFill>
                  <a:srgbClr val="A8B3C7"/>
                </a:solidFill>
                <a:effectLst/>
                <a:latin typeface="system-ui"/>
              </a:rPr>
              <a:t>Medición in situ</a:t>
            </a:r>
          </a:p>
        </p:txBody>
      </p:sp>
      <p:sp>
        <p:nvSpPr>
          <p:cNvPr id="6" name="TextBox 5">
            <a:extLst>
              <a:ext uri="{FF2B5EF4-FFF2-40B4-BE49-F238E27FC236}">
                <a16:creationId xmlns:a16="http://schemas.microsoft.com/office/drawing/2014/main" id="{18C0E6F0-6A41-5FC8-FC0B-7445E514D918}"/>
              </a:ext>
            </a:extLst>
          </p:cNvPr>
          <p:cNvSpPr txBox="1"/>
          <p:nvPr/>
        </p:nvSpPr>
        <p:spPr>
          <a:xfrm>
            <a:off x="3047709" y="5582271"/>
            <a:ext cx="1953269" cy="468497"/>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1600" b="0" i="0" dirty="0">
                <a:solidFill>
                  <a:srgbClr val="A8B3C7"/>
                </a:solidFill>
                <a:effectLst/>
                <a:latin typeface="system-ui"/>
              </a:rPr>
              <a:t>Métodos numéricos</a:t>
            </a:r>
          </a:p>
        </p:txBody>
      </p:sp>
      <p:sp>
        <p:nvSpPr>
          <p:cNvPr id="8" name="TextBox 7">
            <a:extLst>
              <a:ext uri="{FF2B5EF4-FFF2-40B4-BE49-F238E27FC236}">
                <a16:creationId xmlns:a16="http://schemas.microsoft.com/office/drawing/2014/main" id="{A8BFAC9F-4206-594E-9E79-EBA4AA2C43C7}"/>
              </a:ext>
            </a:extLst>
          </p:cNvPr>
          <p:cNvSpPr txBox="1"/>
          <p:nvPr/>
        </p:nvSpPr>
        <p:spPr>
          <a:xfrm>
            <a:off x="5522866" y="1039862"/>
            <a:ext cx="3154930" cy="683450"/>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1200" b="0" i="0" dirty="0">
                <a:solidFill>
                  <a:srgbClr val="A8B3C7"/>
                </a:solidFill>
                <a:effectLst/>
                <a:latin typeface="system-ui"/>
              </a:rPr>
              <a:t>Se calcula por capas de material, se utiliza cuando se conoce la composición de la pared </a:t>
            </a:r>
          </a:p>
        </p:txBody>
      </p:sp>
      <p:sp>
        <p:nvSpPr>
          <p:cNvPr id="9" name="TextBox 8">
            <a:extLst>
              <a:ext uri="{FF2B5EF4-FFF2-40B4-BE49-F238E27FC236}">
                <a16:creationId xmlns:a16="http://schemas.microsoft.com/office/drawing/2014/main" id="{091308D1-CC11-3176-2E4B-425079E731EB}"/>
              </a:ext>
            </a:extLst>
          </p:cNvPr>
          <p:cNvSpPr txBox="1"/>
          <p:nvPr/>
        </p:nvSpPr>
        <p:spPr>
          <a:xfrm>
            <a:off x="5431854" y="3377682"/>
            <a:ext cx="3258692" cy="989916"/>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1200" b="0" i="0" dirty="0">
                <a:solidFill>
                  <a:srgbClr val="A8B3C7"/>
                </a:solidFill>
                <a:effectLst/>
                <a:latin typeface="system-ui"/>
              </a:rPr>
              <a:t>Método empírico usando sensores que miden:</a:t>
            </a:r>
          </a:p>
          <a:p>
            <a:pPr marL="171450" indent="-171450">
              <a:lnSpc>
                <a:spcPct val="150000"/>
              </a:lnSpc>
              <a:buFont typeface="Arial" panose="020B0604020202020204" pitchFamily="34" charset="0"/>
              <a:buChar char="•"/>
            </a:pPr>
            <a:r>
              <a:rPr lang="es-ES" sz="1200" b="0" i="0" dirty="0">
                <a:solidFill>
                  <a:srgbClr val="A8B3C7"/>
                </a:solidFill>
                <a:effectLst/>
                <a:latin typeface="system-ui"/>
              </a:rPr>
              <a:t>Flujo de calor (W/m2)</a:t>
            </a:r>
          </a:p>
          <a:p>
            <a:pPr marL="171450" indent="-171450">
              <a:lnSpc>
                <a:spcPct val="150000"/>
              </a:lnSpc>
              <a:buFont typeface="Arial" panose="020B0604020202020204" pitchFamily="34" charset="0"/>
              <a:buChar char="•"/>
            </a:pPr>
            <a:r>
              <a:rPr lang="es-ES" sz="1200" b="0" i="0" dirty="0">
                <a:solidFill>
                  <a:srgbClr val="A8B3C7"/>
                </a:solidFill>
                <a:effectLst/>
                <a:latin typeface="system-ui"/>
              </a:rPr>
              <a:t>Temperaturas superficial interior y exterior</a:t>
            </a:r>
          </a:p>
        </p:txBody>
      </p:sp>
      <p:sp>
        <p:nvSpPr>
          <p:cNvPr id="10" name="TextBox 9">
            <a:extLst>
              <a:ext uri="{FF2B5EF4-FFF2-40B4-BE49-F238E27FC236}">
                <a16:creationId xmlns:a16="http://schemas.microsoft.com/office/drawing/2014/main" id="{D27ADE12-E8C7-327B-56EC-5F614743646F}"/>
              </a:ext>
            </a:extLst>
          </p:cNvPr>
          <p:cNvSpPr txBox="1"/>
          <p:nvPr/>
        </p:nvSpPr>
        <p:spPr>
          <a:xfrm>
            <a:off x="5584519" y="5250385"/>
            <a:ext cx="2904202" cy="1296383"/>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1200" b="0" i="0" dirty="0">
                <a:solidFill>
                  <a:srgbClr val="A8B3C7"/>
                </a:solidFill>
                <a:effectLst/>
                <a:latin typeface="system-ui"/>
              </a:rPr>
              <a:t>Utilizando mediciones reales de flujo y temperaturas y herramientas computacionales como simulaciones, mínimos cuadrados, IA, </a:t>
            </a:r>
            <a:r>
              <a:rPr lang="es-ES" sz="1200" b="0" i="0" dirty="0" err="1">
                <a:solidFill>
                  <a:srgbClr val="A8B3C7"/>
                </a:solidFill>
                <a:effectLst/>
                <a:latin typeface="system-ui"/>
              </a:rPr>
              <a:t>etc</a:t>
            </a:r>
            <a:endParaRPr lang="es-ES" sz="1200" b="0" i="0" dirty="0">
              <a:solidFill>
                <a:srgbClr val="A8B3C7"/>
              </a:solidFill>
              <a:effectLst/>
              <a:latin typeface="system-ui"/>
            </a:endParaRPr>
          </a:p>
        </p:txBody>
      </p:sp>
      <p:sp>
        <p:nvSpPr>
          <p:cNvPr id="19" name="TextBox 18">
            <a:extLst>
              <a:ext uri="{FF2B5EF4-FFF2-40B4-BE49-F238E27FC236}">
                <a16:creationId xmlns:a16="http://schemas.microsoft.com/office/drawing/2014/main" id="{7131B4CF-A824-5EC1-1079-B821FC3A731B}"/>
              </a:ext>
            </a:extLst>
          </p:cNvPr>
          <p:cNvSpPr txBox="1"/>
          <p:nvPr/>
        </p:nvSpPr>
        <p:spPr>
          <a:xfrm>
            <a:off x="9072951" y="804139"/>
            <a:ext cx="2556278" cy="1909317"/>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1200" b="1" i="0" dirty="0">
                <a:solidFill>
                  <a:srgbClr val="A8B3C7"/>
                </a:solidFill>
                <a:effectLst/>
                <a:latin typeface="system-ui"/>
              </a:rPr>
              <a:t>Ventajas</a:t>
            </a:r>
            <a:r>
              <a:rPr lang="es-ES" sz="1200" b="0" i="0" dirty="0">
                <a:solidFill>
                  <a:srgbClr val="A8B3C7"/>
                </a:solidFill>
                <a:effectLst/>
                <a:latin typeface="system-ui"/>
              </a:rPr>
              <a:t>: Rápida, si los datos de los materiales son precisos.</a:t>
            </a:r>
          </a:p>
          <a:p>
            <a:pPr>
              <a:lnSpc>
                <a:spcPct val="150000"/>
              </a:lnSpc>
            </a:pPr>
            <a:r>
              <a:rPr lang="es-ES" sz="1200" b="1" i="0" dirty="0">
                <a:solidFill>
                  <a:srgbClr val="A8B3C7"/>
                </a:solidFill>
                <a:effectLst/>
                <a:latin typeface="system-ui"/>
              </a:rPr>
              <a:t>Desventajas: </a:t>
            </a:r>
            <a:r>
              <a:rPr lang="es-ES" sz="1200" b="0" i="0" dirty="0">
                <a:solidFill>
                  <a:srgbClr val="A8B3C7"/>
                </a:solidFill>
                <a:effectLst/>
                <a:latin typeface="system-ui"/>
              </a:rPr>
              <a:t>No considera defectos reales de la pared. Para materiales no convencionales los datos son escasos</a:t>
            </a:r>
          </a:p>
        </p:txBody>
      </p:sp>
      <p:sp>
        <p:nvSpPr>
          <p:cNvPr id="22" name="TextBox 21">
            <a:extLst>
              <a:ext uri="{FF2B5EF4-FFF2-40B4-BE49-F238E27FC236}">
                <a16:creationId xmlns:a16="http://schemas.microsoft.com/office/drawing/2014/main" id="{32D58365-55B2-7F0B-6069-3600732FB5D5}"/>
              </a:ext>
            </a:extLst>
          </p:cNvPr>
          <p:cNvSpPr txBox="1"/>
          <p:nvPr/>
        </p:nvSpPr>
        <p:spPr>
          <a:xfrm>
            <a:off x="9087468" y="2814249"/>
            <a:ext cx="2494928" cy="2215784"/>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1200" b="1" i="0" dirty="0">
                <a:solidFill>
                  <a:srgbClr val="A8B3C7"/>
                </a:solidFill>
                <a:effectLst/>
                <a:latin typeface="system-ui"/>
              </a:rPr>
              <a:t>Ventajas: </a:t>
            </a:r>
            <a:r>
              <a:rPr lang="es-ES" sz="1200" b="0" i="0" dirty="0">
                <a:solidFill>
                  <a:srgbClr val="A8B3C7"/>
                </a:solidFill>
                <a:effectLst/>
                <a:latin typeface="system-ui"/>
              </a:rPr>
              <a:t>Refleja el comportamiento real de la pared incluyendo imperfecciones.</a:t>
            </a:r>
          </a:p>
          <a:p>
            <a:pPr>
              <a:lnSpc>
                <a:spcPct val="150000"/>
              </a:lnSpc>
            </a:pPr>
            <a:r>
              <a:rPr lang="es-ES" sz="1200" b="1" i="0" dirty="0">
                <a:solidFill>
                  <a:srgbClr val="A8B3C7"/>
                </a:solidFill>
                <a:effectLst/>
                <a:latin typeface="system-ui"/>
              </a:rPr>
              <a:t>Desventajas:</a:t>
            </a:r>
            <a:r>
              <a:rPr lang="es-ES" sz="1200" b="0" i="0" dirty="0">
                <a:solidFill>
                  <a:srgbClr val="A8B3C7"/>
                </a:solidFill>
                <a:effectLst/>
                <a:latin typeface="system-ui"/>
              </a:rPr>
              <a:t> Requiere equipos de medición, estabilidad térmica, suficiente tiempo (días) y condiciones controladas.</a:t>
            </a:r>
          </a:p>
        </p:txBody>
      </p:sp>
      <p:sp>
        <p:nvSpPr>
          <p:cNvPr id="24" name="TextBox 23">
            <a:extLst>
              <a:ext uri="{FF2B5EF4-FFF2-40B4-BE49-F238E27FC236}">
                <a16:creationId xmlns:a16="http://schemas.microsoft.com/office/drawing/2014/main" id="{3B1F21C1-83C5-6647-AF68-1F2EA0FD942C}"/>
              </a:ext>
            </a:extLst>
          </p:cNvPr>
          <p:cNvSpPr txBox="1"/>
          <p:nvPr/>
        </p:nvSpPr>
        <p:spPr>
          <a:xfrm>
            <a:off x="9082635" y="5118611"/>
            <a:ext cx="2492029" cy="1602850"/>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1200" b="1" i="0" dirty="0">
                <a:solidFill>
                  <a:srgbClr val="A8B3C7"/>
                </a:solidFill>
                <a:effectLst/>
                <a:latin typeface="system-ui"/>
              </a:rPr>
              <a:t>Ventajas:</a:t>
            </a:r>
            <a:r>
              <a:rPr lang="es-ES" sz="1200" b="0" i="0" dirty="0">
                <a:solidFill>
                  <a:srgbClr val="A8B3C7"/>
                </a:solidFill>
                <a:effectLst/>
                <a:latin typeface="system-ui"/>
              </a:rPr>
              <a:t> Útil cuando la pared es compleja o no se conoce su estructura</a:t>
            </a:r>
          </a:p>
          <a:p>
            <a:pPr>
              <a:lnSpc>
                <a:spcPct val="150000"/>
              </a:lnSpc>
            </a:pPr>
            <a:r>
              <a:rPr lang="es-ES" sz="1200" b="1" i="0" dirty="0">
                <a:solidFill>
                  <a:srgbClr val="A8B3C7"/>
                </a:solidFill>
                <a:effectLst/>
                <a:latin typeface="system-ui"/>
              </a:rPr>
              <a:t>Desventajas:</a:t>
            </a:r>
            <a:r>
              <a:rPr lang="es-ES" sz="1200" b="0" i="0" dirty="0">
                <a:solidFill>
                  <a:srgbClr val="A8B3C7"/>
                </a:solidFill>
                <a:effectLst/>
                <a:latin typeface="system-ui"/>
              </a:rPr>
              <a:t> Requiere validación, y calibración de sensores.</a:t>
            </a:r>
          </a:p>
        </p:txBody>
      </p:sp>
      <p:pic>
        <p:nvPicPr>
          <p:cNvPr id="25" name="Picture 24">
            <a:extLst>
              <a:ext uri="{FF2B5EF4-FFF2-40B4-BE49-F238E27FC236}">
                <a16:creationId xmlns:a16="http://schemas.microsoft.com/office/drawing/2014/main" id="{58FCAB67-FA1E-3AF7-7F7B-3B2A55B71E3F}"/>
              </a:ext>
            </a:extLst>
          </p:cNvPr>
          <p:cNvPicPr>
            <a:picLocks noChangeAspect="1"/>
          </p:cNvPicPr>
          <p:nvPr/>
        </p:nvPicPr>
        <p:blipFill>
          <a:blip r:embed="rId4"/>
          <a:srcRect t="21606" b="18274"/>
          <a:stretch>
            <a:fillRect/>
          </a:stretch>
        </p:blipFill>
        <p:spPr>
          <a:xfrm>
            <a:off x="5537336" y="1779505"/>
            <a:ext cx="3142398" cy="1125632"/>
          </a:xfrm>
          <a:prstGeom prst="rect">
            <a:avLst/>
          </a:prstGeom>
        </p:spPr>
      </p:pic>
      <p:pic>
        <p:nvPicPr>
          <p:cNvPr id="27" name="Picture 26">
            <a:extLst>
              <a:ext uri="{FF2B5EF4-FFF2-40B4-BE49-F238E27FC236}">
                <a16:creationId xmlns:a16="http://schemas.microsoft.com/office/drawing/2014/main" id="{20E2C8EF-6E57-8481-A5CE-74134DD59909}"/>
              </a:ext>
            </a:extLst>
          </p:cNvPr>
          <p:cNvPicPr>
            <a:picLocks noChangeAspect="1"/>
          </p:cNvPicPr>
          <p:nvPr/>
        </p:nvPicPr>
        <p:blipFill>
          <a:blip r:embed="rId5"/>
          <a:srcRect l="43467" t="57574" r="37978" b="26212"/>
          <a:stretch>
            <a:fillRect/>
          </a:stretch>
        </p:blipFill>
        <p:spPr>
          <a:xfrm>
            <a:off x="6513877" y="4430513"/>
            <a:ext cx="1065097" cy="548880"/>
          </a:xfrm>
          <a:prstGeom prst="rect">
            <a:avLst/>
          </a:prstGeom>
        </p:spPr>
      </p:pic>
      <p:sp>
        <p:nvSpPr>
          <p:cNvPr id="28" name="Arrow: Right 27">
            <a:extLst>
              <a:ext uri="{FF2B5EF4-FFF2-40B4-BE49-F238E27FC236}">
                <a16:creationId xmlns:a16="http://schemas.microsoft.com/office/drawing/2014/main" id="{D14820CA-4CC7-2F1D-2F2F-F56557FFD2FF}"/>
              </a:ext>
            </a:extLst>
          </p:cNvPr>
          <p:cNvSpPr/>
          <p:nvPr/>
        </p:nvSpPr>
        <p:spPr>
          <a:xfrm>
            <a:off x="2486869" y="3794634"/>
            <a:ext cx="553379" cy="251225"/>
          </a:xfrm>
          <a:prstGeom prst="rightArrow">
            <a:avLst/>
          </a:prstGeom>
          <a:solidFill>
            <a:srgbClr val="5DFDCB"/>
          </a:solidFill>
          <a:ln>
            <a:solidFill>
              <a:srgbClr val="5DFD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1C3C5794-0341-C4F1-1CB2-D7B91CCC6666}"/>
              </a:ext>
            </a:extLst>
          </p:cNvPr>
          <p:cNvSpPr/>
          <p:nvPr/>
        </p:nvSpPr>
        <p:spPr>
          <a:xfrm rot="17868141" flipV="1">
            <a:off x="2062967" y="2920788"/>
            <a:ext cx="1260788" cy="250604"/>
          </a:xfrm>
          <a:prstGeom prst="rightArrow">
            <a:avLst/>
          </a:prstGeom>
          <a:solidFill>
            <a:srgbClr val="5DFDCB"/>
          </a:solidFill>
          <a:ln>
            <a:solidFill>
              <a:srgbClr val="5DFD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A9ABDFB6-3510-6CA3-EDCF-C98E2E35696E}"/>
              </a:ext>
            </a:extLst>
          </p:cNvPr>
          <p:cNvSpPr/>
          <p:nvPr/>
        </p:nvSpPr>
        <p:spPr>
          <a:xfrm rot="3712715" flipV="1">
            <a:off x="1979408" y="4734294"/>
            <a:ext cx="1454997" cy="298930"/>
          </a:xfrm>
          <a:prstGeom prst="rightArrow">
            <a:avLst/>
          </a:prstGeom>
          <a:solidFill>
            <a:srgbClr val="5DFDCB"/>
          </a:solidFill>
          <a:ln>
            <a:solidFill>
              <a:srgbClr val="5DFD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31">
            <a:extLst>
              <a:ext uri="{FF2B5EF4-FFF2-40B4-BE49-F238E27FC236}">
                <a16:creationId xmlns:a16="http://schemas.microsoft.com/office/drawing/2014/main" id="{96012851-D009-5E3E-F072-32344B63D356}"/>
              </a:ext>
            </a:extLst>
          </p:cNvPr>
          <p:cNvSpPr/>
          <p:nvPr/>
        </p:nvSpPr>
        <p:spPr>
          <a:xfrm>
            <a:off x="4865491" y="1981588"/>
            <a:ext cx="553379" cy="251225"/>
          </a:xfrm>
          <a:prstGeom prst="rightArrow">
            <a:avLst/>
          </a:prstGeom>
          <a:solidFill>
            <a:srgbClr val="5DFDCB"/>
          </a:solidFill>
          <a:ln>
            <a:solidFill>
              <a:srgbClr val="5DFD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Right 32">
            <a:extLst>
              <a:ext uri="{FF2B5EF4-FFF2-40B4-BE49-F238E27FC236}">
                <a16:creationId xmlns:a16="http://schemas.microsoft.com/office/drawing/2014/main" id="{A9F163B1-0659-0034-3716-7EA040E7CB95}"/>
              </a:ext>
            </a:extLst>
          </p:cNvPr>
          <p:cNvSpPr/>
          <p:nvPr/>
        </p:nvSpPr>
        <p:spPr>
          <a:xfrm>
            <a:off x="4944064" y="3794634"/>
            <a:ext cx="443727" cy="238299"/>
          </a:xfrm>
          <a:prstGeom prst="rightArrow">
            <a:avLst/>
          </a:prstGeom>
          <a:solidFill>
            <a:srgbClr val="5DFDCB"/>
          </a:solidFill>
          <a:ln>
            <a:solidFill>
              <a:srgbClr val="5DFD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row: Right 33">
            <a:extLst>
              <a:ext uri="{FF2B5EF4-FFF2-40B4-BE49-F238E27FC236}">
                <a16:creationId xmlns:a16="http://schemas.microsoft.com/office/drawing/2014/main" id="{BB33459E-5EDB-920C-A8B3-8461281F8444}"/>
              </a:ext>
            </a:extLst>
          </p:cNvPr>
          <p:cNvSpPr/>
          <p:nvPr/>
        </p:nvSpPr>
        <p:spPr>
          <a:xfrm>
            <a:off x="5056679" y="5704054"/>
            <a:ext cx="453782" cy="238299"/>
          </a:xfrm>
          <a:prstGeom prst="rightArrow">
            <a:avLst/>
          </a:prstGeom>
          <a:solidFill>
            <a:srgbClr val="5DFDCB"/>
          </a:solidFill>
          <a:ln>
            <a:solidFill>
              <a:srgbClr val="5DFD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Right 35">
            <a:extLst>
              <a:ext uri="{FF2B5EF4-FFF2-40B4-BE49-F238E27FC236}">
                <a16:creationId xmlns:a16="http://schemas.microsoft.com/office/drawing/2014/main" id="{6D092B52-DCAA-6ED7-F5A6-E0AE27C408EA}"/>
              </a:ext>
            </a:extLst>
          </p:cNvPr>
          <p:cNvSpPr/>
          <p:nvPr/>
        </p:nvSpPr>
        <p:spPr>
          <a:xfrm>
            <a:off x="8734609" y="1437029"/>
            <a:ext cx="272773" cy="302360"/>
          </a:xfrm>
          <a:prstGeom prst="rightArrow">
            <a:avLst/>
          </a:prstGeom>
          <a:solidFill>
            <a:srgbClr val="5DFDCB"/>
          </a:solidFill>
          <a:ln>
            <a:solidFill>
              <a:srgbClr val="5DFD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Right 36">
            <a:extLst>
              <a:ext uri="{FF2B5EF4-FFF2-40B4-BE49-F238E27FC236}">
                <a16:creationId xmlns:a16="http://schemas.microsoft.com/office/drawing/2014/main" id="{6DE8F12B-3637-80CD-3D2E-34B75E46F5BC}"/>
              </a:ext>
            </a:extLst>
          </p:cNvPr>
          <p:cNvSpPr/>
          <p:nvPr/>
        </p:nvSpPr>
        <p:spPr>
          <a:xfrm>
            <a:off x="8734609" y="3715375"/>
            <a:ext cx="307250" cy="237488"/>
          </a:xfrm>
          <a:prstGeom prst="rightArrow">
            <a:avLst/>
          </a:prstGeom>
          <a:solidFill>
            <a:srgbClr val="5DFDCB"/>
          </a:solidFill>
          <a:ln>
            <a:solidFill>
              <a:srgbClr val="5DFD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Right 37">
            <a:extLst>
              <a:ext uri="{FF2B5EF4-FFF2-40B4-BE49-F238E27FC236}">
                <a16:creationId xmlns:a16="http://schemas.microsoft.com/office/drawing/2014/main" id="{0F095894-5E7F-1EC3-6F0F-E696E7DE4513}"/>
              </a:ext>
            </a:extLst>
          </p:cNvPr>
          <p:cNvSpPr/>
          <p:nvPr/>
        </p:nvSpPr>
        <p:spPr>
          <a:xfrm>
            <a:off x="8562779" y="5738996"/>
            <a:ext cx="443727" cy="238299"/>
          </a:xfrm>
          <a:prstGeom prst="rightArrow">
            <a:avLst/>
          </a:prstGeom>
          <a:solidFill>
            <a:srgbClr val="5DFDCB"/>
          </a:solidFill>
          <a:ln>
            <a:solidFill>
              <a:srgbClr val="5DFD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6120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50A1C-D0C8-7480-7AC9-7FD6406166DA}"/>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7DE6FA20-A2B0-D618-A56B-C4F660AA4BD9}"/>
              </a:ext>
            </a:extLst>
          </p:cNvPr>
          <p:cNvGrpSpPr/>
          <p:nvPr/>
        </p:nvGrpSpPr>
        <p:grpSpPr>
          <a:xfrm>
            <a:off x="0" y="0"/>
            <a:ext cx="12192000" cy="6858000"/>
            <a:chOff x="0" y="0"/>
            <a:chExt cx="12192000" cy="6858000"/>
          </a:xfrm>
        </p:grpSpPr>
        <p:pic>
          <p:nvPicPr>
            <p:cNvPr id="11" name="Picture 10">
              <a:extLst>
                <a:ext uri="{FF2B5EF4-FFF2-40B4-BE49-F238E27FC236}">
                  <a16:creationId xmlns:a16="http://schemas.microsoft.com/office/drawing/2014/main" id="{8595900B-D4E9-64F0-240E-D22AA2DE8925}"/>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DB57C811-E1EB-0A34-378D-8213EAA87E97}"/>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C6C01AF5-7831-D0BD-C9D6-7F3883A9B54E}"/>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3AC35162-8CDD-023E-87DC-52B6ECC7BEDB}"/>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1CB88553-9E3C-0414-ACEF-B88075987251}"/>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A7B1B007-4D56-40BE-51D9-CB062AE3F1D2}"/>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3D1A0A66-5904-EE58-BAE9-088BDCC2FC22}"/>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2D8709BD-A149-2999-4610-968882595BD1}"/>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5EB68541-622D-0CD4-4B40-2B092EDA8EBE}"/>
              </a:ext>
            </a:extLst>
          </p:cNvPr>
          <p:cNvSpPr txBox="1"/>
          <p:nvPr/>
        </p:nvSpPr>
        <p:spPr>
          <a:xfrm>
            <a:off x="995025" y="142576"/>
            <a:ext cx="9161698" cy="646331"/>
          </a:xfrm>
          <a:prstGeom prst="rect">
            <a:avLst/>
          </a:prstGeom>
          <a:noFill/>
        </p:spPr>
        <p:txBody>
          <a:bodyPr wrap="square">
            <a:spAutoFit/>
          </a:bodyPr>
          <a:lstStyle/>
          <a:p>
            <a:r>
              <a:rPr lang="es-ES" sz="3600" b="1" dirty="0">
                <a:solidFill>
                  <a:schemeClr val="bg1"/>
                </a:solidFill>
                <a:latin typeface="system-ui"/>
              </a:rPr>
              <a:t>CEED (Celda de Ensayos al Exterior Delta)</a:t>
            </a:r>
            <a:endParaRPr lang="en-US" sz="3600" dirty="0">
              <a:solidFill>
                <a:schemeClr val="bg1"/>
              </a:solidFill>
            </a:endParaRPr>
          </a:p>
        </p:txBody>
      </p:sp>
      <p:sp>
        <p:nvSpPr>
          <p:cNvPr id="5" name="TextBox 4">
            <a:extLst>
              <a:ext uri="{FF2B5EF4-FFF2-40B4-BE49-F238E27FC236}">
                <a16:creationId xmlns:a16="http://schemas.microsoft.com/office/drawing/2014/main" id="{84D6441F-48D7-5EEB-9DDD-443EF1E7DFD4}"/>
              </a:ext>
            </a:extLst>
          </p:cNvPr>
          <p:cNvSpPr txBox="1"/>
          <p:nvPr/>
        </p:nvSpPr>
        <p:spPr>
          <a:xfrm>
            <a:off x="1024420" y="998563"/>
            <a:ext cx="10041408" cy="1285742"/>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a:lnSpc>
                <a:spcPct val="150000"/>
              </a:lnSpc>
            </a:pPr>
            <a:r>
              <a:rPr lang="es-ES" sz="1600" b="0" i="0" dirty="0">
                <a:solidFill>
                  <a:srgbClr val="A8B3C7"/>
                </a:solidFill>
                <a:effectLst/>
                <a:latin typeface="system-ui"/>
              </a:rPr>
              <a:t>La CEED es el equipo utilizado para verificar la transmitancia de manera experimental, consta de dos zonas, una de guarda y otra de ensayo, en donde se coloca la pared a la cual se le desea medir la transmitancia. Posee además varios sensores de temperaturas y flujo de calor.</a:t>
            </a:r>
          </a:p>
        </p:txBody>
      </p:sp>
      <p:sp>
        <p:nvSpPr>
          <p:cNvPr id="7" name="Rectangle 6">
            <a:extLst>
              <a:ext uri="{FF2B5EF4-FFF2-40B4-BE49-F238E27FC236}">
                <a16:creationId xmlns:a16="http://schemas.microsoft.com/office/drawing/2014/main" id="{6F447A27-B985-71E0-8DC0-EB52E44BBE00}"/>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4B18FD72-4BCA-E087-2545-B1268A542518}"/>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877414C9-CE00-66E2-8ADA-CFDBD41FB71A}"/>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6BF65DC9-C016-A442-006C-E54AEF978FD1}"/>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grpSp>
        <p:nvGrpSpPr>
          <p:cNvPr id="2" name="14 Grupo">
            <a:extLst>
              <a:ext uri="{FF2B5EF4-FFF2-40B4-BE49-F238E27FC236}">
                <a16:creationId xmlns:a16="http://schemas.microsoft.com/office/drawing/2014/main" id="{467D0499-F2C0-059D-CF51-0B1C98EE62C7}"/>
              </a:ext>
            </a:extLst>
          </p:cNvPr>
          <p:cNvGrpSpPr/>
          <p:nvPr/>
        </p:nvGrpSpPr>
        <p:grpSpPr>
          <a:xfrm>
            <a:off x="862580" y="2802670"/>
            <a:ext cx="2166546" cy="3912754"/>
            <a:chOff x="762828" y="1628801"/>
            <a:chExt cx="2945075" cy="4876192"/>
          </a:xfrm>
        </p:grpSpPr>
        <p:pic>
          <p:nvPicPr>
            <p:cNvPr id="4" name="3 Imagen">
              <a:extLst>
                <a:ext uri="{FF2B5EF4-FFF2-40B4-BE49-F238E27FC236}">
                  <a16:creationId xmlns:a16="http://schemas.microsoft.com/office/drawing/2014/main" id="{8DD031F3-DA09-86C6-559B-7E824264C4E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193050" y="2604039"/>
              <a:ext cx="4876192" cy="2925715"/>
            </a:xfrm>
            <a:prstGeom prst="rect">
              <a:avLst/>
            </a:prstGeom>
            <a:ln w="28575">
              <a:noFill/>
            </a:ln>
          </p:spPr>
        </p:pic>
        <p:sp>
          <p:nvSpPr>
            <p:cNvPr id="6" name="4 CuadroTexto">
              <a:extLst>
                <a:ext uri="{FF2B5EF4-FFF2-40B4-BE49-F238E27FC236}">
                  <a16:creationId xmlns:a16="http://schemas.microsoft.com/office/drawing/2014/main" id="{D3CAAB6B-FB3E-A23E-9005-704419FF9257}"/>
                </a:ext>
              </a:extLst>
            </p:cNvPr>
            <p:cNvSpPr txBox="1"/>
            <p:nvPr/>
          </p:nvSpPr>
          <p:spPr>
            <a:xfrm>
              <a:off x="762828" y="2492897"/>
              <a:ext cx="1234389" cy="1015663"/>
            </a:xfrm>
            <a:prstGeom prst="rect">
              <a:avLst/>
            </a:prstGeom>
            <a:noFill/>
          </p:spPr>
          <p:txBody>
            <a:bodyPr wrap="square" rtlCol="0">
              <a:spAutoFit/>
            </a:bodyPr>
            <a:lstStyle/>
            <a:p>
              <a:r>
                <a:rPr lang="es-AR" sz="1200" b="1" noProof="0" dirty="0">
                  <a:solidFill>
                    <a:prstClr val="white"/>
                  </a:solidFill>
                  <a:latin typeface="Verdana"/>
                </a:rPr>
                <a:t>Cara Norte que pertenece a la cámara interior</a:t>
              </a:r>
            </a:p>
          </p:txBody>
        </p:sp>
        <p:cxnSp>
          <p:nvCxnSpPr>
            <p:cNvPr id="8" name="5 Conector recto">
              <a:extLst>
                <a:ext uri="{FF2B5EF4-FFF2-40B4-BE49-F238E27FC236}">
                  <a16:creationId xmlns:a16="http://schemas.microsoft.com/office/drawing/2014/main" id="{9308D110-3665-590A-1600-CEA098915E10}"/>
                </a:ext>
              </a:extLst>
            </p:cNvPr>
            <p:cNvCxnSpPr/>
            <p:nvPr/>
          </p:nvCxnSpPr>
          <p:spPr>
            <a:xfrm>
              <a:off x="2709235" y="2348881"/>
              <a:ext cx="72008" cy="2520280"/>
            </a:xfrm>
            <a:prstGeom prst="line">
              <a:avLst/>
            </a:prstGeom>
            <a:noFill/>
            <a:ln w="50800" cap="rnd" cmpd="sng" algn="ctr">
              <a:solidFill>
                <a:srgbClr val="ED4600"/>
              </a:solidFill>
              <a:prstDash val="solid"/>
            </a:ln>
            <a:effectLst/>
          </p:spPr>
        </p:cxnSp>
        <p:cxnSp>
          <p:nvCxnSpPr>
            <p:cNvPr id="9" name="6 Conector recto">
              <a:extLst>
                <a:ext uri="{FF2B5EF4-FFF2-40B4-BE49-F238E27FC236}">
                  <a16:creationId xmlns:a16="http://schemas.microsoft.com/office/drawing/2014/main" id="{A1BBA3A8-FA4E-E41E-B1CA-1E1981DACEEB}"/>
                </a:ext>
              </a:extLst>
            </p:cNvPr>
            <p:cNvCxnSpPr/>
            <p:nvPr/>
          </p:nvCxnSpPr>
          <p:spPr>
            <a:xfrm flipV="1">
              <a:off x="2781243" y="4653137"/>
              <a:ext cx="504056" cy="216024"/>
            </a:xfrm>
            <a:prstGeom prst="line">
              <a:avLst/>
            </a:prstGeom>
            <a:noFill/>
            <a:ln w="50800" cap="rnd" cmpd="sng" algn="ctr">
              <a:solidFill>
                <a:srgbClr val="ED4600"/>
              </a:solidFill>
              <a:prstDash val="solid"/>
            </a:ln>
            <a:effectLst/>
          </p:spPr>
        </p:cxnSp>
        <p:cxnSp>
          <p:nvCxnSpPr>
            <p:cNvPr id="10" name="7 Conector recto">
              <a:extLst>
                <a:ext uri="{FF2B5EF4-FFF2-40B4-BE49-F238E27FC236}">
                  <a16:creationId xmlns:a16="http://schemas.microsoft.com/office/drawing/2014/main" id="{B45CAF6F-10E1-B77A-BBAD-90C6CB3531E3}"/>
                </a:ext>
              </a:extLst>
            </p:cNvPr>
            <p:cNvCxnSpPr/>
            <p:nvPr/>
          </p:nvCxnSpPr>
          <p:spPr>
            <a:xfrm flipH="1" flipV="1">
              <a:off x="3249295" y="2852937"/>
              <a:ext cx="36004" cy="1800201"/>
            </a:xfrm>
            <a:prstGeom prst="line">
              <a:avLst/>
            </a:prstGeom>
            <a:noFill/>
            <a:ln w="50800" cap="rnd" cmpd="sng" algn="ctr">
              <a:solidFill>
                <a:srgbClr val="ED4600"/>
              </a:solidFill>
              <a:prstDash val="solid"/>
            </a:ln>
            <a:effectLst/>
          </p:spPr>
        </p:cxnSp>
        <p:cxnSp>
          <p:nvCxnSpPr>
            <p:cNvPr id="19" name="8 Conector recto">
              <a:extLst>
                <a:ext uri="{FF2B5EF4-FFF2-40B4-BE49-F238E27FC236}">
                  <a16:creationId xmlns:a16="http://schemas.microsoft.com/office/drawing/2014/main" id="{E9ADEEDB-6766-D6D0-C86A-18EE0819489F}"/>
                </a:ext>
              </a:extLst>
            </p:cNvPr>
            <p:cNvCxnSpPr/>
            <p:nvPr/>
          </p:nvCxnSpPr>
          <p:spPr>
            <a:xfrm flipH="1" flipV="1">
              <a:off x="2709235" y="2348881"/>
              <a:ext cx="540060" cy="504056"/>
            </a:xfrm>
            <a:prstGeom prst="line">
              <a:avLst/>
            </a:prstGeom>
            <a:noFill/>
            <a:ln w="50800" cap="rnd" cmpd="sng" algn="ctr">
              <a:solidFill>
                <a:srgbClr val="ED4600"/>
              </a:solidFill>
              <a:prstDash val="solid"/>
            </a:ln>
            <a:effectLst/>
          </p:spPr>
        </p:cxnSp>
        <p:cxnSp>
          <p:nvCxnSpPr>
            <p:cNvPr id="22" name="9 Conector recto de flecha">
              <a:extLst>
                <a:ext uri="{FF2B5EF4-FFF2-40B4-BE49-F238E27FC236}">
                  <a16:creationId xmlns:a16="http://schemas.microsoft.com/office/drawing/2014/main" id="{8D5C2910-B215-FF77-00D8-71220C106C31}"/>
                </a:ext>
              </a:extLst>
            </p:cNvPr>
            <p:cNvCxnSpPr/>
            <p:nvPr/>
          </p:nvCxnSpPr>
          <p:spPr>
            <a:xfrm>
              <a:off x="1997217" y="2723729"/>
              <a:ext cx="712018" cy="0"/>
            </a:xfrm>
            <a:prstGeom prst="straightConnector1">
              <a:avLst/>
            </a:prstGeom>
            <a:noFill/>
            <a:ln w="25400" cap="rnd" cmpd="sng" algn="ctr">
              <a:solidFill>
                <a:srgbClr val="ED4600"/>
              </a:solidFill>
              <a:prstDash val="solid"/>
              <a:tailEnd type="arrow"/>
            </a:ln>
            <a:effectLst/>
          </p:spPr>
        </p:cxnSp>
        <p:sp>
          <p:nvSpPr>
            <p:cNvPr id="24" name="10 CuadroTexto">
              <a:extLst>
                <a:ext uri="{FF2B5EF4-FFF2-40B4-BE49-F238E27FC236}">
                  <a16:creationId xmlns:a16="http://schemas.microsoft.com/office/drawing/2014/main" id="{6BFFA3D7-A6A5-5764-A4D1-EFF39E8EBEBC}"/>
                </a:ext>
              </a:extLst>
            </p:cNvPr>
            <p:cNvSpPr txBox="1"/>
            <p:nvPr/>
          </p:nvSpPr>
          <p:spPr>
            <a:xfrm>
              <a:off x="762828" y="4141865"/>
              <a:ext cx="1386789" cy="697858"/>
            </a:xfrm>
            <a:prstGeom prst="rect">
              <a:avLst/>
            </a:prstGeom>
            <a:noFill/>
          </p:spPr>
          <p:txBody>
            <a:bodyPr wrap="square" rtlCol="0">
              <a:spAutoFit/>
            </a:bodyPr>
            <a:lstStyle/>
            <a:p>
              <a:r>
                <a:rPr lang="es-AR" sz="1200" b="1" noProof="0" dirty="0">
                  <a:solidFill>
                    <a:prstClr val="white"/>
                  </a:solidFill>
                  <a:latin typeface="Verdana"/>
                </a:rPr>
                <a:t>Ubicación de la pared a ensayar</a:t>
              </a:r>
            </a:p>
          </p:txBody>
        </p:sp>
        <p:cxnSp>
          <p:nvCxnSpPr>
            <p:cNvPr id="25" name="11 Conector recto de flecha">
              <a:extLst>
                <a:ext uri="{FF2B5EF4-FFF2-40B4-BE49-F238E27FC236}">
                  <a16:creationId xmlns:a16="http://schemas.microsoft.com/office/drawing/2014/main" id="{4388CC8A-D0B3-F75A-6D64-DD73DDC5FA2A}"/>
                </a:ext>
              </a:extLst>
            </p:cNvPr>
            <p:cNvCxnSpPr/>
            <p:nvPr/>
          </p:nvCxnSpPr>
          <p:spPr>
            <a:xfrm flipV="1">
              <a:off x="2149617" y="4066896"/>
              <a:ext cx="829648" cy="336579"/>
            </a:xfrm>
            <a:prstGeom prst="straightConnector1">
              <a:avLst/>
            </a:prstGeom>
            <a:noFill/>
            <a:ln w="25400" cap="rnd" cmpd="sng" algn="ctr">
              <a:solidFill>
                <a:srgbClr val="ED4600"/>
              </a:solidFill>
              <a:prstDash val="solid"/>
              <a:tailEnd type="arrow"/>
            </a:ln>
            <a:effectLst/>
          </p:spPr>
        </p:cxnSp>
      </p:grpSp>
      <p:grpSp>
        <p:nvGrpSpPr>
          <p:cNvPr id="27" name="17 Grupo">
            <a:extLst>
              <a:ext uri="{FF2B5EF4-FFF2-40B4-BE49-F238E27FC236}">
                <a16:creationId xmlns:a16="http://schemas.microsoft.com/office/drawing/2014/main" id="{93335888-E371-2487-E9D3-BECABBC9A7E6}"/>
              </a:ext>
            </a:extLst>
          </p:cNvPr>
          <p:cNvGrpSpPr/>
          <p:nvPr/>
        </p:nvGrpSpPr>
        <p:grpSpPr>
          <a:xfrm>
            <a:off x="3292870" y="3422801"/>
            <a:ext cx="2069995" cy="2939478"/>
            <a:chOff x="3419872" y="2924944"/>
            <a:chExt cx="2545563" cy="3392785"/>
          </a:xfrm>
        </p:grpSpPr>
        <p:pic>
          <p:nvPicPr>
            <p:cNvPr id="28" name="Picture 2">
              <a:extLst>
                <a:ext uri="{FF2B5EF4-FFF2-40B4-BE49-F238E27FC236}">
                  <a16:creationId xmlns:a16="http://schemas.microsoft.com/office/drawing/2014/main" id="{F02C1AAE-07FA-202C-B1AD-E362BFCAD8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872" y="2924944"/>
              <a:ext cx="2545563" cy="339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3 Imagen">
              <a:extLst>
                <a:ext uri="{FF2B5EF4-FFF2-40B4-BE49-F238E27FC236}">
                  <a16:creationId xmlns:a16="http://schemas.microsoft.com/office/drawing/2014/main" id="{E3E2347E-84ED-4777-C074-A5206BE23F8F}"/>
                </a:ext>
              </a:extLst>
            </p:cNvPr>
            <p:cNvPicPr/>
            <p:nvPr/>
          </p:nvPicPr>
          <p:blipFill>
            <a:blip r:embed="rId6"/>
            <a:stretch>
              <a:fillRect/>
            </a:stretch>
          </p:blipFill>
          <p:spPr>
            <a:xfrm>
              <a:off x="4644008" y="4837361"/>
              <a:ext cx="1177411" cy="1480368"/>
            </a:xfrm>
            <a:prstGeom prst="rect">
              <a:avLst/>
            </a:prstGeom>
          </p:spPr>
        </p:pic>
      </p:grpSp>
      <p:grpSp>
        <p:nvGrpSpPr>
          <p:cNvPr id="31" name="Group 30">
            <a:extLst>
              <a:ext uri="{FF2B5EF4-FFF2-40B4-BE49-F238E27FC236}">
                <a16:creationId xmlns:a16="http://schemas.microsoft.com/office/drawing/2014/main" id="{BFB0C310-FD53-E20F-D5BC-D695F03ED604}"/>
              </a:ext>
            </a:extLst>
          </p:cNvPr>
          <p:cNvGrpSpPr/>
          <p:nvPr/>
        </p:nvGrpSpPr>
        <p:grpSpPr>
          <a:xfrm>
            <a:off x="6063534" y="2627020"/>
            <a:ext cx="5240095" cy="3687561"/>
            <a:chOff x="198368" y="1412776"/>
            <a:chExt cx="8262064" cy="4896544"/>
          </a:xfrm>
        </p:grpSpPr>
        <p:sp>
          <p:nvSpPr>
            <p:cNvPr id="32" name="3 Rectángulo">
              <a:extLst>
                <a:ext uri="{FF2B5EF4-FFF2-40B4-BE49-F238E27FC236}">
                  <a16:creationId xmlns:a16="http://schemas.microsoft.com/office/drawing/2014/main" id="{77B95C3D-0ECB-ED61-7FAB-0E2DC49D3206}"/>
                </a:ext>
              </a:extLst>
            </p:cNvPr>
            <p:cNvSpPr/>
            <p:nvPr/>
          </p:nvSpPr>
          <p:spPr>
            <a:xfrm>
              <a:off x="2491891" y="2564904"/>
              <a:ext cx="5968541" cy="3096344"/>
            </a:xfrm>
            <a:prstGeom prst="rect">
              <a:avLst/>
            </a:prstGeom>
            <a:solidFill>
              <a:sysClr val="window" lastClr="FFFFFF"/>
            </a:solidFill>
            <a:ln w="2032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33" name="5 Rectángulo">
              <a:extLst>
                <a:ext uri="{FF2B5EF4-FFF2-40B4-BE49-F238E27FC236}">
                  <a16:creationId xmlns:a16="http://schemas.microsoft.com/office/drawing/2014/main" id="{82D63A06-98C3-54DF-8CB4-F37364F20140}"/>
                </a:ext>
              </a:extLst>
            </p:cNvPr>
            <p:cNvSpPr/>
            <p:nvPr/>
          </p:nvSpPr>
          <p:spPr>
            <a:xfrm>
              <a:off x="2510737" y="3028764"/>
              <a:ext cx="4265181" cy="2168624"/>
            </a:xfrm>
            <a:prstGeom prst="rect">
              <a:avLst/>
            </a:prstGeom>
            <a:solidFill>
              <a:sysClr val="window" lastClr="FFFFFF"/>
            </a:solidFill>
            <a:ln w="2032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34" name="6 Rectángulo">
              <a:extLst>
                <a:ext uri="{FF2B5EF4-FFF2-40B4-BE49-F238E27FC236}">
                  <a16:creationId xmlns:a16="http://schemas.microsoft.com/office/drawing/2014/main" id="{48623F81-A147-5FAD-C45A-1A2C7AEE2780}"/>
                </a:ext>
              </a:extLst>
            </p:cNvPr>
            <p:cNvSpPr/>
            <p:nvPr/>
          </p:nvSpPr>
          <p:spPr>
            <a:xfrm>
              <a:off x="2415822" y="5805264"/>
              <a:ext cx="687688" cy="504056"/>
            </a:xfrm>
            <a:prstGeom prst="rect">
              <a:avLst/>
            </a:prstGeom>
            <a:solidFill>
              <a:sysClr val="windowText" lastClr="000000"/>
            </a:solidFill>
            <a:ln w="158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35" name="7 Rectángulo">
              <a:extLst>
                <a:ext uri="{FF2B5EF4-FFF2-40B4-BE49-F238E27FC236}">
                  <a16:creationId xmlns:a16="http://schemas.microsoft.com/office/drawing/2014/main" id="{5623A27D-B222-959D-F81E-60D530FD024A}"/>
                </a:ext>
              </a:extLst>
            </p:cNvPr>
            <p:cNvSpPr/>
            <p:nvPr/>
          </p:nvSpPr>
          <p:spPr>
            <a:xfrm>
              <a:off x="3751582" y="5805264"/>
              <a:ext cx="687688" cy="504056"/>
            </a:xfrm>
            <a:prstGeom prst="rect">
              <a:avLst/>
            </a:prstGeom>
            <a:solidFill>
              <a:sysClr val="windowText" lastClr="000000"/>
            </a:solidFill>
            <a:ln w="158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36" name="8 Rectángulo">
              <a:extLst>
                <a:ext uri="{FF2B5EF4-FFF2-40B4-BE49-F238E27FC236}">
                  <a16:creationId xmlns:a16="http://schemas.microsoft.com/office/drawing/2014/main" id="{1218F221-B347-1897-0D08-54E977739C37}"/>
                </a:ext>
              </a:extLst>
            </p:cNvPr>
            <p:cNvSpPr/>
            <p:nvPr/>
          </p:nvSpPr>
          <p:spPr>
            <a:xfrm>
              <a:off x="5132317" y="5805264"/>
              <a:ext cx="687688" cy="504056"/>
            </a:xfrm>
            <a:prstGeom prst="rect">
              <a:avLst/>
            </a:prstGeom>
            <a:solidFill>
              <a:sysClr val="windowText" lastClr="000000"/>
            </a:solidFill>
            <a:ln w="158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37" name="9 Rectángulo">
              <a:extLst>
                <a:ext uri="{FF2B5EF4-FFF2-40B4-BE49-F238E27FC236}">
                  <a16:creationId xmlns:a16="http://schemas.microsoft.com/office/drawing/2014/main" id="{385EB113-2C34-51BE-187F-B1738565A900}"/>
                </a:ext>
              </a:extLst>
            </p:cNvPr>
            <p:cNvSpPr/>
            <p:nvPr/>
          </p:nvSpPr>
          <p:spPr>
            <a:xfrm>
              <a:off x="6432074" y="5805264"/>
              <a:ext cx="687688" cy="504056"/>
            </a:xfrm>
            <a:prstGeom prst="rect">
              <a:avLst/>
            </a:prstGeom>
            <a:solidFill>
              <a:sysClr val="windowText" lastClr="000000"/>
            </a:solidFill>
            <a:ln w="158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38" name="10 Rectángulo">
              <a:extLst>
                <a:ext uri="{FF2B5EF4-FFF2-40B4-BE49-F238E27FC236}">
                  <a16:creationId xmlns:a16="http://schemas.microsoft.com/office/drawing/2014/main" id="{2C7B05A4-F0F1-405F-CA5B-67AA58DC2A2D}"/>
                </a:ext>
              </a:extLst>
            </p:cNvPr>
            <p:cNvSpPr/>
            <p:nvPr/>
          </p:nvSpPr>
          <p:spPr>
            <a:xfrm>
              <a:off x="7772744" y="5805264"/>
              <a:ext cx="687688" cy="504056"/>
            </a:xfrm>
            <a:prstGeom prst="rect">
              <a:avLst/>
            </a:prstGeom>
            <a:solidFill>
              <a:sysClr val="windowText" lastClr="000000"/>
            </a:solidFill>
            <a:ln w="158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39" name="11 Sol">
              <a:extLst>
                <a:ext uri="{FF2B5EF4-FFF2-40B4-BE49-F238E27FC236}">
                  <a16:creationId xmlns:a16="http://schemas.microsoft.com/office/drawing/2014/main" id="{B48207AE-DB09-C561-C0A6-379F3C4F5924}"/>
                </a:ext>
              </a:extLst>
            </p:cNvPr>
            <p:cNvSpPr/>
            <p:nvPr/>
          </p:nvSpPr>
          <p:spPr>
            <a:xfrm>
              <a:off x="198368" y="1412776"/>
              <a:ext cx="1080120" cy="1039924"/>
            </a:xfrm>
            <a:prstGeom prst="sun">
              <a:avLst/>
            </a:prstGeom>
            <a:solidFill>
              <a:srgbClr val="CFC60D">
                <a:lumMod val="60000"/>
                <a:lumOff val="40000"/>
              </a:srgbClr>
            </a:solidFill>
            <a:ln w="15875" cap="flat" cmpd="sng" algn="ctr">
              <a:solidFill>
                <a:srgbClr val="759AA5">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cxnSp>
          <p:nvCxnSpPr>
            <p:cNvPr id="40" name="13 Conector recto de flecha">
              <a:extLst>
                <a:ext uri="{FF2B5EF4-FFF2-40B4-BE49-F238E27FC236}">
                  <a16:creationId xmlns:a16="http://schemas.microsoft.com/office/drawing/2014/main" id="{85C224F7-DA11-E063-0A64-253C3FA5769D}"/>
                </a:ext>
              </a:extLst>
            </p:cNvPr>
            <p:cNvCxnSpPr/>
            <p:nvPr/>
          </p:nvCxnSpPr>
          <p:spPr>
            <a:xfrm>
              <a:off x="1187624" y="2218023"/>
              <a:ext cx="648072" cy="954757"/>
            </a:xfrm>
            <a:prstGeom prst="straightConnector1">
              <a:avLst/>
            </a:prstGeom>
            <a:noFill/>
            <a:ln w="38100" cap="flat" cmpd="sng" algn="ctr">
              <a:solidFill>
                <a:srgbClr val="CFC60D">
                  <a:lumMod val="60000"/>
                  <a:lumOff val="40000"/>
                </a:srgbClr>
              </a:solidFill>
              <a:prstDash val="solid"/>
              <a:tailEnd type="arrow"/>
            </a:ln>
            <a:effectLst/>
          </p:spPr>
        </p:cxnSp>
        <p:cxnSp>
          <p:nvCxnSpPr>
            <p:cNvPr id="41" name="14 Conector recto de flecha">
              <a:extLst>
                <a:ext uri="{FF2B5EF4-FFF2-40B4-BE49-F238E27FC236}">
                  <a16:creationId xmlns:a16="http://schemas.microsoft.com/office/drawing/2014/main" id="{73CA3B79-77C7-ED8B-FBB5-881641F71BDA}"/>
                </a:ext>
              </a:extLst>
            </p:cNvPr>
            <p:cNvCxnSpPr/>
            <p:nvPr/>
          </p:nvCxnSpPr>
          <p:spPr>
            <a:xfrm>
              <a:off x="1043608" y="2370423"/>
              <a:ext cx="648072" cy="954757"/>
            </a:xfrm>
            <a:prstGeom prst="straightConnector1">
              <a:avLst/>
            </a:prstGeom>
            <a:noFill/>
            <a:ln w="38100" cap="flat" cmpd="sng" algn="ctr">
              <a:solidFill>
                <a:srgbClr val="CFC60D">
                  <a:lumMod val="60000"/>
                  <a:lumOff val="40000"/>
                </a:srgbClr>
              </a:solidFill>
              <a:prstDash val="solid"/>
              <a:tailEnd type="arrow"/>
            </a:ln>
            <a:effectLst/>
          </p:spPr>
        </p:cxnSp>
        <p:cxnSp>
          <p:nvCxnSpPr>
            <p:cNvPr id="42" name="15 Conector recto de flecha">
              <a:extLst>
                <a:ext uri="{FF2B5EF4-FFF2-40B4-BE49-F238E27FC236}">
                  <a16:creationId xmlns:a16="http://schemas.microsoft.com/office/drawing/2014/main" id="{25846F22-60D4-ED91-CAB4-FD9219040A99}"/>
                </a:ext>
              </a:extLst>
            </p:cNvPr>
            <p:cNvCxnSpPr/>
            <p:nvPr/>
          </p:nvCxnSpPr>
          <p:spPr>
            <a:xfrm>
              <a:off x="899592" y="2524708"/>
              <a:ext cx="648072" cy="954757"/>
            </a:xfrm>
            <a:prstGeom prst="straightConnector1">
              <a:avLst/>
            </a:prstGeom>
            <a:noFill/>
            <a:ln w="38100" cap="flat" cmpd="sng" algn="ctr">
              <a:solidFill>
                <a:srgbClr val="CFC60D">
                  <a:lumMod val="60000"/>
                  <a:lumOff val="40000"/>
                </a:srgbClr>
              </a:solidFill>
              <a:prstDash val="solid"/>
              <a:tailEnd type="arrow"/>
            </a:ln>
            <a:effectLst/>
          </p:spPr>
        </p:cxnSp>
        <p:pic>
          <p:nvPicPr>
            <p:cNvPr id="43" name="Picture 2">
              <a:extLst>
                <a:ext uri="{FF2B5EF4-FFF2-40B4-BE49-F238E27FC236}">
                  <a16:creationId xmlns:a16="http://schemas.microsoft.com/office/drawing/2014/main" id="{AE5703F2-0501-6AEE-4234-A7EF6E5C708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4271" t="30937" r="63515" b="25160"/>
            <a:stretch/>
          </p:blipFill>
          <p:spPr bwMode="auto">
            <a:xfrm>
              <a:off x="2327618" y="3050307"/>
              <a:ext cx="288032" cy="2034878"/>
            </a:xfrm>
            <a:prstGeom prst="rect">
              <a:avLst/>
            </a:prstGeom>
            <a:noFill/>
            <a:ln w="0">
              <a:noFill/>
              <a:miter lim="800000"/>
              <a:headEnd/>
              <a:tailEnd/>
            </a:ln>
            <a:extLst>
              <a:ext uri="{909E8E84-426E-40DD-AFC4-6F175D3DCCD1}">
                <a14:hiddenFill xmlns:a14="http://schemas.microsoft.com/office/drawing/2010/main">
                  <a:solidFill>
                    <a:schemeClr val="accent1"/>
                  </a:solidFill>
                </a14:hiddenFill>
              </a:ext>
            </a:extLst>
          </p:spPr>
        </p:pic>
        <p:sp>
          <p:nvSpPr>
            <p:cNvPr id="44" name="17 Rectángulo">
              <a:extLst>
                <a:ext uri="{FF2B5EF4-FFF2-40B4-BE49-F238E27FC236}">
                  <a16:creationId xmlns:a16="http://schemas.microsoft.com/office/drawing/2014/main" id="{313266C2-82FC-DB5D-5395-7879EBF602B6}"/>
                </a:ext>
              </a:extLst>
            </p:cNvPr>
            <p:cNvSpPr/>
            <p:nvPr/>
          </p:nvSpPr>
          <p:spPr>
            <a:xfrm>
              <a:off x="2399626" y="3002087"/>
              <a:ext cx="252028" cy="2155106"/>
            </a:xfrm>
            <a:prstGeom prst="rect">
              <a:avLst/>
            </a:prstGeom>
            <a:solidFill>
              <a:sysClr val="windowText" lastClr="000000"/>
            </a:solidFill>
            <a:ln w="158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45" name="20 Rectángulo">
              <a:extLst>
                <a:ext uri="{FF2B5EF4-FFF2-40B4-BE49-F238E27FC236}">
                  <a16:creationId xmlns:a16="http://schemas.microsoft.com/office/drawing/2014/main" id="{28BA1132-E222-02B2-BC9A-7C1B8FC73CE0}"/>
                </a:ext>
              </a:extLst>
            </p:cNvPr>
            <p:cNvSpPr/>
            <p:nvPr/>
          </p:nvSpPr>
          <p:spPr>
            <a:xfrm>
              <a:off x="2399626" y="3613212"/>
              <a:ext cx="252028" cy="1224136"/>
            </a:xfrm>
            <a:prstGeom prst="rect">
              <a:avLst/>
            </a:prstGeom>
            <a:solidFill>
              <a:srgbClr val="B9AB6F">
                <a:lumMod val="50000"/>
              </a:srgbClr>
            </a:solidFill>
            <a:ln w="158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46" name="21 Rectángulo">
              <a:extLst>
                <a:ext uri="{FF2B5EF4-FFF2-40B4-BE49-F238E27FC236}">
                  <a16:creationId xmlns:a16="http://schemas.microsoft.com/office/drawing/2014/main" id="{A0762CBE-6038-8FD9-7076-CDD9372D6EEE}"/>
                </a:ext>
              </a:extLst>
            </p:cNvPr>
            <p:cNvSpPr/>
            <p:nvPr/>
          </p:nvSpPr>
          <p:spPr>
            <a:xfrm>
              <a:off x="2430000" y="3613212"/>
              <a:ext cx="186984" cy="1224136"/>
            </a:xfrm>
            <a:prstGeom prst="rect">
              <a:avLst/>
            </a:prstGeom>
            <a:solidFill>
              <a:sysClr val="window" lastClr="FFFFFF"/>
            </a:solidFill>
            <a:ln w="1587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47" name="23 CuadroTexto">
              <a:extLst>
                <a:ext uri="{FF2B5EF4-FFF2-40B4-BE49-F238E27FC236}">
                  <a16:creationId xmlns:a16="http://schemas.microsoft.com/office/drawing/2014/main" id="{0E20627B-18BB-D535-9850-03CEF3330886}"/>
                </a:ext>
              </a:extLst>
            </p:cNvPr>
            <p:cNvSpPr txBox="1"/>
            <p:nvPr/>
          </p:nvSpPr>
          <p:spPr>
            <a:xfrm>
              <a:off x="1925589" y="1632560"/>
              <a:ext cx="1584176" cy="750432"/>
            </a:xfrm>
            <a:prstGeom prst="rect">
              <a:avLst/>
            </a:prstGeom>
            <a:noFill/>
          </p:spPr>
          <p:txBody>
            <a:bodyPr wrap="square" lIns="36000" tIns="36000" rIns="36000" bIns="36000" rtlCol="0">
              <a:spAutoFit/>
            </a:bodyPr>
            <a:lstStyle/>
            <a:p>
              <a:r>
                <a:rPr lang="es-AR" sz="1600" noProof="0" dirty="0">
                  <a:solidFill>
                    <a:schemeClr val="bg1"/>
                  </a:solidFill>
                  <a:latin typeface="Tw Cen MT"/>
                </a:rPr>
                <a:t>Pared ensayada</a:t>
              </a:r>
            </a:p>
          </p:txBody>
        </p:sp>
        <p:sp>
          <p:nvSpPr>
            <p:cNvPr id="48" name="25 CuadroTexto">
              <a:extLst>
                <a:ext uri="{FF2B5EF4-FFF2-40B4-BE49-F238E27FC236}">
                  <a16:creationId xmlns:a16="http://schemas.microsoft.com/office/drawing/2014/main" id="{F00F5203-7BB8-96E0-08F0-F565C65150D0}"/>
                </a:ext>
              </a:extLst>
            </p:cNvPr>
            <p:cNvSpPr txBox="1"/>
            <p:nvPr/>
          </p:nvSpPr>
          <p:spPr>
            <a:xfrm>
              <a:off x="4116765" y="1779990"/>
              <a:ext cx="1463346" cy="750432"/>
            </a:xfrm>
            <a:prstGeom prst="rect">
              <a:avLst/>
            </a:prstGeom>
            <a:noFill/>
          </p:spPr>
          <p:txBody>
            <a:bodyPr wrap="square" lIns="36000" tIns="36000" rIns="36000" bIns="36000" rtlCol="0">
              <a:spAutoFit/>
            </a:bodyPr>
            <a:lstStyle/>
            <a:p>
              <a:r>
                <a:rPr lang="es-AR" sz="1600" noProof="0" dirty="0">
                  <a:solidFill>
                    <a:schemeClr val="bg1"/>
                  </a:solidFill>
                  <a:latin typeface="Tw Cen MT"/>
                </a:rPr>
                <a:t>Zona de ensayo</a:t>
              </a:r>
            </a:p>
          </p:txBody>
        </p:sp>
        <p:sp>
          <p:nvSpPr>
            <p:cNvPr id="49" name="26 CuadroTexto">
              <a:extLst>
                <a:ext uri="{FF2B5EF4-FFF2-40B4-BE49-F238E27FC236}">
                  <a16:creationId xmlns:a16="http://schemas.microsoft.com/office/drawing/2014/main" id="{D1CF2B5E-ECD1-DB65-3937-0FE9F7DC4D32}"/>
                </a:ext>
              </a:extLst>
            </p:cNvPr>
            <p:cNvSpPr txBox="1"/>
            <p:nvPr/>
          </p:nvSpPr>
          <p:spPr>
            <a:xfrm>
              <a:off x="6710926" y="1779990"/>
              <a:ext cx="1463346" cy="750432"/>
            </a:xfrm>
            <a:prstGeom prst="rect">
              <a:avLst/>
            </a:prstGeom>
            <a:noFill/>
          </p:spPr>
          <p:txBody>
            <a:bodyPr wrap="square" lIns="36000" tIns="36000" rIns="36000" bIns="36000" rtlCol="0">
              <a:spAutoFit/>
            </a:bodyPr>
            <a:lstStyle/>
            <a:p>
              <a:r>
                <a:rPr lang="es-AR" sz="1600" noProof="0" dirty="0">
                  <a:solidFill>
                    <a:schemeClr val="bg1"/>
                  </a:solidFill>
                  <a:latin typeface="Tw Cen MT"/>
                </a:rPr>
                <a:t>Zona de guarda</a:t>
              </a:r>
            </a:p>
          </p:txBody>
        </p:sp>
        <p:sp>
          <p:nvSpPr>
            <p:cNvPr id="50" name="24 Elipse">
              <a:extLst>
                <a:ext uri="{FF2B5EF4-FFF2-40B4-BE49-F238E27FC236}">
                  <a16:creationId xmlns:a16="http://schemas.microsoft.com/office/drawing/2014/main" id="{5C3EADE0-EE36-615A-A7F7-A6F429C23FEC}"/>
                </a:ext>
              </a:extLst>
            </p:cNvPr>
            <p:cNvSpPr/>
            <p:nvPr/>
          </p:nvSpPr>
          <p:spPr>
            <a:xfrm>
              <a:off x="660706" y="3717032"/>
              <a:ext cx="239893" cy="239893"/>
            </a:xfrm>
            <a:prstGeom prst="ellipse">
              <a:avLst/>
            </a:prstGeom>
            <a:solidFill>
              <a:srgbClr val="0070C0"/>
            </a:solidFill>
            <a:ln w="15875" cap="flat" cmpd="sng" algn="ctr">
              <a:solidFill>
                <a:srgbClr val="759AA5">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51" name="28 Elipse">
              <a:extLst>
                <a:ext uri="{FF2B5EF4-FFF2-40B4-BE49-F238E27FC236}">
                  <a16:creationId xmlns:a16="http://schemas.microsoft.com/office/drawing/2014/main" id="{74C2D175-ED43-B579-2D8B-A16256575050}"/>
                </a:ext>
              </a:extLst>
            </p:cNvPr>
            <p:cNvSpPr/>
            <p:nvPr/>
          </p:nvSpPr>
          <p:spPr>
            <a:xfrm>
              <a:off x="4439270" y="3882092"/>
              <a:ext cx="239893" cy="239893"/>
            </a:xfrm>
            <a:prstGeom prst="ellipse">
              <a:avLst/>
            </a:prstGeom>
            <a:solidFill>
              <a:srgbClr val="0070C0"/>
            </a:solidFill>
            <a:ln w="15875" cap="flat" cmpd="sng" algn="ctr">
              <a:solidFill>
                <a:srgbClr val="759AA5">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52" name="29 Elipse">
              <a:extLst>
                <a:ext uri="{FF2B5EF4-FFF2-40B4-BE49-F238E27FC236}">
                  <a16:creationId xmlns:a16="http://schemas.microsoft.com/office/drawing/2014/main" id="{BB3AA83A-B2B6-DF1E-4712-9D8445F06ACB}"/>
                </a:ext>
              </a:extLst>
            </p:cNvPr>
            <p:cNvSpPr/>
            <p:nvPr/>
          </p:nvSpPr>
          <p:spPr>
            <a:xfrm>
              <a:off x="7439986" y="3862996"/>
              <a:ext cx="239893" cy="239893"/>
            </a:xfrm>
            <a:prstGeom prst="ellipse">
              <a:avLst/>
            </a:prstGeom>
            <a:solidFill>
              <a:sysClr val="windowText" lastClr="000000"/>
            </a:solidFill>
            <a:ln w="15875" cap="flat" cmpd="sng" algn="ctr">
              <a:solidFill>
                <a:srgbClr val="759AA5">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53" name="31 CuadroTexto">
              <a:extLst>
                <a:ext uri="{FF2B5EF4-FFF2-40B4-BE49-F238E27FC236}">
                  <a16:creationId xmlns:a16="http://schemas.microsoft.com/office/drawing/2014/main" id="{7C97A910-4E89-7276-6DF0-0B98E860820C}"/>
                </a:ext>
              </a:extLst>
            </p:cNvPr>
            <p:cNvSpPr txBox="1"/>
            <p:nvPr/>
          </p:nvSpPr>
          <p:spPr>
            <a:xfrm>
              <a:off x="2943507" y="4612057"/>
              <a:ext cx="747550" cy="423485"/>
            </a:xfrm>
            <a:prstGeom prst="rect">
              <a:avLst/>
            </a:prstGeom>
            <a:noFill/>
          </p:spPr>
          <p:txBody>
            <a:bodyPr wrap="square" lIns="36000" tIns="36000" rIns="36000" bIns="36000" rtlCol="0">
              <a:spAutoFit/>
            </a:bodyPr>
            <a:lstStyle/>
            <a:p>
              <a:r>
                <a:rPr lang="es-AR" sz="1600" noProof="0" dirty="0" err="1">
                  <a:latin typeface="Tw Cen MT"/>
                </a:rPr>
                <a:t>Tsi</a:t>
              </a:r>
              <a:endParaRPr lang="es-AR" sz="1600" noProof="0" dirty="0">
                <a:latin typeface="Tw Cen MT"/>
              </a:endParaRPr>
            </a:p>
          </p:txBody>
        </p:sp>
        <p:sp>
          <p:nvSpPr>
            <p:cNvPr id="54" name="32 CuadroTexto">
              <a:extLst>
                <a:ext uri="{FF2B5EF4-FFF2-40B4-BE49-F238E27FC236}">
                  <a16:creationId xmlns:a16="http://schemas.microsoft.com/office/drawing/2014/main" id="{0AF9FCCF-8FEF-55D0-FA86-12290594693C}"/>
                </a:ext>
              </a:extLst>
            </p:cNvPr>
            <p:cNvSpPr txBox="1"/>
            <p:nvPr/>
          </p:nvSpPr>
          <p:spPr>
            <a:xfrm>
              <a:off x="4559216" y="3613213"/>
              <a:ext cx="693048" cy="366903"/>
            </a:xfrm>
            <a:prstGeom prst="rect">
              <a:avLst/>
            </a:prstGeom>
            <a:noFill/>
          </p:spPr>
          <p:txBody>
            <a:bodyPr wrap="square" lIns="36000" tIns="36000" rIns="36000" bIns="36000" rtlCol="0">
              <a:spAutoFit/>
            </a:bodyPr>
            <a:lstStyle/>
            <a:p>
              <a:r>
                <a:rPr lang="es-AR" sz="1600" noProof="0" dirty="0" err="1">
                  <a:latin typeface="Tw Cen MT"/>
                </a:rPr>
                <a:t>TZe</a:t>
              </a:r>
              <a:endParaRPr lang="es-AR" sz="1600" noProof="0" dirty="0">
                <a:latin typeface="Tw Cen MT"/>
              </a:endParaRPr>
            </a:p>
          </p:txBody>
        </p:sp>
        <p:sp>
          <p:nvSpPr>
            <p:cNvPr id="55" name="33 CuadroTexto">
              <a:extLst>
                <a:ext uri="{FF2B5EF4-FFF2-40B4-BE49-F238E27FC236}">
                  <a16:creationId xmlns:a16="http://schemas.microsoft.com/office/drawing/2014/main" id="{54CB2438-35DA-F7F3-452C-58A7DF961077}"/>
                </a:ext>
              </a:extLst>
            </p:cNvPr>
            <p:cNvSpPr txBox="1"/>
            <p:nvPr/>
          </p:nvSpPr>
          <p:spPr>
            <a:xfrm>
              <a:off x="7260311" y="3495044"/>
              <a:ext cx="646493" cy="366903"/>
            </a:xfrm>
            <a:prstGeom prst="rect">
              <a:avLst/>
            </a:prstGeom>
            <a:noFill/>
          </p:spPr>
          <p:txBody>
            <a:bodyPr wrap="square" lIns="36000" tIns="36000" rIns="36000" bIns="36000" rtlCol="0">
              <a:spAutoFit/>
            </a:bodyPr>
            <a:lstStyle/>
            <a:p>
              <a:r>
                <a:rPr lang="es-AR" sz="1600" noProof="0" dirty="0" err="1">
                  <a:latin typeface="Tw Cen MT"/>
                </a:rPr>
                <a:t>TZg</a:t>
              </a:r>
              <a:endParaRPr lang="es-AR" sz="1600" noProof="0" dirty="0">
                <a:latin typeface="Tw Cen MT"/>
              </a:endParaRPr>
            </a:p>
          </p:txBody>
        </p:sp>
        <p:sp>
          <p:nvSpPr>
            <p:cNvPr id="56" name="35 Flecha derecha">
              <a:extLst>
                <a:ext uri="{FF2B5EF4-FFF2-40B4-BE49-F238E27FC236}">
                  <a16:creationId xmlns:a16="http://schemas.microsoft.com/office/drawing/2014/main" id="{2C6FA6DF-CFB7-AA4B-BFBF-CCBA3397F2A9}"/>
                </a:ext>
              </a:extLst>
            </p:cNvPr>
            <p:cNvSpPr/>
            <p:nvPr/>
          </p:nvSpPr>
          <p:spPr>
            <a:xfrm rot="10800000">
              <a:off x="1691681" y="3645024"/>
              <a:ext cx="1584176" cy="387135"/>
            </a:xfrm>
            <a:prstGeom prst="rightArrow">
              <a:avLst>
                <a:gd name="adj1" fmla="val 39014"/>
                <a:gd name="adj2" fmla="val 93943"/>
              </a:avLst>
            </a:prstGeom>
            <a:solidFill>
              <a:sysClr val="window" lastClr="FFFFFF"/>
            </a:solidFill>
            <a:ln w="158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57" name="36 Flecha derecha">
              <a:extLst>
                <a:ext uri="{FF2B5EF4-FFF2-40B4-BE49-F238E27FC236}">
                  <a16:creationId xmlns:a16="http://schemas.microsoft.com/office/drawing/2014/main" id="{21847F43-27B9-7E3F-45F3-89D85C4BB0D1}"/>
                </a:ext>
              </a:extLst>
            </p:cNvPr>
            <p:cNvSpPr/>
            <p:nvPr/>
          </p:nvSpPr>
          <p:spPr>
            <a:xfrm>
              <a:off x="1763688" y="4221088"/>
              <a:ext cx="1584176" cy="387135"/>
            </a:xfrm>
            <a:prstGeom prst="rightArrow">
              <a:avLst>
                <a:gd name="adj1" fmla="val 39014"/>
                <a:gd name="adj2" fmla="val 93943"/>
              </a:avLst>
            </a:prstGeom>
            <a:solidFill>
              <a:sysClr val="window" lastClr="FFFFFF"/>
            </a:solidFill>
            <a:ln w="158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58" name="37 Flecha derecha">
              <a:extLst>
                <a:ext uri="{FF2B5EF4-FFF2-40B4-BE49-F238E27FC236}">
                  <a16:creationId xmlns:a16="http://schemas.microsoft.com/office/drawing/2014/main" id="{50BC924A-EE59-9FEA-D1CD-1AE0C887B391}"/>
                </a:ext>
              </a:extLst>
            </p:cNvPr>
            <p:cNvSpPr/>
            <p:nvPr/>
          </p:nvSpPr>
          <p:spPr>
            <a:xfrm rot="16200000">
              <a:off x="4153500" y="2983405"/>
              <a:ext cx="792087" cy="387135"/>
            </a:xfrm>
            <a:prstGeom prst="rightArrow">
              <a:avLst>
                <a:gd name="adj1" fmla="val 39014"/>
                <a:gd name="adj2" fmla="val 93943"/>
              </a:avLst>
            </a:prstGeom>
            <a:solidFill>
              <a:sysClr val="window" lastClr="FFFFFF"/>
            </a:solidFill>
            <a:ln w="158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59" name="38 Flecha derecha">
              <a:extLst>
                <a:ext uri="{FF2B5EF4-FFF2-40B4-BE49-F238E27FC236}">
                  <a16:creationId xmlns:a16="http://schemas.microsoft.com/office/drawing/2014/main" id="{0B39E137-76BE-0835-C300-B3A1B01B8E62}"/>
                </a:ext>
              </a:extLst>
            </p:cNvPr>
            <p:cNvSpPr/>
            <p:nvPr/>
          </p:nvSpPr>
          <p:spPr>
            <a:xfrm>
              <a:off x="6084168" y="4221088"/>
              <a:ext cx="1584176" cy="387135"/>
            </a:xfrm>
            <a:prstGeom prst="rightArrow">
              <a:avLst>
                <a:gd name="adj1" fmla="val 39014"/>
                <a:gd name="adj2" fmla="val 93943"/>
              </a:avLst>
            </a:prstGeom>
            <a:solidFill>
              <a:sysClr val="window" lastClr="FFFFFF"/>
            </a:solidFill>
            <a:ln w="158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cxnSp>
          <p:nvCxnSpPr>
            <p:cNvPr id="60" name="39 Conector curvado">
              <a:extLst>
                <a:ext uri="{FF2B5EF4-FFF2-40B4-BE49-F238E27FC236}">
                  <a16:creationId xmlns:a16="http://schemas.microsoft.com/office/drawing/2014/main" id="{E8D2CF99-6F9D-5237-CAE3-C9932B74AEB3}"/>
                </a:ext>
              </a:extLst>
            </p:cNvPr>
            <p:cNvCxnSpPr>
              <a:cxnSpLocks/>
            </p:cNvCxnSpPr>
            <p:nvPr/>
          </p:nvCxnSpPr>
          <p:spPr>
            <a:xfrm rot="16200000" flipH="1">
              <a:off x="1830629" y="2821296"/>
              <a:ext cx="1178969" cy="198248"/>
            </a:xfrm>
            <a:prstGeom prst="curvedConnector3">
              <a:avLst>
                <a:gd name="adj1" fmla="val 50000"/>
              </a:avLst>
            </a:prstGeom>
            <a:ln>
              <a:tailEnd type="arrow"/>
            </a:ln>
          </p:spPr>
          <p:style>
            <a:lnRef idx="3">
              <a:schemeClr val="accent2"/>
            </a:lnRef>
            <a:fillRef idx="0">
              <a:schemeClr val="accent2"/>
            </a:fillRef>
            <a:effectRef idx="2">
              <a:schemeClr val="accent2"/>
            </a:effectRef>
            <a:fontRef idx="minor">
              <a:schemeClr val="tx1"/>
            </a:fontRef>
          </p:style>
        </p:cxnSp>
        <p:cxnSp>
          <p:nvCxnSpPr>
            <p:cNvPr id="61" name="47 Conector curvado">
              <a:extLst>
                <a:ext uri="{FF2B5EF4-FFF2-40B4-BE49-F238E27FC236}">
                  <a16:creationId xmlns:a16="http://schemas.microsoft.com/office/drawing/2014/main" id="{569E12D2-17BF-AB06-4E32-3B2FA8C0335C}"/>
                </a:ext>
              </a:extLst>
            </p:cNvPr>
            <p:cNvCxnSpPr>
              <a:cxnSpLocks/>
            </p:cNvCxnSpPr>
            <p:nvPr/>
          </p:nvCxnSpPr>
          <p:spPr>
            <a:xfrm rot="5400000">
              <a:off x="3903180" y="2662549"/>
              <a:ext cx="898603" cy="471429"/>
            </a:xfrm>
            <a:prstGeom prst="curvedConnector3">
              <a:avLst/>
            </a:prstGeom>
            <a:ln>
              <a:tailEnd type="arrow"/>
            </a:ln>
          </p:spPr>
          <p:style>
            <a:lnRef idx="3">
              <a:schemeClr val="accent2"/>
            </a:lnRef>
            <a:fillRef idx="0">
              <a:schemeClr val="accent2"/>
            </a:fillRef>
            <a:effectRef idx="2">
              <a:schemeClr val="accent2"/>
            </a:effectRef>
            <a:fontRef idx="minor">
              <a:schemeClr val="tx1"/>
            </a:fontRef>
          </p:style>
        </p:cxnSp>
        <p:cxnSp>
          <p:nvCxnSpPr>
            <p:cNvPr id="62" name="51 Conector curvado">
              <a:extLst>
                <a:ext uri="{FF2B5EF4-FFF2-40B4-BE49-F238E27FC236}">
                  <a16:creationId xmlns:a16="http://schemas.microsoft.com/office/drawing/2014/main" id="{3F854A0E-62E0-98B4-BB87-83C2E66EA896}"/>
                </a:ext>
              </a:extLst>
            </p:cNvPr>
            <p:cNvCxnSpPr>
              <a:cxnSpLocks/>
            </p:cNvCxnSpPr>
            <p:nvPr/>
          </p:nvCxnSpPr>
          <p:spPr>
            <a:xfrm rot="16200000" flipH="1">
              <a:off x="7260993" y="2578508"/>
              <a:ext cx="1063678" cy="647511"/>
            </a:xfrm>
            <a:prstGeom prst="curvedConnector3">
              <a:avLst>
                <a:gd name="adj1" fmla="val 50000"/>
              </a:avLst>
            </a:prstGeom>
            <a:ln>
              <a:tailEnd type="arrow"/>
            </a:ln>
          </p:spPr>
          <p:style>
            <a:lnRef idx="3">
              <a:schemeClr val="accent2"/>
            </a:lnRef>
            <a:fillRef idx="0">
              <a:schemeClr val="accent2"/>
            </a:fillRef>
            <a:effectRef idx="2">
              <a:schemeClr val="accent2"/>
            </a:effectRef>
            <a:fontRef idx="minor">
              <a:schemeClr val="tx1"/>
            </a:fontRef>
          </p:style>
        </p:cxnSp>
        <p:sp>
          <p:nvSpPr>
            <p:cNvPr id="63" name="55 CuadroTexto">
              <a:extLst>
                <a:ext uri="{FF2B5EF4-FFF2-40B4-BE49-F238E27FC236}">
                  <a16:creationId xmlns:a16="http://schemas.microsoft.com/office/drawing/2014/main" id="{6D634441-9EF9-1E73-6458-A7F6E313DB93}"/>
                </a:ext>
              </a:extLst>
            </p:cNvPr>
            <p:cNvSpPr txBox="1"/>
            <p:nvPr/>
          </p:nvSpPr>
          <p:spPr>
            <a:xfrm>
              <a:off x="1661845" y="3976410"/>
              <a:ext cx="1044117" cy="408683"/>
            </a:xfrm>
            <a:prstGeom prst="rect">
              <a:avLst/>
            </a:prstGeom>
            <a:noFill/>
          </p:spPr>
          <p:txBody>
            <a:bodyPr wrap="square" rtlCol="0">
              <a:spAutoFit/>
            </a:bodyPr>
            <a:lstStyle/>
            <a:p>
              <a:r>
                <a:rPr lang="es-AR" sz="1400" noProof="0" dirty="0" err="1">
                  <a:solidFill>
                    <a:schemeClr val="bg1"/>
                  </a:solidFill>
                  <a:latin typeface="Tw Cen MT"/>
                </a:rPr>
                <a:t>gAG</a:t>
              </a:r>
              <a:endParaRPr lang="es-AR" sz="1400" noProof="0" dirty="0">
                <a:solidFill>
                  <a:schemeClr val="bg1"/>
                </a:solidFill>
                <a:latin typeface="Tw Cen MT"/>
              </a:endParaRPr>
            </a:p>
          </p:txBody>
        </p:sp>
        <mc:AlternateContent xmlns:mc="http://schemas.openxmlformats.org/markup-compatibility/2006" xmlns:a14="http://schemas.microsoft.com/office/drawing/2010/main">
          <mc:Choice Requires="a14">
            <p:sp>
              <p:nvSpPr>
                <p:cNvPr id="64" name="56 CuadroTexto">
                  <a:extLst>
                    <a:ext uri="{FF2B5EF4-FFF2-40B4-BE49-F238E27FC236}">
                      <a16:creationId xmlns:a16="http://schemas.microsoft.com/office/drawing/2014/main" id="{C4C6BF99-CD4C-4555-91E5-D9DCF2198F25}"/>
                    </a:ext>
                  </a:extLst>
                </p:cNvPr>
                <p:cNvSpPr txBox="1"/>
                <p:nvPr/>
              </p:nvSpPr>
              <p:spPr>
                <a:xfrm>
                  <a:off x="2538084" y="3411254"/>
                  <a:ext cx="2498873" cy="408683"/>
                </a:xfrm>
                <a:prstGeom prst="rect">
                  <a:avLst/>
                </a:prstGeom>
                <a:noFill/>
              </p:spPr>
              <p:txBody>
                <a:bodyPr wrap="square" rtlCol="0">
                  <a:spAutoFit/>
                </a:bodyPr>
                <a:lstStyle/>
                <a:p>
                  <a:r>
                    <a:rPr lang="es-AR" sz="1400" noProof="0" dirty="0">
                      <a:solidFill>
                        <a:schemeClr val="tx1"/>
                      </a:solidFill>
                      <a:latin typeface="Tw Cen MT"/>
                    </a:rPr>
                    <a:t>UA(</a:t>
                  </a:r>
                  <a:r>
                    <a:rPr lang="es-AR" sz="1400" noProof="0" dirty="0" err="1">
                      <a:solidFill>
                        <a:schemeClr val="tx1"/>
                      </a:solidFill>
                      <a:latin typeface="Tw Cen MT"/>
                    </a:rPr>
                    <a:t>co</a:t>
                  </a:r>
                  <a:r>
                    <a:rPr lang="es-AR" sz="1400" noProof="0" dirty="0">
                      <a:solidFill>
                        <a:schemeClr val="tx1"/>
                      </a:solidFill>
                      <a:latin typeface="Tw Cen MT"/>
                    </a:rPr>
                    <a:t>).</a:t>
                  </a:r>
                  <a14:m>
                    <m:oMath xmlns:m="http://schemas.openxmlformats.org/officeDocument/2006/math">
                      <m:r>
                        <a:rPr lang="es-AR" sz="1400" i="1" noProof="0" smtClean="0">
                          <a:solidFill>
                            <a:schemeClr val="tx1"/>
                          </a:solidFill>
                          <a:latin typeface="Cambria Math"/>
                          <a:ea typeface="Cambria Math"/>
                        </a:rPr>
                        <m:t>∆</m:t>
                      </m:r>
                      <m:r>
                        <a:rPr lang="es-AR" sz="1400" i="1" noProof="0" smtClean="0">
                          <a:solidFill>
                            <a:schemeClr val="tx1"/>
                          </a:solidFill>
                          <a:latin typeface="Cambria Math"/>
                          <a:ea typeface="Cambria Math"/>
                        </a:rPr>
                        <m:t>𝑇</m:t>
                      </m:r>
                      <m:r>
                        <a:rPr lang="es-AR" sz="1400" i="1" noProof="0" smtClean="0">
                          <a:solidFill>
                            <a:schemeClr val="tx1"/>
                          </a:solidFill>
                          <a:latin typeface="Cambria Math"/>
                          <a:ea typeface="Cambria Math"/>
                        </a:rPr>
                        <m:t>(</m:t>
                      </m:r>
                      <m:r>
                        <a:rPr lang="es-AR" sz="1400" i="1" noProof="0" smtClean="0">
                          <a:solidFill>
                            <a:schemeClr val="tx1"/>
                          </a:solidFill>
                          <a:latin typeface="Cambria Math"/>
                          <a:ea typeface="Cambria Math"/>
                        </a:rPr>
                        <m:t>𝑧𝑒</m:t>
                      </m:r>
                      <m:r>
                        <a:rPr lang="es-AR" sz="1400" i="1" noProof="0" smtClean="0">
                          <a:solidFill>
                            <a:schemeClr val="tx1"/>
                          </a:solidFill>
                          <a:latin typeface="Cambria Math"/>
                          <a:ea typeface="Cambria Math"/>
                        </a:rPr>
                        <m:t>,</m:t>
                      </m:r>
                      <m:r>
                        <a:rPr lang="es-AR" sz="1400" i="1" noProof="0" smtClean="0">
                          <a:solidFill>
                            <a:schemeClr val="tx1"/>
                          </a:solidFill>
                          <a:latin typeface="Cambria Math"/>
                          <a:ea typeface="Cambria Math"/>
                        </a:rPr>
                        <m:t>𝑒</m:t>
                      </m:r>
                      <m:r>
                        <a:rPr lang="es-AR" sz="1400" i="1" noProof="0" smtClean="0">
                          <a:solidFill>
                            <a:schemeClr val="tx1"/>
                          </a:solidFill>
                          <a:latin typeface="Cambria Math"/>
                          <a:ea typeface="Cambria Math"/>
                        </a:rPr>
                        <m:t>)</m:t>
                      </m:r>
                    </m:oMath>
                  </a14:m>
                  <a:endParaRPr lang="es-AR" sz="1400" noProof="0" dirty="0">
                    <a:solidFill>
                      <a:schemeClr val="tx1"/>
                    </a:solidFill>
                    <a:latin typeface="Tw Cen MT"/>
                  </a:endParaRPr>
                </a:p>
              </p:txBody>
            </p:sp>
          </mc:Choice>
          <mc:Fallback xmlns="">
            <p:sp>
              <p:nvSpPr>
                <p:cNvPr id="64" name="56 CuadroTexto">
                  <a:extLst>
                    <a:ext uri="{FF2B5EF4-FFF2-40B4-BE49-F238E27FC236}">
                      <a16:creationId xmlns:a16="http://schemas.microsoft.com/office/drawing/2014/main" id="{C4C6BF99-CD4C-4555-91E5-D9DCF2198F25}"/>
                    </a:ext>
                  </a:extLst>
                </p:cNvPr>
                <p:cNvSpPr txBox="1">
                  <a:spLocks noRot="1" noChangeAspect="1" noMove="1" noResize="1" noEditPoints="1" noAdjustHandles="1" noChangeArrowheads="1" noChangeShapeType="1" noTextEdit="1"/>
                </p:cNvSpPr>
                <p:nvPr/>
              </p:nvSpPr>
              <p:spPr>
                <a:xfrm>
                  <a:off x="2538084" y="3411254"/>
                  <a:ext cx="2498873" cy="408683"/>
                </a:xfrm>
                <a:prstGeom prst="rect">
                  <a:avLst/>
                </a:prstGeom>
                <a:blipFill>
                  <a:blip r:embed="rId8"/>
                  <a:stretch>
                    <a:fillRect l="-1154" t="-2000" b="-2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58 CuadroTexto">
                  <a:extLst>
                    <a:ext uri="{FF2B5EF4-FFF2-40B4-BE49-F238E27FC236}">
                      <a16:creationId xmlns:a16="http://schemas.microsoft.com/office/drawing/2014/main" id="{3D50FE26-46B4-9480-5ED5-6B82BB678E2B}"/>
                    </a:ext>
                  </a:extLst>
                </p:cNvPr>
                <p:cNvSpPr txBox="1"/>
                <p:nvPr/>
              </p:nvSpPr>
              <p:spPr>
                <a:xfrm>
                  <a:off x="4588196" y="3249437"/>
                  <a:ext cx="2187722" cy="307777"/>
                </a:xfrm>
                <a:prstGeom prst="rect">
                  <a:avLst/>
                </a:prstGeom>
                <a:noFill/>
              </p:spPr>
              <p:txBody>
                <a:bodyPr wrap="square" rtlCol="0">
                  <a:spAutoFit/>
                </a:bodyPr>
                <a:lstStyle/>
                <a:p>
                  <a:r>
                    <a:rPr lang="es-AR" sz="1400" noProof="0" dirty="0">
                      <a:solidFill>
                        <a:schemeClr val="tx1"/>
                      </a:solidFill>
                      <a:latin typeface="Tw Cen MT"/>
                    </a:rPr>
                    <a:t>UA(</a:t>
                  </a:r>
                  <a:r>
                    <a:rPr lang="es-AR" sz="1400" noProof="0" dirty="0" err="1">
                      <a:solidFill>
                        <a:schemeClr val="tx1"/>
                      </a:solidFill>
                      <a:latin typeface="Tw Cen MT"/>
                    </a:rPr>
                    <a:t>ceed</a:t>
                  </a:r>
                  <a:r>
                    <a:rPr lang="es-AR" sz="1400" noProof="0" dirty="0">
                      <a:solidFill>
                        <a:schemeClr val="tx1"/>
                      </a:solidFill>
                      <a:latin typeface="Tw Cen MT"/>
                    </a:rPr>
                    <a:t>).</a:t>
                  </a:r>
                  <a14:m>
                    <m:oMath xmlns:m="http://schemas.openxmlformats.org/officeDocument/2006/math">
                      <m:r>
                        <a:rPr lang="es-AR" sz="1400" i="1" noProof="0" smtClean="0">
                          <a:solidFill>
                            <a:schemeClr val="tx1"/>
                          </a:solidFill>
                          <a:latin typeface="Cambria Math"/>
                          <a:ea typeface="Cambria Math"/>
                        </a:rPr>
                        <m:t>∆</m:t>
                      </m:r>
                      <m:r>
                        <a:rPr lang="es-AR" sz="1400" i="1" noProof="0" smtClean="0">
                          <a:solidFill>
                            <a:schemeClr val="tx1"/>
                          </a:solidFill>
                          <a:latin typeface="Cambria Math"/>
                          <a:ea typeface="Cambria Math"/>
                        </a:rPr>
                        <m:t>𝑇</m:t>
                      </m:r>
                      <m:r>
                        <a:rPr lang="es-AR" sz="1400" i="1" noProof="0" smtClean="0">
                          <a:solidFill>
                            <a:schemeClr val="tx1"/>
                          </a:solidFill>
                          <a:latin typeface="Cambria Math"/>
                          <a:ea typeface="Cambria Math"/>
                        </a:rPr>
                        <m:t>(</m:t>
                      </m:r>
                      <m:r>
                        <a:rPr lang="es-AR" sz="1400" i="1" noProof="0" smtClean="0">
                          <a:solidFill>
                            <a:schemeClr val="tx1"/>
                          </a:solidFill>
                          <a:latin typeface="Cambria Math"/>
                          <a:ea typeface="Cambria Math"/>
                        </a:rPr>
                        <m:t>𝑧𝑒</m:t>
                      </m:r>
                      <m:r>
                        <a:rPr lang="es-AR" sz="1400" i="1" noProof="0" smtClean="0">
                          <a:solidFill>
                            <a:schemeClr val="tx1"/>
                          </a:solidFill>
                          <a:latin typeface="Cambria Math"/>
                          <a:ea typeface="Cambria Math"/>
                        </a:rPr>
                        <m:t>,</m:t>
                      </m:r>
                      <m:r>
                        <a:rPr lang="es-AR" sz="1400" i="1" noProof="0" smtClean="0">
                          <a:solidFill>
                            <a:schemeClr val="tx1"/>
                          </a:solidFill>
                          <a:latin typeface="Cambria Math"/>
                          <a:ea typeface="Cambria Math"/>
                        </a:rPr>
                        <m:t>𝑧𝑔</m:t>
                      </m:r>
                      <m:r>
                        <a:rPr lang="es-AR" sz="1400" i="1" noProof="0" smtClean="0">
                          <a:solidFill>
                            <a:schemeClr val="tx1"/>
                          </a:solidFill>
                          <a:latin typeface="Cambria Math"/>
                          <a:ea typeface="Cambria Math"/>
                        </a:rPr>
                        <m:t>)</m:t>
                      </m:r>
                    </m:oMath>
                  </a14:m>
                  <a:endParaRPr lang="es-AR" sz="1400" noProof="0" dirty="0">
                    <a:solidFill>
                      <a:schemeClr val="tx1"/>
                    </a:solidFill>
                    <a:latin typeface="Tw Cen MT"/>
                  </a:endParaRPr>
                </a:p>
              </p:txBody>
            </p:sp>
          </mc:Choice>
          <mc:Fallback xmlns="">
            <p:sp>
              <p:nvSpPr>
                <p:cNvPr id="56" name="58 CuadroTexto">
                  <a:extLst>
                    <a:ext uri="{FF2B5EF4-FFF2-40B4-BE49-F238E27FC236}">
                      <a16:creationId xmlns:a16="http://schemas.microsoft.com/office/drawing/2014/main" id="{33717C79-4B24-66B2-2BF1-6315B5FEF3C6}"/>
                    </a:ext>
                  </a:extLst>
                </p:cNvPr>
                <p:cNvSpPr txBox="1">
                  <a:spLocks noRot="1" noChangeAspect="1" noMove="1" noResize="1" noEditPoints="1" noAdjustHandles="1" noChangeArrowheads="1" noChangeShapeType="1" noTextEdit="1"/>
                </p:cNvSpPr>
                <p:nvPr/>
              </p:nvSpPr>
              <p:spPr>
                <a:xfrm>
                  <a:off x="4588196" y="3249437"/>
                  <a:ext cx="2187722" cy="307777"/>
                </a:xfrm>
                <a:prstGeom prst="rect">
                  <a:avLst/>
                </a:prstGeom>
                <a:blipFill>
                  <a:blip r:embed="rId9"/>
                  <a:stretch>
                    <a:fillRect l="-1071" t="-2326" b="-418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59 CuadroTexto">
                  <a:extLst>
                    <a:ext uri="{FF2B5EF4-FFF2-40B4-BE49-F238E27FC236}">
                      <a16:creationId xmlns:a16="http://schemas.microsoft.com/office/drawing/2014/main" id="{03F5D6B6-023E-40E9-67ED-9F72BC6A29AD}"/>
                    </a:ext>
                  </a:extLst>
                </p:cNvPr>
                <p:cNvSpPr txBox="1"/>
                <p:nvPr/>
              </p:nvSpPr>
              <p:spPr>
                <a:xfrm>
                  <a:off x="5992975" y="4634899"/>
                  <a:ext cx="2187722" cy="307777"/>
                </a:xfrm>
                <a:prstGeom prst="rect">
                  <a:avLst/>
                </a:prstGeom>
                <a:noFill/>
              </p:spPr>
              <p:txBody>
                <a:bodyPr wrap="square" rtlCol="0">
                  <a:spAutoFit/>
                </a:bodyPr>
                <a:lstStyle/>
                <a:p>
                  <a:r>
                    <a:rPr lang="es-AR" sz="1400" noProof="0" dirty="0">
                      <a:solidFill>
                        <a:schemeClr val="tx1"/>
                      </a:solidFill>
                      <a:latin typeface="Tw Cen MT"/>
                    </a:rPr>
                    <a:t>UA(</a:t>
                  </a:r>
                  <a:r>
                    <a:rPr lang="es-AR" sz="1400" noProof="0" dirty="0" err="1">
                      <a:solidFill>
                        <a:schemeClr val="tx1"/>
                      </a:solidFill>
                      <a:latin typeface="Tw Cen MT"/>
                    </a:rPr>
                    <a:t>ceed</a:t>
                  </a:r>
                  <a:r>
                    <a:rPr lang="es-AR" sz="1400" noProof="0" dirty="0">
                      <a:solidFill>
                        <a:schemeClr val="tx1"/>
                      </a:solidFill>
                      <a:latin typeface="Tw Cen MT"/>
                    </a:rPr>
                    <a:t>).</a:t>
                  </a:r>
                  <a14:m>
                    <m:oMath xmlns:m="http://schemas.openxmlformats.org/officeDocument/2006/math">
                      <m:r>
                        <a:rPr lang="es-AR" sz="1400" i="1" noProof="0" smtClean="0">
                          <a:solidFill>
                            <a:schemeClr val="tx1"/>
                          </a:solidFill>
                          <a:latin typeface="Cambria Math"/>
                          <a:ea typeface="Cambria Math"/>
                        </a:rPr>
                        <m:t>∆</m:t>
                      </m:r>
                      <m:r>
                        <a:rPr lang="es-AR" sz="1400" i="1" noProof="0" smtClean="0">
                          <a:solidFill>
                            <a:schemeClr val="tx1"/>
                          </a:solidFill>
                          <a:latin typeface="Cambria Math"/>
                          <a:ea typeface="Cambria Math"/>
                        </a:rPr>
                        <m:t>𝑇</m:t>
                      </m:r>
                      <m:r>
                        <a:rPr lang="es-AR" sz="1400" i="1" noProof="0" smtClean="0">
                          <a:solidFill>
                            <a:schemeClr val="tx1"/>
                          </a:solidFill>
                          <a:latin typeface="Cambria Math"/>
                          <a:ea typeface="Cambria Math"/>
                        </a:rPr>
                        <m:t>(</m:t>
                      </m:r>
                      <m:r>
                        <a:rPr lang="es-AR" sz="1400" i="1" noProof="0" smtClean="0">
                          <a:solidFill>
                            <a:schemeClr val="tx1"/>
                          </a:solidFill>
                          <a:latin typeface="Cambria Math"/>
                          <a:ea typeface="Cambria Math"/>
                        </a:rPr>
                        <m:t>𝑧𝑒</m:t>
                      </m:r>
                      <m:r>
                        <a:rPr lang="es-AR" sz="1400" i="1" noProof="0" smtClean="0">
                          <a:solidFill>
                            <a:schemeClr val="tx1"/>
                          </a:solidFill>
                          <a:latin typeface="Cambria Math"/>
                          <a:ea typeface="Cambria Math"/>
                        </a:rPr>
                        <m:t>,</m:t>
                      </m:r>
                      <m:r>
                        <a:rPr lang="es-AR" sz="1400" i="1" noProof="0" smtClean="0">
                          <a:solidFill>
                            <a:schemeClr val="tx1"/>
                          </a:solidFill>
                          <a:latin typeface="Cambria Math"/>
                          <a:ea typeface="Cambria Math"/>
                        </a:rPr>
                        <m:t>𝑧𝑔</m:t>
                      </m:r>
                      <m:r>
                        <a:rPr lang="es-AR" sz="1400" i="1" noProof="0" smtClean="0">
                          <a:solidFill>
                            <a:schemeClr val="tx1"/>
                          </a:solidFill>
                          <a:latin typeface="Cambria Math"/>
                          <a:ea typeface="Cambria Math"/>
                        </a:rPr>
                        <m:t>)</m:t>
                      </m:r>
                    </m:oMath>
                  </a14:m>
                  <a:endParaRPr lang="es-AR" sz="1400" noProof="0" dirty="0">
                    <a:solidFill>
                      <a:schemeClr val="tx1"/>
                    </a:solidFill>
                    <a:latin typeface="Tw Cen MT"/>
                  </a:endParaRPr>
                </a:p>
              </p:txBody>
            </p:sp>
          </mc:Choice>
          <mc:Fallback xmlns="">
            <p:sp>
              <p:nvSpPr>
                <p:cNvPr id="57" name="59 CuadroTexto">
                  <a:extLst>
                    <a:ext uri="{FF2B5EF4-FFF2-40B4-BE49-F238E27FC236}">
                      <a16:creationId xmlns:a16="http://schemas.microsoft.com/office/drawing/2014/main" id="{F728A78B-C1F8-D476-F5AB-EFF2FD9E7B49}"/>
                    </a:ext>
                  </a:extLst>
                </p:cNvPr>
                <p:cNvSpPr txBox="1">
                  <a:spLocks noRot="1" noChangeAspect="1" noMove="1" noResize="1" noEditPoints="1" noAdjustHandles="1" noChangeArrowheads="1" noChangeShapeType="1" noTextEdit="1"/>
                </p:cNvSpPr>
                <p:nvPr/>
              </p:nvSpPr>
              <p:spPr>
                <a:xfrm>
                  <a:off x="5992975" y="4634899"/>
                  <a:ext cx="2187722" cy="307777"/>
                </a:xfrm>
                <a:prstGeom prst="rect">
                  <a:avLst/>
                </a:prstGeom>
                <a:blipFill>
                  <a:blip r:embed="rId10"/>
                  <a:stretch>
                    <a:fillRect l="-1071" t="-2273" b="-40909"/>
                  </a:stretch>
                </a:blipFill>
              </p:spPr>
              <p:txBody>
                <a:bodyPr/>
                <a:lstStyle/>
                <a:p>
                  <a:r>
                    <a:rPr lang="en-US">
                      <a:noFill/>
                    </a:rPr>
                    <a:t> </a:t>
                  </a:r>
                </a:p>
              </p:txBody>
            </p:sp>
          </mc:Fallback>
        </mc:AlternateContent>
        <p:sp>
          <p:nvSpPr>
            <p:cNvPr id="67" name="24 Elipse">
              <a:extLst>
                <a:ext uri="{FF2B5EF4-FFF2-40B4-BE49-F238E27FC236}">
                  <a16:creationId xmlns:a16="http://schemas.microsoft.com/office/drawing/2014/main" id="{B1AED4CB-70FC-C752-4ADD-6157DA81B5C4}"/>
                </a:ext>
              </a:extLst>
            </p:cNvPr>
            <p:cNvSpPr/>
            <p:nvPr/>
          </p:nvSpPr>
          <p:spPr>
            <a:xfrm>
              <a:off x="2124051" y="4634900"/>
              <a:ext cx="239894" cy="239893"/>
            </a:xfrm>
            <a:prstGeom prst="ellipse">
              <a:avLst/>
            </a:prstGeom>
            <a:solidFill>
              <a:srgbClr val="0070C0"/>
            </a:solidFill>
            <a:ln w="15875" cap="flat" cmpd="sng" algn="ctr">
              <a:solidFill>
                <a:srgbClr val="759AA5">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68" name="24 Elipse">
              <a:extLst>
                <a:ext uri="{FF2B5EF4-FFF2-40B4-BE49-F238E27FC236}">
                  <a16:creationId xmlns:a16="http://schemas.microsoft.com/office/drawing/2014/main" id="{FBB673BA-00D5-5443-D416-683528D7D105}"/>
                </a:ext>
              </a:extLst>
            </p:cNvPr>
            <p:cNvSpPr/>
            <p:nvPr/>
          </p:nvSpPr>
          <p:spPr>
            <a:xfrm>
              <a:off x="2658044" y="4621021"/>
              <a:ext cx="239894" cy="239893"/>
            </a:xfrm>
            <a:prstGeom prst="ellipse">
              <a:avLst/>
            </a:prstGeom>
            <a:solidFill>
              <a:srgbClr val="0070C0"/>
            </a:solidFill>
            <a:ln w="15875" cap="flat" cmpd="sng" algn="ctr">
              <a:solidFill>
                <a:srgbClr val="759AA5">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69" name="31 CuadroTexto">
              <a:extLst>
                <a:ext uri="{FF2B5EF4-FFF2-40B4-BE49-F238E27FC236}">
                  <a16:creationId xmlns:a16="http://schemas.microsoft.com/office/drawing/2014/main" id="{FD12F31C-71B9-F3FB-27F2-880E0B7A85C3}"/>
                </a:ext>
              </a:extLst>
            </p:cNvPr>
            <p:cNvSpPr txBox="1"/>
            <p:nvPr/>
          </p:nvSpPr>
          <p:spPr>
            <a:xfrm>
              <a:off x="1657081" y="4683390"/>
              <a:ext cx="539699" cy="423485"/>
            </a:xfrm>
            <a:prstGeom prst="rect">
              <a:avLst/>
            </a:prstGeom>
            <a:noFill/>
          </p:spPr>
          <p:txBody>
            <a:bodyPr wrap="square" lIns="36000" tIns="36000" rIns="36000" bIns="36000" rtlCol="0">
              <a:spAutoFit/>
            </a:bodyPr>
            <a:lstStyle/>
            <a:p>
              <a:r>
                <a:rPr lang="es-AR" sz="1600" noProof="0" dirty="0" err="1">
                  <a:solidFill>
                    <a:schemeClr val="bg1"/>
                  </a:solidFill>
                  <a:latin typeface="Tw Cen MT"/>
                </a:rPr>
                <a:t>Tse</a:t>
              </a:r>
              <a:endParaRPr lang="es-AR" sz="1600" noProof="0" dirty="0">
                <a:solidFill>
                  <a:schemeClr val="bg1"/>
                </a:solidFill>
                <a:latin typeface="Tw Cen MT"/>
              </a:endParaRPr>
            </a:p>
          </p:txBody>
        </p:sp>
        <p:sp>
          <p:nvSpPr>
            <p:cNvPr id="70" name="31 CuadroTexto">
              <a:extLst>
                <a:ext uri="{FF2B5EF4-FFF2-40B4-BE49-F238E27FC236}">
                  <a16:creationId xmlns:a16="http://schemas.microsoft.com/office/drawing/2014/main" id="{170D2C4B-E046-5653-00A0-3C27A7480F33}"/>
                </a:ext>
              </a:extLst>
            </p:cNvPr>
            <p:cNvSpPr txBox="1"/>
            <p:nvPr/>
          </p:nvSpPr>
          <p:spPr>
            <a:xfrm>
              <a:off x="743344" y="3359573"/>
              <a:ext cx="656819" cy="423485"/>
            </a:xfrm>
            <a:prstGeom prst="rect">
              <a:avLst/>
            </a:prstGeom>
            <a:noFill/>
          </p:spPr>
          <p:txBody>
            <a:bodyPr wrap="square" lIns="36000" tIns="36000" rIns="36000" bIns="36000" rtlCol="0">
              <a:spAutoFit/>
            </a:bodyPr>
            <a:lstStyle/>
            <a:p>
              <a:r>
                <a:rPr lang="es-AR" sz="1600" noProof="0" dirty="0">
                  <a:solidFill>
                    <a:schemeClr val="bg1"/>
                  </a:solidFill>
                  <a:latin typeface="Tw Cen MT"/>
                </a:rPr>
                <a:t>Te</a:t>
              </a:r>
            </a:p>
          </p:txBody>
        </p:sp>
      </p:grpSp>
      <p:sp>
        <p:nvSpPr>
          <p:cNvPr id="71" name="24 Elipse">
            <a:extLst>
              <a:ext uri="{FF2B5EF4-FFF2-40B4-BE49-F238E27FC236}">
                <a16:creationId xmlns:a16="http://schemas.microsoft.com/office/drawing/2014/main" id="{B259F807-0A6F-3E9A-025D-0CCF888141E9}"/>
              </a:ext>
            </a:extLst>
          </p:cNvPr>
          <p:cNvSpPr/>
          <p:nvPr/>
        </p:nvSpPr>
        <p:spPr>
          <a:xfrm>
            <a:off x="7626251" y="4555074"/>
            <a:ext cx="152149" cy="180662"/>
          </a:xfrm>
          <a:prstGeom prst="ellipse">
            <a:avLst/>
          </a:prstGeom>
          <a:solidFill>
            <a:srgbClr val="0070C0"/>
          </a:solidFill>
          <a:ln w="15875" cap="flat" cmpd="sng" algn="ctr">
            <a:solidFill>
              <a:srgbClr val="759AA5">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AR" sz="1800" b="0" i="0" u="none" strike="noStrike" kern="0" cap="none" spc="0" normalizeH="0" baseline="0" noProof="0" dirty="0">
              <a:ln>
                <a:noFill/>
              </a:ln>
              <a:effectLst/>
              <a:uLnTx/>
              <a:uFillTx/>
              <a:latin typeface="Tw Cen MT"/>
              <a:ea typeface="+mn-ea"/>
              <a:cs typeface="+mn-cs"/>
            </a:endParaRPr>
          </a:p>
        </p:txBody>
      </p:sp>
      <p:sp>
        <p:nvSpPr>
          <p:cNvPr id="72" name="31 CuadroTexto">
            <a:extLst>
              <a:ext uri="{FF2B5EF4-FFF2-40B4-BE49-F238E27FC236}">
                <a16:creationId xmlns:a16="http://schemas.microsoft.com/office/drawing/2014/main" id="{2D622835-E10E-708D-BFCA-0EB5DD7A624D}"/>
              </a:ext>
            </a:extLst>
          </p:cNvPr>
          <p:cNvSpPr txBox="1"/>
          <p:nvPr/>
        </p:nvSpPr>
        <p:spPr>
          <a:xfrm>
            <a:off x="7912804" y="4538826"/>
            <a:ext cx="342296" cy="318924"/>
          </a:xfrm>
          <a:prstGeom prst="rect">
            <a:avLst/>
          </a:prstGeom>
          <a:noFill/>
        </p:spPr>
        <p:txBody>
          <a:bodyPr wrap="square" lIns="36000" tIns="36000" rIns="36000" bIns="36000" rtlCol="0">
            <a:spAutoFit/>
          </a:bodyPr>
          <a:lstStyle/>
          <a:p>
            <a:r>
              <a:rPr lang="es-AR" sz="1600" noProof="0" dirty="0">
                <a:latin typeface="Tw Cen MT"/>
              </a:rPr>
              <a:t>Q</a:t>
            </a:r>
          </a:p>
        </p:txBody>
      </p:sp>
    </p:spTree>
    <p:extLst>
      <p:ext uri="{BB962C8B-B14F-4D97-AF65-F5344CB8AC3E}">
        <p14:creationId xmlns:p14="http://schemas.microsoft.com/office/powerpoint/2010/main" val="3353329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FBF30-B12C-5813-9DD6-8254A2BC91A6}"/>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66CF5290-7C08-64E8-1CAF-2DF11A6100BB}"/>
              </a:ext>
            </a:extLst>
          </p:cNvPr>
          <p:cNvGrpSpPr/>
          <p:nvPr/>
        </p:nvGrpSpPr>
        <p:grpSpPr>
          <a:xfrm>
            <a:off x="0" y="0"/>
            <a:ext cx="12192000" cy="6858000"/>
            <a:chOff x="0" y="0"/>
            <a:chExt cx="12192000" cy="6858000"/>
          </a:xfrm>
        </p:grpSpPr>
        <p:pic>
          <p:nvPicPr>
            <p:cNvPr id="11" name="Picture 10">
              <a:extLst>
                <a:ext uri="{FF2B5EF4-FFF2-40B4-BE49-F238E27FC236}">
                  <a16:creationId xmlns:a16="http://schemas.microsoft.com/office/drawing/2014/main" id="{53692473-64FB-4C7B-F07C-F875085D412D}"/>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9946B4C0-5B1A-805C-19CD-9EBB779DA473}"/>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8E37F904-13B4-A2F5-23AB-BD3A57429D10}"/>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78917FCB-0055-1D79-3214-3FAD546F116C}"/>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C7821F81-B6CC-F7AD-2818-55FE8520BD16}"/>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A98BD5CA-493D-1A52-959A-2AF1E8DAC6BC}"/>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465C4B11-E135-E63C-F982-A39DFCDBF0EC}"/>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D5C52FA5-203B-53F2-4A4E-894626FBAAA7}"/>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6C0BDB77-6387-2BBC-5A28-6ACDE982265C}"/>
              </a:ext>
            </a:extLst>
          </p:cNvPr>
          <p:cNvSpPr txBox="1"/>
          <p:nvPr/>
        </p:nvSpPr>
        <p:spPr>
          <a:xfrm>
            <a:off x="1024420" y="61980"/>
            <a:ext cx="10099154" cy="646331"/>
          </a:xfrm>
          <a:prstGeom prst="rect">
            <a:avLst/>
          </a:prstGeom>
          <a:noFill/>
        </p:spPr>
        <p:txBody>
          <a:bodyPr wrap="square">
            <a:spAutoFit/>
          </a:bodyPr>
          <a:lstStyle/>
          <a:p>
            <a:r>
              <a:rPr lang="es-ES" sz="3600" b="1" dirty="0">
                <a:solidFill>
                  <a:schemeClr val="bg1"/>
                </a:solidFill>
                <a:latin typeface="system-ui"/>
              </a:rPr>
              <a:t>Materiales de construcción no convencionales</a:t>
            </a:r>
            <a:endParaRPr lang="en-US" sz="3600" dirty="0">
              <a:solidFill>
                <a:schemeClr val="bg1"/>
              </a:solidFill>
            </a:endParaRPr>
          </a:p>
        </p:txBody>
      </p:sp>
      <p:sp>
        <p:nvSpPr>
          <p:cNvPr id="5" name="TextBox 4">
            <a:extLst>
              <a:ext uri="{FF2B5EF4-FFF2-40B4-BE49-F238E27FC236}">
                <a16:creationId xmlns:a16="http://schemas.microsoft.com/office/drawing/2014/main" id="{F4B4633F-CEFC-ABB5-9483-BA449BFB8EB5}"/>
              </a:ext>
            </a:extLst>
          </p:cNvPr>
          <p:cNvSpPr txBox="1"/>
          <p:nvPr/>
        </p:nvSpPr>
        <p:spPr>
          <a:xfrm>
            <a:off x="659929" y="1222765"/>
            <a:ext cx="10434250" cy="2353126"/>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marL="342900" indent="-342900">
              <a:lnSpc>
                <a:spcPct val="150000"/>
              </a:lnSpc>
              <a:buFont typeface="Arial" panose="020B0604020202020204" pitchFamily="34" charset="0"/>
              <a:buChar char="•"/>
            </a:pPr>
            <a:r>
              <a:rPr lang="es-ES" b="0" i="0" dirty="0">
                <a:solidFill>
                  <a:srgbClr val="A8B3C7"/>
                </a:solidFill>
                <a:effectLst/>
                <a:latin typeface="system-ui"/>
              </a:rPr>
              <a:t>El sector de la construcción es el que consume el 50 % de los recursos mundiales y la generación de energía y residuos de los edificios son los que mayor cantidad de CO2 emiten a la atmosfera. </a:t>
            </a:r>
          </a:p>
          <a:p>
            <a:pPr marL="342900" indent="-342900">
              <a:lnSpc>
                <a:spcPct val="150000"/>
              </a:lnSpc>
              <a:buFont typeface="Arial" panose="020B0604020202020204" pitchFamily="34" charset="0"/>
              <a:buChar char="•"/>
            </a:pPr>
            <a:r>
              <a:rPr lang="es-ES" b="0" i="0" dirty="0">
                <a:solidFill>
                  <a:srgbClr val="A8B3C7"/>
                </a:solidFill>
                <a:effectLst/>
                <a:latin typeface="system-ui"/>
              </a:rPr>
              <a:t>Los materiales que se pueden considerar sostenibles son aquellos que limitan el consumo de recursos, además de incorporar materias primas reutilizadas y recicladas, con la finalidad de reducir sus impactos ambientales. </a:t>
            </a:r>
          </a:p>
        </p:txBody>
      </p:sp>
      <p:sp>
        <p:nvSpPr>
          <p:cNvPr id="7" name="Rectangle 6">
            <a:extLst>
              <a:ext uri="{FF2B5EF4-FFF2-40B4-BE49-F238E27FC236}">
                <a16:creationId xmlns:a16="http://schemas.microsoft.com/office/drawing/2014/main" id="{FF3B0ECB-6EF7-4890-74D7-621D33FF1220}"/>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EDAD4795-84FB-794C-4FC0-8AD8E13D1739}"/>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5EFFAE0F-25A0-BC05-0665-EFA0F5CB57C5}"/>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A20C651F-E1DA-AC3F-BC92-709526C92563}"/>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2" name="TextBox 1">
            <a:extLst>
              <a:ext uri="{FF2B5EF4-FFF2-40B4-BE49-F238E27FC236}">
                <a16:creationId xmlns:a16="http://schemas.microsoft.com/office/drawing/2014/main" id="{E5FA4B8B-9DEF-306A-9182-DA79C3F6BC68}"/>
              </a:ext>
            </a:extLst>
          </p:cNvPr>
          <p:cNvSpPr txBox="1"/>
          <p:nvPr/>
        </p:nvSpPr>
        <p:spPr>
          <a:xfrm>
            <a:off x="1351723" y="3810532"/>
            <a:ext cx="10101408" cy="2562687"/>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marL="342900" indent="-342900">
              <a:lnSpc>
                <a:spcPct val="150000"/>
              </a:lnSpc>
              <a:buFont typeface="Arial" panose="020B0604020202020204" pitchFamily="34" charset="0"/>
              <a:buChar char="•"/>
            </a:pPr>
            <a:r>
              <a:rPr lang="es-ES" b="0" i="0" dirty="0">
                <a:solidFill>
                  <a:srgbClr val="A8B3C7"/>
                </a:solidFill>
                <a:effectLst/>
                <a:latin typeface="system-ui"/>
              </a:rPr>
              <a:t>Aspectos a considerar en la selección de materiales para la construcción: </a:t>
            </a:r>
          </a:p>
          <a:p>
            <a:pPr marL="800100" lvl="1" indent="-342900">
              <a:lnSpc>
                <a:spcPct val="150000"/>
              </a:lnSpc>
              <a:buFont typeface="Arial" panose="020B0604020202020204" pitchFamily="34" charset="0"/>
              <a:buChar char="•"/>
            </a:pPr>
            <a:r>
              <a:rPr lang="es-ES" sz="1600" b="0" i="0" dirty="0">
                <a:solidFill>
                  <a:srgbClr val="A8B3C7"/>
                </a:solidFill>
                <a:effectLst/>
                <a:latin typeface="system-ui"/>
              </a:rPr>
              <a:t>Usar materiales locales: minimiza transporte y garantiza una mejor adecuación al entorno natural.</a:t>
            </a:r>
          </a:p>
          <a:p>
            <a:pPr marL="800100" lvl="1" indent="-342900">
              <a:lnSpc>
                <a:spcPct val="150000"/>
              </a:lnSpc>
              <a:buFont typeface="Arial" panose="020B0604020202020204" pitchFamily="34" charset="0"/>
              <a:buChar char="•"/>
            </a:pPr>
            <a:r>
              <a:rPr lang="es-ES" sz="1600" b="0" i="0" dirty="0">
                <a:solidFill>
                  <a:srgbClr val="A8B3C7"/>
                </a:solidFill>
                <a:effectLst/>
                <a:latin typeface="system-ui"/>
              </a:rPr>
              <a:t>Reducir los procesos de transporte: seleccionar medios que usen combustibles no fósiles y optimizar los procesos de transporte de material.</a:t>
            </a:r>
          </a:p>
          <a:p>
            <a:pPr marL="800100" lvl="1" indent="-342900">
              <a:lnSpc>
                <a:spcPct val="150000"/>
              </a:lnSpc>
              <a:buFont typeface="Arial" panose="020B0604020202020204" pitchFamily="34" charset="0"/>
              <a:buChar char="•"/>
            </a:pPr>
            <a:r>
              <a:rPr lang="es-ES" sz="1600" b="0" i="0" dirty="0">
                <a:solidFill>
                  <a:srgbClr val="A8B3C7"/>
                </a:solidFill>
                <a:effectLst/>
                <a:latin typeface="system-ui"/>
              </a:rPr>
              <a:t>Seleccionar materiales de baja energía embebida: usar materiales que hagan un uso mínimo de energía para su extracción, producción, transformación y desecho.</a:t>
            </a:r>
          </a:p>
        </p:txBody>
      </p:sp>
    </p:spTree>
    <p:extLst>
      <p:ext uri="{BB962C8B-B14F-4D97-AF65-F5344CB8AC3E}">
        <p14:creationId xmlns:p14="http://schemas.microsoft.com/office/powerpoint/2010/main" val="2877687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0447-C70F-05DE-7B50-4C60B890C300}"/>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79ECD325-AAA0-96A0-15D4-D34639B34ADB}"/>
              </a:ext>
            </a:extLst>
          </p:cNvPr>
          <p:cNvGrpSpPr/>
          <p:nvPr/>
        </p:nvGrpSpPr>
        <p:grpSpPr>
          <a:xfrm>
            <a:off x="0" y="0"/>
            <a:ext cx="12192000" cy="6858000"/>
            <a:chOff x="0" y="0"/>
            <a:chExt cx="12192000" cy="6858000"/>
          </a:xfrm>
        </p:grpSpPr>
        <p:pic>
          <p:nvPicPr>
            <p:cNvPr id="11" name="Picture 10">
              <a:extLst>
                <a:ext uri="{FF2B5EF4-FFF2-40B4-BE49-F238E27FC236}">
                  <a16:creationId xmlns:a16="http://schemas.microsoft.com/office/drawing/2014/main" id="{708648A8-0628-367D-906A-32C074299C23}"/>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74EA7F47-2896-7096-B67A-0029B5EBDCDF}"/>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A2D9D880-AA38-EEA0-E0C8-AD2F9DB11130}"/>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441090F3-0452-2B74-6223-B9E457E619FC}"/>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C27FF71E-8757-91F6-D79D-4807B11FD839}"/>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4FDF7793-7E65-2C54-FCCB-AF1965E766A5}"/>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6BAD4964-A629-B81C-F749-7E6876CC649F}"/>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F8EABA77-7C9C-E1C1-FD54-6FBBFD757B68}"/>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B0E94958-61DA-FCDA-73AE-6753E73C9858}"/>
              </a:ext>
            </a:extLst>
          </p:cNvPr>
          <p:cNvSpPr txBox="1"/>
          <p:nvPr/>
        </p:nvSpPr>
        <p:spPr>
          <a:xfrm>
            <a:off x="995025" y="142576"/>
            <a:ext cx="10099154" cy="646331"/>
          </a:xfrm>
          <a:prstGeom prst="rect">
            <a:avLst/>
          </a:prstGeom>
          <a:noFill/>
        </p:spPr>
        <p:txBody>
          <a:bodyPr wrap="square">
            <a:spAutoFit/>
          </a:bodyPr>
          <a:lstStyle/>
          <a:p>
            <a:r>
              <a:rPr lang="es-ES" sz="3600" b="1" dirty="0">
                <a:solidFill>
                  <a:schemeClr val="bg1"/>
                </a:solidFill>
                <a:latin typeface="system-ui"/>
              </a:rPr>
              <a:t>Pared Ensayada</a:t>
            </a:r>
            <a:endParaRPr lang="en-US" sz="3600" dirty="0">
              <a:solidFill>
                <a:schemeClr val="bg1"/>
              </a:solidFill>
            </a:endParaRPr>
          </a:p>
        </p:txBody>
      </p:sp>
      <p:sp>
        <p:nvSpPr>
          <p:cNvPr id="5" name="TextBox 4">
            <a:extLst>
              <a:ext uri="{FF2B5EF4-FFF2-40B4-BE49-F238E27FC236}">
                <a16:creationId xmlns:a16="http://schemas.microsoft.com/office/drawing/2014/main" id="{DFD9222F-FB3A-1332-A04E-657345F7E51B}"/>
              </a:ext>
            </a:extLst>
          </p:cNvPr>
          <p:cNvSpPr txBox="1"/>
          <p:nvPr/>
        </p:nvSpPr>
        <p:spPr>
          <a:xfrm>
            <a:off x="680917" y="1203253"/>
            <a:ext cx="8233295" cy="5111328"/>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marL="342900" indent="-342900">
              <a:lnSpc>
                <a:spcPct val="150000"/>
              </a:lnSpc>
              <a:buFont typeface="Arial" panose="020B0604020202020204" pitchFamily="34" charset="0"/>
              <a:buChar char="•"/>
            </a:pPr>
            <a:r>
              <a:rPr lang="es-ES" b="0" i="0" dirty="0">
                <a:solidFill>
                  <a:srgbClr val="A8B3C7"/>
                </a:solidFill>
                <a:effectLst/>
                <a:latin typeface="system-ui"/>
              </a:rPr>
              <a:t>Es posible hallar en bibliografías y diferentes medios de comunicación,  construcciones que utilizan materiales alternativos y de reciclaje como son botellas de vidrio y plástico, cubiertas de automóviles, pallets y elementos naturales como paja, tierra, caña, etc. </a:t>
            </a:r>
          </a:p>
          <a:p>
            <a:pPr marL="342900" indent="-342900">
              <a:lnSpc>
                <a:spcPct val="150000"/>
              </a:lnSpc>
              <a:buFont typeface="Arial" panose="020B0604020202020204" pitchFamily="34" charset="0"/>
              <a:buChar char="•"/>
            </a:pPr>
            <a:r>
              <a:rPr lang="es-ES" b="0" i="0" dirty="0">
                <a:solidFill>
                  <a:srgbClr val="A8B3C7"/>
                </a:solidFill>
                <a:effectLst/>
                <a:latin typeface="system-ui"/>
              </a:rPr>
              <a:t>Sin embargo, se encuentra poca información en la literatura sobre los datos  de la transmitancia térmica U de los conjuntos o de las diferentes alternativas con que se puede construir con estos materiales. </a:t>
            </a:r>
          </a:p>
          <a:p>
            <a:pPr marL="342900" indent="-342900">
              <a:lnSpc>
                <a:spcPct val="150000"/>
              </a:lnSpc>
              <a:buFont typeface="Arial" panose="020B0604020202020204" pitchFamily="34" charset="0"/>
              <a:buChar char="•"/>
            </a:pPr>
            <a:r>
              <a:rPr lang="es-ES" b="0" i="0" dirty="0">
                <a:solidFill>
                  <a:srgbClr val="A8B3C7"/>
                </a:solidFill>
                <a:effectLst/>
                <a:latin typeface="system-ui"/>
              </a:rPr>
              <a:t>En este caso se construyo una pared partiendo de un pallet de 1.12m por 1.40m, al cual se le introdujo botellas plásticas previamente rellenas con envases plásticos. Los huecos resultantes y el revoque exterior e interior se realizo con adobe, compuesto por tierra, arena, paja y agua.</a:t>
            </a:r>
          </a:p>
        </p:txBody>
      </p:sp>
      <p:sp>
        <p:nvSpPr>
          <p:cNvPr id="7" name="Rectangle 6">
            <a:extLst>
              <a:ext uri="{FF2B5EF4-FFF2-40B4-BE49-F238E27FC236}">
                <a16:creationId xmlns:a16="http://schemas.microsoft.com/office/drawing/2014/main" id="{266FB6A8-D144-8477-EE73-D86FEE363B8A}"/>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DFEA6B8C-81CD-C338-76C8-F9620C736680}"/>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9D8D1ADD-BB07-6064-8084-3963D9B37BD8}"/>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49C8CDDB-617F-5E18-E887-4833564DA72A}"/>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pic>
        <p:nvPicPr>
          <p:cNvPr id="4" name="Picture 3">
            <a:extLst>
              <a:ext uri="{FF2B5EF4-FFF2-40B4-BE49-F238E27FC236}">
                <a16:creationId xmlns:a16="http://schemas.microsoft.com/office/drawing/2014/main" id="{85F309C0-B0BE-17EA-C398-99005E5B3C96}"/>
              </a:ext>
            </a:extLst>
          </p:cNvPr>
          <p:cNvPicPr>
            <a:picLocks noChangeAspect="1"/>
          </p:cNvPicPr>
          <p:nvPr/>
        </p:nvPicPr>
        <p:blipFill>
          <a:blip r:embed="rId4"/>
          <a:srcRect l="14216" t="17088" r="14559"/>
          <a:stretch>
            <a:fillRect/>
          </a:stretch>
        </p:blipFill>
        <p:spPr>
          <a:xfrm>
            <a:off x="9014117" y="2366348"/>
            <a:ext cx="2558132" cy="3030945"/>
          </a:xfrm>
          <a:prstGeom prst="rect">
            <a:avLst/>
          </a:prstGeom>
        </p:spPr>
      </p:pic>
    </p:spTree>
    <p:extLst>
      <p:ext uri="{BB962C8B-B14F-4D97-AF65-F5344CB8AC3E}">
        <p14:creationId xmlns:p14="http://schemas.microsoft.com/office/powerpoint/2010/main" val="1999657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FAB74-D1C8-6D47-E3D2-DF5F04DA2BF1}"/>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EFB9E449-F85D-4761-6652-AF7C4D809936}"/>
              </a:ext>
            </a:extLst>
          </p:cNvPr>
          <p:cNvGrpSpPr/>
          <p:nvPr/>
        </p:nvGrpSpPr>
        <p:grpSpPr>
          <a:xfrm>
            <a:off x="9832" y="12032"/>
            <a:ext cx="12192000" cy="6858000"/>
            <a:chOff x="0" y="0"/>
            <a:chExt cx="12192000" cy="6858000"/>
          </a:xfrm>
        </p:grpSpPr>
        <p:pic>
          <p:nvPicPr>
            <p:cNvPr id="11" name="Picture 10">
              <a:extLst>
                <a:ext uri="{FF2B5EF4-FFF2-40B4-BE49-F238E27FC236}">
                  <a16:creationId xmlns:a16="http://schemas.microsoft.com/office/drawing/2014/main" id="{AAE34266-D24B-4AF5-2BB3-AD21297C6D07}"/>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F5A6A119-1A2C-0293-102E-19DF0538B8E0}"/>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B1A130DC-59D7-664E-256B-51D02DDB0EDF}"/>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008109E1-6CE9-5F79-7CDD-4E2447904A96}"/>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1C5A5589-2C47-A73E-E534-C7FF96E9FCD6}"/>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DCC8EA74-C88E-CBF7-F121-499F129E01CF}"/>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CDD6EBF8-4179-AF0E-CB91-601C2A89630E}"/>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63082651-0FFC-3B50-BD7F-72A2507D8D10}"/>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59DAA41B-A652-D4C3-B825-2B156282FDD8}"/>
              </a:ext>
            </a:extLst>
          </p:cNvPr>
          <p:cNvSpPr txBox="1"/>
          <p:nvPr/>
        </p:nvSpPr>
        <p:spPr>
          <a:xfrm>
            <a:off x="995025" y="142576"/>
            <a:ext cx="10099154" cy="646331"/>
          </a:xfrm>
          <a:prstGeom prst="rect">
            <a:avLst/>
          </a:prstGeom>
          <a:noFill/>
        </p:spPr>
        <p:txBody>
          <a:bodyPr wrap="square">
            <a:spAutoFit/>
          </a:bodyPr>
          <a:lstStyle/>
          <a:p>
            <a:r>
              <a:rPr lang="es-ES" sz="3600" b="1" dirty="0">
                <a:solidFill>
                  <a:schemeClr val="bg1"/>
                </a:solidFill>
                <a:latin typeface="system-ui"/>
              </a:rPr>
              <a:t>Metodología</a:t>
            </a:r>
            <a:endParaRPr lang="en-US" sz="3600" dirty="0">
              <a:solidFill>
                <a:schemeClr val="bg1"/>
              </a:solidFill>
            </a:endParaRPr>
          </a:p>
        </p:txBody>
      </p:sp>
      <p:sp>
        <p:nvSpPr>
          <p:cNvPr id="7" name="Rectangle 6">
            <a:extLst>
              <a:ext uri="{FF2B5EF4-FFF2-40B4-BE49-F238E27FC236}">
                <a16:creationId xmlns:a16="http://schemas.microsoft.com/office/drawing/2014/main" id="{764D5134-70FC-C34C-0E50-28F46ED086F5}"/>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C1721DB9-2EA4-6A23-4DF2-1CCF9C3B668D}"/>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0FBE7ACF-9407-AC9C-2C07-369CF21ADCC0}"/>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AC5A4DA1-9826-483C-193A-7BA0F7CB8153}"/>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pic>
        <p:nvPicPr>
          <p:cNvPr id="6" name="Picture 5">
            <a:extLst>
              <a:ext uri="{FF2B5EF4-FFF2-40B4-BE49-F238E27FC236}">
                <a16:creationId xmlns:a16="http://schemas.microsoft.com/office/drawing/2014/main" id="{0617DDAB-0717-D6FB-3BB9-C5181A51135E}"/>
              </a:ext>
            </a:extLst>
          </p:cNvPr>
          <p:cNvPicPr>
            <a:picLocks noChangeAspect="1"/>
          </p:cNvPicPr>
          <p:nvPr/>
        </p:nvPicPr>
        <p:blipFill>
          <a:blip r:embed="rId4"/>
          <a:stretch>
            <a:fillRect/>
          </a:stretch>
        </p:blipFill>
        <p:spPr>
          <a:xfrm>
            <a:off x="1097821" y="1621197"/>
            <a:ext cx="10229680" cy="4039468"/>
          </a:xfrm>
          <a:prstGeom prst="rect">
            <a:avLst/>
          </a:prstGeom>
        </p:spPr>
      </p:pic>
    </p:spTree>
    <p:extLst>
      <p:ext uri="{BB962C8B-B14F-4D97-AF65-F5344CB8AC3E}">
        <p14:creationId xmlns:p14="http://schemas.microsoft.com/office/powerpoint/2010/main" val="2937180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442B8-9B1A-A2A1-6E45-D26A58D79DDF}"/>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96B77395-0A4B-86B8-B7A9-B7460B71889C}"/>
              </a:ext>
            </a:extLst>
          </p:cNvPr>
          <p:cNvGrpSpPr/>
          <p:nvPr/>
        </p:nvGrpSpPr>
        <p:grpSpPr>
          <a:xfrm>
            <a:off x="9832" y="12032"/>
            <a:ext cx="12192000" cy="6858000"/>
            <a:chOff x="0" y="0"/>
            <a:chExt cx="12192000" cy="6858000"/>
          </a:xfrm>
        </p:grpSpPr>
        <p:pic>
          <p:nvPicPr>
            <p:cNvPr id="11" name="Picture 10">
              <a:extLst>
                <a:ext uri="{FF2B5EF4-FFF2-40B4-BE49-F238E27FC236}">
                  <a16:creationId xmlns:a16="http://schemas.microsoft.com/office/drawing/2014/main" id="{086FD284-D0AB-1711-8526-2E15731B969E}"/>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194206BA-5308-A99E-C977-6D47EB63B240}"/>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A537AFB4-D731-5789-E772-93BD06505B4E}"/>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9F5FDE27-38FC-6596-17B5-1E6C5E43F605}"/>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06AD70D3-1F1E-CF4A-18C0-2175FC7CD377}"/>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EB654FA3-ACBD-F60A-A881-A6E7A46E90AD}"/>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B4E3B71A-0E17-3627-710B-02C321108DF0}"/>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AD487196-CB22-5F54-834F-65C10CA4D1B3}"/>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52314D59-DF46-8788-6D48-3826D7013888}"/>
              </a:ext>
            </a:extLst>
          </p:cNvPr>
          <p:cNvSpPr txBox="1"/>
          <p:nvPr/>
        </p:nvSpPr>
        <p:spPr>
          <a:xfrm>
            <a:off x="995025" y="142576"/>
            <a:ext cx="10099154" cy="646331"/>
          </a:xfrm>
          <a:prstGeom prst="rect">
            <a:avLst/>
          </a:prstGeom>
          <a:noFill/>
        </p:spPr>
        <p:txBody>
          <a:bodyPr wrap="square">
            <a:spAutoFit/>
          </a:bodyPr>
          <a:lstStyle/>
          <a:p>
            <a:r>
              <a:rPr lang="es-ES" sz="3600" b="1" dirty="0">
                <a:solidFill>
                  <a:schemeClr val="bg1"/>
                </a:solidFill>
                <a:latin typeface="system-ui"/>
              </a:rPr>
              <a:t>Criterio de selección del mejor modelo</a:t>
            </a:r>
            <a:endParaRPr lang="en-US" sz="3600" dirty="0">
              <a:solidFill>
                <a:schemeClr val="bg1"/>
              </a:solidFill>
            </a:endParaRPr>
          </a:p>
        </p:txBody>
      </p:sp>
      <p:sp>
        <p:nvSpPr>
          <p:cNvPr id="7" name="Rectangle 6">
            <a:extLst>
              <a:ext uri="{FF2B5EF4-FFF2-40B4-BE49-F238E27FC236}">
                <a16:creationId xmlns:a16="http://schemas.microsoft.com/office/drawing/2014/main" id="{3D99A963-06E7-672E-FA41-5361D63B14D6}"/>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9B4C518B-1FD3-1BCD-B42D-17774FF97057}"/>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6066732E-68B2-11DE-77F3-0367BB0B34BF}"/>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8B8EF669-239B-02E4-21B9-19EB3624A5AB}"/>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pic>
        <p:nvPicPr>
          <p:cNvPr id="6" name="Picture 5">
            <a:extLst>
              <a:ext uri="{FF2B5EF4-FFF2-40B4-BE49-F238E27FC236}">
                <a16:creationId xmlns:a16="http://schemas.microsoft.com/office/drawing/2014/main" id="{E068CB7F-9628-8101-5CCA-E0D60F9A630C}"/>
              </a:ext>
            </a:extLst>
          </p:cNvPr>
          <p:cNvPicPr>
            <a:picLocks noChangeAspect="1"/>
          </p:cNvPicPr>
          <p:nvPr/>
        </p:nvPicPr>
        <p:blipFill>
          <a:blip r:embed="rId4"/>
          <a:srcRect t="12540"/>
          <a:stretch>
            <a:fillRect/>
          </a:stretch>
        </p:blipFill>
        <p:spPr>
          <a:xfrm>
            <a:off x="1224246" y="2056479"/>
            <a:ext cx="9743508" cy="2517170"/>
          </a:xfrm>
          <a:prstGeom prst="rect">
            <a:avLst/>
          </a:prstGeom>
        </p:spPr>
      </p:pic>
    </p:spTree>
    <p:extLst>
      <p:ext uri="{BB962C8B-B14F-4D97-AF65-F5344CB8AC3E}">
        <p14:creationId xmlns:p14="http://schemas.microsoft.com/office/powerpoint/2010/main" val="552546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B911E-ADB3-9F9B-05AD-B94C16F45A0E}"/>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6F5060F1-246E-85B4-3EF9-EDCDECFC9D1C}"/>
              </a:ext>
            </a:extLst>
          </p:cNvPr>
          <p:cNvGrpSpPr/>
          <p:nvPr/>
        </p:nvGrpSpPr>
        <p:grpSpPr>
          <a:xfrm>
            <a:off x="0" y="0"/>
            <a:ext cx="12192000" cy="6858000"/>
            <a:chOff x="0" y="0"/>
            <a:chExt cx="12192000" cy="6858000"/>
          </a:xfrm>
        </p:grpSpPr>
        <p:pic>
          <p:nvPicPr>
            <p:cNvPr id="11" name="Picture 10">
              <a:extLst>
                <a:ext uri="{FF2B5EF4-FFF2-40B4-BE49-F238E27FC236}">
                  <a16:creationId xmlns:a16="http://schemas.microsoft.com/office/drawing/2014/main" id="{54A4B81A-6390-E6FB-0653-4DDF2FADEC21}"/>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872598D4-DC00-0007-01E8-30F1B9AFCF32}"/>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DAAC837E-FBCC-36B7-7070-DD33E647B8DE}"/>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6E68144B-9D55-AB82-22F7-68EE9BA3F0B0}"/>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30CD8034-1A33-0690-BAF6-23BFAF8B8C78}"/>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2AEBFC2D-6743-2ADD-897C-DE1782741A1D}"/>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11555155-4EF8-149E-5DDC-F84FC789FEC6}"/>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BAD8DE13-F7BB-2167-1D9C-D7DA25E97AB9}"/>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6C25CF08-F67A-EC33-EC69-7D013CB2DFFA}"/>
              </a:ext>
            </a:extLst>
          </p:cNvPr>
          <p:cNvSpPr txBox="1"/>
          <p:nvPr/>
        </p:nvSpPr>
        <p:spPr>
          <a:xfrm>
            <a:off x="995025" y="142576"/>
            <a:ext cx="10099154" cy="646331"/>
          </a:xfrm>
          <a:prstGeom prst="rect">
            <a:avLst/>
          </a:prstGeom>
          <a:noFill/>
        </p:spPr>
        <p:txBody>
          <a:bodyPr wrap="square">
            <a:spAutoFit/>
          </a:bodyPr>
          <a:lstStyle/>
          <a:p>
            <a:r>
              <a:rPr lang="es-ES" sz="3600" b="1" dirty="0" err="1">
                <a:solidFill>
                  <a:schemeClr val="bg1"/>
                </a:solidFill>
                <a:latin typeface="system-ui"/>
              </a:rPr>
              <a:t>Datasets</a:t>
            </a:r>
            <a:r>
              <a:rPr lang="es-ES" sz="3600" b="1" dirty="0">
                <a:solidFill>
                  <a:schemeClr val="bg1"/>
                </a:solidFill>
                <a:latin typeface="system-ui"/>
              </a:rPr>
              <a:t> y variables</a:t>
            </a:r>
            <a:endParaRPr lang="en-US" sz="3600" dirty="0">
              <a:solidFill>
                <a:schemeClr val="bg1"/>
              </a:solidFill>
            </a:endParaRPr>
          </a:p>
        </p:txBody>
      </p:sp>
      <p:sp>
        <p:nvSpPr>
          <p:cNvPr id="7" name="Rectangle 6">
            <a:extLst>
              <a:ext uri="{FF2B5EF4-FFF2-40B4-BE49-F238E27FC236}">
                <a16:creationId xmlns:a16="http://schemas.microsoft.com/office/drawing/2014/main" id="{1821EDA1-81F7-E4DA-3053-851038ED1B24}"/>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38F18B78-F82E-7874-5398-BF7479539F61}"/>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E5D81A47-6F9E-17A2-0612-6E6567CE89F9}"/>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D6F9828C-1045-4F4C-4298-222E5D390646}"/>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24" name="TextBox 23">
            <a:extLst>
              <a:ext uri="{FF2B5EF4-FFF2-40B4-BE49-F238E27FC236}">
                <a16:creationId xmlns:a16="http://schemas.microsoft.com/office/drawing/2014/main" id="{7867A9C7-12FD-A907-1904-A05F0F7C9E5E}"/>
              </a:ext>
            </a:extLst>
          </p:cNvPr>
          <p:cNvSpPr txBox="1"/>
          <p:nvPr/>
        </p:nvSpPr>
        <p:spPr>
          <a:xfrm>
            <a:off x="649430" y="981697"/>
            <a:ext cx="10779845" cy="1092498"/>
          </a:xfrm>
          <a:prstGeom prst="roundRect">
            <a:avLst/>
          </a:prstGeom>
          <a:noFill/>
          <a:ln w="3175">
            <a:solidFill>
              <a:srgbClr val="5DFDCB"/>
            </a:solidFill>
          </a:ln>
        </p:spPr>
        <p:txBody>
          <a:bodyPr wrap="square">
            <a:spAutoFit/>
          </a:bodyPr>
          <a:lstStyle/>
          <a:p>
            <a:pPr algn="l">
              <a:buNone/>
            </a:pPr>
            <a:r>
              <a:rPr lang="es-ES" b="1" i="0" dirty="0">
                <a:solidFill>
                  <a:srgbClr val="E3E3E3"/>
                </a:solidFill>
                <a:effectLst/>
                <a:latin typeface="Google Sans Text"/>
              </a:rPr>
              <a:t>Esquema de variables</a:t>
            </a:r>
          </a:p>
          <a:p>
            <a:pPr algn="l">
              <a:spcBef>
                <a:spcPts val="450"/>
              </a:spcBef>
              <a:spcAft>
                <a:spcPts val="450"/>
              </a:spcAft>
              <a:buNone/>
            </a:pPr>
            <a:r>
              <a:rPr lang="es-ES" b="0" i="0" dirty="0">
                <a:solidFill>
                  <a:srgbClr val="A8B3C7"/>
                </a:solidFill>
                <a:effectLst/>
                <a:latin typeface="system-ui"/>
              </a:rPr>
              <a:t>Se integran dos fuentes: </a:t>
            </a:r>
            <a:r>
              <a:rPr lang="es-ES" b="1" i="0" dirty="0" err="1">
                <a:solidFill>
                  <a:srgbClr val="A8B3C7"/>
                </a:solidFill>
                <a:effectLst/>
                <a:latin typeface="system-ui"/>
              </a:rPr>
              <a:t>datosrecolectados</a:t>
            </a:r>
            <a:r>
              <a:rPr lang="es-ES" b="0" i="0" dirty="0">
                <a:solidFill>
                  <a:srgbClr val="A8B3C7"/>
                </a:solidFill>
                <a:effectLst/>
                <a:latin typeface="system-ui"/>
              </a:rPr>
              <a:t> (ensayos y simulaciones de muros) y </a:t>
            </a:r>
            <a:r>
              <a:rPr lang="es-ES" b="1" i="0" dirty="0" err="1">
                <a:solidFill>
                  <a:srgbClr val="A8B3C7"/>
                </a:solidFill>
                <a:effectLst/>
                <a:latin typeface="system-ui"/>
              </a:rPr>
              <a:t>archivoclimatico</a:t>
            </a:r>
            <a:r>
              <a:rPr lang="es-ES" b="0" i="0" dirty="0">
                <a:solidFill>
                  <a:srgbClr val="A8B3C7"/>
                </a:solidFill>
                <a:effectLst/>
                <a:latin typeface="system-ui"/>
              </a:rPr>
              <a:t> (estación local en terraza).</a:t>
            </a:r>
          </a:p>
        </p:txBody>
      </p:sp>
      <p:pic>
        <p:nvPicPr>
          <p:cNvPr id="27" name="Picture 26">
            <a:extLst>
              <a:ext uri="{FF2B5EF4-FFF2-40B4-BE49-F238E27FC236}">
                <a16:creationId xmlns:a16="http://schemas.microsoft.com/office/drawing/2014/main" id="{29381EE2-C883-5A16-C1ED-AFB4095DD075}"/>
              </a:ext>
            </a:extLst>
          </p:cNvPr>
          <p:cNvPicPr>
            <a:picLocks noChangeAspect="1"/>
          </p:cNvPicPr>
          <p:nvPr/>
        </p:nvPicPr>
        <p:blipFill>
          <a:blip r:embed="rId4"/>
          <a:stretch>
            <a:fillRect/>
          </a:stretch>
        </p:blipFill>
        <p:spPr>
          <a:xfrm>
            <a:off x="1194838" y="2140245"/>
            <a:ext cx="3891062" cy="3967524"/>
          </a:xfrm>
          <a:prstGeom prst="rect">
            <a:avLst/>
          </a:prstGeom>
        </p:spPr>
      </p:pic>
      <p:pic>
        <p:nvPicPr>
          <p:cNvPr id="29" name="Picture 28">
            <a:extLst>
              <a:ext uri="{FF2B5EF4-FFF2-40B4-BE49-F238E27FC236}">
                <a16:creationId xmlns:a16="http://schemas.microsoft.com/office/drawing/2014/main" id="{AC2D97C3-CACF-4B88-CE9E-76ACD83C22B9}"/>
              </a:ext>
            </a:extLst>
          </p:cNvPr>
          <p:cNvPicPr>
            <a:picLocks noChangeAspect="1"/>
          </p:cNvPicPr>
          <p:nvPr/>
        </p:nvPicPr>
        <p:blipFill>
          <a:blip r:embed="rId5"/>
          <a:srcRect b="26519"/>
          <a:stretch>
            <a:fillRect/>
          </a:stretch>
        </p:blipFill>
        <p:spPr>
          <a:xfrm>
            <a:off x="6357911" y="2206573"/>
            <a:ext cx="3641642" cy="2746161"/>
          </a:xfrm>
          <a:prstGeom prst="rect">
            <a:avLst/>
          </a:prstGeom>
        </p:spPr>
      </p:pic>
      <p:sp>
        <p:nvSpPr>
          <p:cNvPr id="2" name="Title 1">
            <a:extLst>
              <a:ext uri="{FF2B5EF4-FFF2-40B4-BE49-F238E27FC236}">
                <a16:creationId xmlns:a16="http://schemas.microsoft.com/office/drawing/2014/main" id="{E4B44792-20E9-C683-82B2-801B0CFC99C9}"/>
              </a:ext>
            </a:extLst>
          </p:cNvPr>
          <p:cNvSpPr txBox="1">
            <a:spLocks/>
          </p:cNvSpPr>
          <p:nvPr/>
        </p:nvSpPr>
        <p:spPr>
          <a:xfrm>
            <a:off x="5319253" y="5602841"/>
            <a:ext cx="6263144" cy="715089"/>
          </a:xfrm>
          <a:prstGeom prst="roundRect">
            <a:avLst/>
          </a:prstGeom>
          <a:noFill/>
          <a:ln w="3175">
            <a:solidFill>
              <a:srgbClr val="5DFDCB"/>
            </a:solidFill>
          </a:ln>
        </p:spPr>
        <p:txBody>
          <a:bodyPr wrap="square">
            <a:spAutoFit/>
          </a:bodyPr>
          <a:lstStyle>
            <a:defPPr>
              <a:defRPr lang="en-US"/>
            </a:defPPr>
            <a:lvl1pPr>
              <a:buNone/>
              <a:defRPr b="1" i="0">
                <a:solidFill>
                  <a:srgbClr val="E3E3E3"/>
                </a:solidFill>
                <a:effectLst/>
                <a:latin typeface="Google Sans Text"/>
              </a:defRPr>
            </a:lvl1pPr>
          </a:lstStyle>
          <a:p>
            <a:r>
              <a:rPr lang="es-ES" dirty="0" err="1"/>
              <a:t>Dataset</a:t>
            </a:r>
            <a:r>
              <a:rPr lang="es-ES" dirty="0"/>
              <a:t> de predicción: </a:t>
            </a:r>
            <a:r>
              <a:rPr lang="es-ES" b="0" dirty="0"/>
              <a:t>Estructura idéntica, pero sin la columna Tran, y con registros de la pared de botellas + adobe + madera.</a:t>
            </a:r>
            <a:endParaRPr lang="es-AR" b="0" dirty="0"/>
          </a:p>
        </p:txBody>
      </p:sp>
    </p:spTree>
    <p:extLst>
      <p:ext uri="{BB962C8B-B14F-4D97-AF65-F5344CB8AC3E}">
        <p14:creationId xmlns:p14="http://schemas.microsoft.com/office/powerpoint/2010/main" val="245266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8B131-81D4-39D6-13E7-2804C5CE2602}"/>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52FC386C-F010-67C2-20EA-304D5BA3ABD3}"/>
              </a:ext>
            </a:extLst>
          </p:cNvPr>
          <p:cNvGrpSpPr/>
          <p:nvPr/>
        </p:nvGrpSpPr>
        <p:grpSpPr>
          <a:xfrm>
            <a:off x="0" y="0"/>
            <a:ext cx="12192000" cy="6858000"/>
            <a:chOff x="0" y="0"/>
            <a:chExt cx="12192000" cy="6858000"/>
          </a:xfrm>
        </p:grpSpPr>
        <p:pic>
          <p:nvPicPr>
            <p:cNvPr id="11" name="Picture 10">
              <a:extLst>
                <a:ext uri="{FF2B5EF4-FFF2-40B4-BE49-F238E27FC236}">
                  <a16:creationId xmlns:a16="http://schemas.microsoft.com/office/drawing/2014/main" id="{227B942D-C0D4-601D-7087-3FD8A98B1FCA}"/>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76BC4748-2D71-F7DE-F200-7EEFF0B719EF}"/>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540C9B21-53EA-A01E-06C4-1E6EDD37306E}"/>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F643CEEC-C3C1-5082-37D2-FE5FD07DA7AA}"/>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9206F265-EAEB-2BBC-9B32-AF377334D5E4}"/>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82841B8E-91A1-0B1C-D8BE-6A4207C7C584}"/>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F87A7B83-2D66-43E8-04EB-2D460593C804}"/>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E34B4B10-C8AE-D972-B4CC-B6FD5774C9F5}"/>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6FE52781-D551-E9A6-63BF-F8D414D62961}"/>
              </a:ext>
            </a:extLst>
          </p:cNvPr>
          <p:cNvSpPr txBox="1"/>
          <p:nvPr/>
        </p:nvSpPr>
        <p:spPr>
          <a:xfrm>
            <a:off x="995025" y="142576"/>
            <a:ext cx="10099154" cy="646331"/>
          </a:xfrm>
          <a:prstGeom prst="rect">
            <a:avLst/>
          </a:prstGeom>
          <a:noFill/>
        </p:spPr>
        <p:txBody>
          <a:bodyPr wrap="square">
            <a:spAutoFit/>
          </a:bodyPr>
          <a:lstStyle/>
          <a:p>
            <a:r>
              <a:rPr lang="es-ES" sz="3600" b="1" dirty="0">
                <a:solidFill>
                  <a:schemeClr val="bg1"/>
                </a:solidFill>
                <a:latin typeface="system-ui"/>
              </a:rPr>
              <a:t>Análisis exploratorio de los datos</a:t>
            </a:r>
            <a:endParaRPr lang="en-US" sz="3600" dirty="0">
              <a:solidFill>
                <a:schemeClr val="bg1"/>
              </a:solidFill>
            </a:endParaRPr>
          </a:p>
        </p:txBody>
      </p:sp>
      <p:sp>
        <p:nvSpPr>
          <p:cNvPr id="7" name="Rectangle 6">
            <a:extLst>
              <a:ext uri="{FF2B5EF4-FFF2-40B4-BE49-F238E27FC236}">
                <a16:creationId xmlns:a16="http://schemas.microsoft.com/office/drawing/2014/main" id="{BA166717-6BAF-B99A-3D27-4953652FFE27}"/>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2D628582-0B8A-5365-DF2C-8644A9139639}"/>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612E2A07-2D68-1318-35C4-59D715166B0F}"/>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1D0D4B94-6F5B-2571-29EE-01A6993BA348}"/>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24" name="TextBox 23">
            <a:extLst>
              <a:ext uri="{FF2B5EF4-FFF2-40B4-BE49-F238E27FC236}">
                <a16:creationId xmlns:a16="http://schemas.microsoft.com/office/drawing/2014/main" id="{7811E618-0E9F-D1BB-4C5E-81FAA16ED440}"/>
              </a:ext>
            </a:extLst>
          </p:cNvPr>
          <p:cNvSpPr txBox="1"/>
          <p:nvPr/>
        </p:nvSpPr>
        <p:spPr>
          <a:xfrm>
            <a:off x="635407" y="964210"/>
            <a:ext cx="6900074" cy="369332"/>
          </a:xfrm>
          <a:prstGeom prst="rect">
            <a:avLst/>
          </a:prstGeom>
          <a:noFill/>
        </p:spPr>
        <p:txBody>
          <a:bodyPr wrap="square">
            <a:spAutoFit/>
          </a:bodyPr>
          <a:lstStyle/>
          <a:p>
            <a:pPr algn="l">
              <a:buNone/>
            </a:pPr>
            <a:r>
              <a:rPr lang="es-ES" b="1" i="0" dirty="0">
                <a:solidFill>
                  <a:srgbClr val="E3E3E3"/>
                </a:solidFill>
                <a:effectLst/>
                <a:latin typeface="Google Sans Text"/>
              </a:rPr>
              <a:t>Esquema de variables</a:t>
            </a:r>
            <a:endParaRPr lang="es-ES" b="0" i="0" dirty="0">
              <a:solidFill>
                <a:srgbClr val="A8B3C7"/>
              </a:solidFill>
              <a:effectLst/>
              <a:latin typeface="system-ui"/>
            </a:endParaRPr>
          </a:p>
        </p:txBody>
      </p:sp>
      <p:pic>
        <p:nvPicPr>
          <p:cNvPr id="4" name="Picture 3">
            <a:extLst>
              <a:ext uri="{FF2B5EF4-FFF2-40B4-BE49-F238E27FC236}">
                <a16:creationId xmlns:a16="http://schemas.microsoft.com/office/drawing/2014/main" id="{F55799C3-0E0E-378A-CE96-BB16D10B2B52}"/>
              </a:ext>
            </a:extLst>
          </p:cNvPr>
          <p:cNvPicPr>
            <a:picLocks noChangeAspect="1"/>
          </p:cNvPicPr>
          <p:nvPr/>
        </p:nvPicPr>
        <p:blipFill>
          <a:blip r:embed="rId4"/>
          <a:stretch>
            <a:fillRect/>
          </a:stretch>
        </p:blipFill>
        <p:spPr>
          <a:xfrm>
            <a:off x="648425" y="1360039"/>
            <a:ext cx="10421804" cy="2133898"/>
          </a:xfrm>
          <a:prstGeom prst="rect">
            <a:avLst/>
          </a:prstGeom>
        </p:spPr>
      </p:pic>
      <p:pic>
        <p:nvPicPr>
          <p:cNvPr id="8" name="Picture 7">
            <a:extLst>
              <a:ext uri="{FF2B5EF4-FFF2-40B4-BE49-F238E27FC236}">
                <a16:creationId xmlns:a16="http://schemas.microsoft.com/office/drawing/2014/main" id="{74620A79-05A8-5DCE-7C8F-DF77489399C4}"/>
              </a:ext>
            </a:extLst>
          </p:cNvPr>
          <p:cNvPicPr>
            <a:picLocks noChangeAspect="1"/>
          </p:cNvPicPr>
          <p:nvPr/>
        </p:nvPicPr>
        <p:blipFill>
          <a:blip r:embed="rId5"/>
          <a:stretch>
            <a:fillRect/>
          </a:stretch>
        </p:blipFill>
        <p:spPr>
          <a:xfrm>
            <a:off x="2496185" y="4293334"/>
            <a:ext cx="1276528" cy="1829055"/>
          </a:xfrm>
          <a:prstGeom prst="rect">
            <a:avLst/>
          </a:prstGeom>
        </p:spPr>
      </p:pic>
      <p:pic>
        <p:nvPicPr>
          <p:cNvPr id="10" name="Picture 9">
            <a:extLst>
              <a:ext uri="{FF2B5EF4-FFF2-40B4-BE49-F238E27FC236}">
                <a16:creationId xmlns:a16="http://schemas.microsoft.com/office/drawing/2014/main" id="{84FFC714-F3C9-85E8-D8A3-AA4DAFEB21FF}"/>
              </a:ext>
            </a:extLst>
          </p:cNvPr>
          <p:cNvPicPr>
            <a:picLocks noChangeAspect="1"/>
          </p:cNvPicPr>
          <p:nvPr/>
        </p:nvPicPr>
        <p:blipFill>
          <a:blip r:embed="rId6"/>
          <a:stretch>
            <a:fillRect/>
          </a:stretch>
        </p:blipFill>
        <p:spPr>
          <a:xfrm>
            <a:off x="932200" y="3602676"/>
            <a:ext cx="1133633" cy="3210373"/>
          </a:xfrm>
          <a:prstGeom prst="rect">
            <a:avLst/>
          </a:prstGeom>
        </p:spPr>
      </p:pic>
    </p:spTree>
    <p:extLst>
      <p:ext uri="{BB962C8B-B14F-4D97-AF65-F5344CB8AC3E}">
        <p14:creationId xmlns:p14="http://schemas.microsoft.com/office/powerpoint/2010/main" val="3006556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CDC6B-D311-66FC-21EE-4C5BE7C6BD6F}"/>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6AAD0529-C267-200D-0A1B-D20A8968F677}"/>
              </a:ext>
            </a:extLst>
          </p:cNvPr>
          <p:cNvGrpSpPr/>
          <p:nvPr/>
        </p:nvGrpSpPr>
        <p:grpSpPr>
          <a:xfrm>
            <a:off x="9832" y="12032"/>
            <a:ext cx="12192000" cy="6858000"/>
            <a:chOff x="0" y="0"/>
            <a:chExt cx="12192000" cy="6858000"/>
          </a:xfrm>
        </p:grpSpPr>
        <p:pic>
          <p:nvPicPr>
            <p:cNvPr id="11" name="Picture 10">
              <a:extLst>
                <a:ext uri="{FF2B5EF4-FFF2-40B4-BE49-F238E27FC236}">
                  <a16:creationId xmlns:a16="http://schemas.microsoft.com/office/drawing/2014/main" id="{1B422D4F-AD9A-5AE9-B448-E8DB3D6F871A}"/>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B7A85095-B2C3-0A84-62EF-ACF203F4B7FA}"/>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5503244A-6E86-9C75-C1B2-2B6C9D915417}"/>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3BC4CED2-1441-11AF-DE56-A61EA3FBCC40}"/>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F997014F-3A00-5BAA-F2FD-E7637F302B1F}"/>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01A3A5F8-4EB2-9153-74C3-D5087A86F3B5}"/>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2D51E2F4-17A6-2F3D-85F6-96BD39075B44}"/>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72578DB9-D8FF-E4E6-9EF2-D58B40AEDEB0}"/>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D3221B75-FC25-7404-2438-AF792CBD22D0}"/>
              </a:ext>
            </a:extLst>
          </p:cNvPr>
          <p:cNvSpPr txBox="1"/>
          <p:nvPr/>
        </p:nvSpPr>
        <p:spPr>
          <a:xfrm>
            <a:off x="995025" y="142576"/>
            <a:ext cx="10099154" cy="646331"/>
          </a:xfrm>
          <a:prstGeom prst="rect">
            <a:avLst/>
          </a:prstGeom>
          <a:noFill/>
        </p:spPr>
        <p:txBody>
          <a:bodyPr wrap="square">
            <a:spAutoFit/>
          </a:bodyPr>
          <a:lstStyle/>
          <a:p>
            <a:r>
              <a:rPr lang="es-ES" sz="3600" b="1" dirty="0">
                <a:solidFill>
                  <a:schemeClr val="bg1"/>
                </a:solidFill>
                <a:latin typeface="system-ui"/>
              </a:rPr>
              <a:t>Análisis exploratorio de los datos</a:t>
            </a:r>
            <a:endParaRPr lang="en-US" sz="3600" dirty="0">
              <a:solidFill>
                <a:schemeClr val="bg1"/>
              </a:solidFill>
            </a:endParaRPr>
          </a:p>
        </p:txBody>
      </p:sp>
      <p:sp>
        <p:nvSpPr>
          <p:cNvPr id="7" name="Rectangle 6">
            <a:extLst>
              <a:ext uri="{FF2B5EF4-FFF2-40B4-BE49-F238E27FC236}">
                <a16:creationId xmlns:a16="http://schemas.microsoft.com/office/drawing/2014/main" id="{D9EB35E8-65B5-B1E6-57BC-ED1662F5ADAE}"/>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F50B4A5A-BC21-0FE8-463A-FAEF8DAC9DFE}"/>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E3ED0868-7944-B2E3-885C-1E600273AC71}"/>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AEA9CC27-7DDA-BE39-F262-CB8487F10AAF}"/>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pic>
        <p:nvPicPr>
          <p:cNvPr id="6" name="Picture 5">
            <a:extLst>
              <a:ext uri="{FF2B5EF4-FFF2-40B4-BE49-F238E27FC236}">
                <a16:creationId xmlns:a16="http://schemas.microsoft.com/office/drawing/2014/main" id="{C0FA0044-D166-B63E-DE13-71029625BDA0}"/>
              </a:ext>
            </a:extLst>
          </p:cNvPr>
          <p:cNvPicPr>
            <a:picLocks noChangeAspect="1"/>
          </p:cNvPicPr>
          <p:nvPr/>
        </p:nvPicPr>
        <p:blipFill>
          <a:blip r:embed="rId4"/>
          <a:stretch>
            <a:fillRect/>
          </a:stretch>
        </p:blipFill>
        <p:spPr>
          <a:xfrm>
            <a:off x="629265" y="892787"/>
            <a:ext cx="8407630" cy="3178495"/>
          </a:xfrm>
          <a:prstGeom prst="rect">
            <a:avLst/>
          </a:prstGeom>
        </p:spPr>
      </p:pic>
      <p:pic>
        <p:nvPicPr>
          <p:cNvPr id="9" name="Picture 8">
            <a:extLst>
              <a:ext uri="{FF2B5EF4-FFF2-40B4-BE49-F238E27FC236}">
                <a16:creationId xmlns:a16="http://schemas.microsoft.com/office/drawing/2014/main" id="{21E1F6F4-CE54-3C95-705F-F3FD6A27DFC9}"/>
              </a:ext>
            </a:extLst>
          </p:cNvPr>
          <p:cNvPicPr>
            <a:picLocks noChangeAspect="1"/>
          </p:cNvPicPr>
          <p:nvPr/>
        </p:nvPicPr>
        <p:blipFill>
          <a:blip r:embed="rId5"/>
          <a:srcRect t="8637"/>
          <a:stretch>
            <a:fillRect/>
          </a:stretch>
        </p:blipFill>
        <p:spPr>
          <a:xfrm>
            <a:off x="597174" y="3869848"/>
            <a:ext cx="8129707" cy="2630716"/>
          </a:xfrm>
          <a:prstGeom prst="rect">
            <a:avLst/>
          </a:prstGeom>
        </p:spPr>
      </p:pic>
      <p:sp>
        <p:nvSpPr>
          <p:cNvPr id="19" name="TextBox 18">
            <a:extLst>
              <a:ext uri="{FF2B5EF4-FFF2-40B4-BE49-F238E27FC236}">
                <a16:creationId xmlns:a16="http://schemas.microsoft.com/office/drawing/2014/main" id="{51709E74-8CF3-1F33-C3F2-ACBA245EEB91}"/>
              </a:ext>
            </a:extLst>
          </p:cNvPr>
          <p:cNvSpPr txBox="1"/>
          <p:nvPr/>
        </p:nvSpPr>
        <p:spPr>
          <a:xfrm>
            <a:off x="9013853" y="1669662"/>
            <a:ext cx="2548882" cy="2553891"/>
          </a:xfrm>
          <a:prstGeom prst="roundRect">
            <a:avLst/>
          </a:prstGeom>
          <a:noFill/>
          <a:ln>
            <a:solidFill>
              <a:srgbClr val="5DFDCB"/>
            </a:solidFill>
          </a:ln>
        </p:spPr>
        <p:txBody>
          <a:bodyPr wrap="square">
            <a:spAutoFit/>
          </a:bodyPr>
          <a:lstStyle/>
          <a:p>
            <a:r>
              <a:rPr lang="es-ES" b="0" i="0" dirty="0">
                <a:solidFill>
                  <a:srgbClr val="A8B3C7"/>
                </a:solidFill>
                <a:effectLst/>
                <a:latin typeface="system-ui"/>
              </a:rPr>
              <a:t>A partir del análisis exploratorio podemos estimar que las variables </a:t>
            </a:r>
            <a:r>
              <a:rPr lang="es-ES" b="0" i="0" dirty="0" err="1">
                <a:solidFill>
                  <a:srgbClr val="A8B3C7"/>
                </a:solidFill>
                <a:effectLst/>
                <a:latin typeface="system-ui"/>
              </a:rPr>
              <a:t>Hours</a:t>
            </a:r>
            <a:r>
              <a:rPr lang="es-ES" dirty="0">
                <a:solidFill>
                  <a:srgbClr val="A8B3C7"/>
                </a:solidFill>
                <a:latin typeface="system-ui"/>
              </a:rPr>
              <a:t> y</a:t>
            </a:r>
            <a:r>
              <a:rPr lang="es-ES" b="0" i="0" dirty="0">
                <a:solidFill>
                  <a:srgbClr val="A8B3C7"/>
                </a:solidFill>
                <a:effectLst/>
                <a:latin typeface="system-ui"/>
              </a:rPr>
              <a:t> Test no influirán en la estimación de la transmitancia y se excluirán. </a:t>
            </a:r>
            <a:endParaRPr lang="en-US" dirty="0"/>
          </a:p>
        </p:txBody>
      </p:sp>
    </p:spTree>
    <p:extLst>
      <p:ext uri="{BB962C8B-B14F-4D97-AF65-F5344CB8AC3E}">
        <p14:creationId xmlns:p14="http://schemas.microsoft.com/office/powerpoint/2010/main" val="866326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303AE-2BD3-07C5-08CA-51DCB59B4E93}"/>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80A9DA73-7568-B1B4-CE30-0D0C6DA69187}"/>
              </a:ext>
            </a:extLst>
          </p:cNvPr>
          <p:cNvGrpSpPr/>
          <p:nvPr/>
        </p:nvGrpSpPr>
        <p:grpSpPr>
          <a:xfrm>
            <a:off x="9832" y="-4010"/>
            <a:ext cx="12192000" cy="6858000"/>
            <a:chOff x="0" y="0"/>
            <a:chExt cx="12192000" cy="6858000"/>
          </a:xfrm>
        </p:grpSpPr>
        <p:pic>
          <p:nvPicPr>
            <p:cNvPr id="11" name="Picture 10">
              <a:extLst>
                <a:ext uri="{FF2B5EF4-FFF2-40B4-BE49-F238E27FC236}">
                  <a16:creationId xmlns:a16="http://schemas.microsoft.com/office/drawing/2014/main" id="{D2A1E871-D639-AE6A-DC06-58AE1D5424E8}"/>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FAC3264C-6FB4-34D2-CC74-27C8A9413832}"/>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274A1D23-F3D2-56C6-3C3E-55FC1BBE86A8}"/>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3B8F95A6-6DD3-2A6F-997C-D33BA0573EC6}"/>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30C15A38-072F-4104-36F7-2927F329B7C1}"/>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F1159D83-4007-36A6-31A6-816C563F7D8D}"/>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BD32DEA6-DF25-0018-6BE4-2C9F29BAF2D7}"/>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AE83C623-6188-6DB5-B134-204D69C85544}"/>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CEE7D58D-60C2-F3DC-FE6E-1A2153475EB9}"/>
              </a:ext>
            </a:extLst>
          </p:cNvPr>
          <p:cNvSpPr txBox="1"/>
          <p:nvPr/>
        </p:nvSpPr>
        <p:spPr>
          <a:xfrm>
            <a:off x="995025" y="142576"/>
            <a:ext cx="10099154" cy="646331"/>
          </a:xfrm>
          <a:prstGeom prst="rect">
            <a:avLst/>
          </a:prstGeom>
          <a:noFill/>
        </p:spPr>
        <p:txBody>
          <a:bodyPr wrap="square">
            <a:spAutoFit/>
          </a:bodyPr>
          <a:lstStyle/>
          <a:p>
            <a:r>
              <a:rPr lang="es-ES" sz="3600" b="1" dirty="0">
                <a:solidFill>
                  <a:schemeClr val="bg1"/>
                </a:solidFill>
                <a:latin typeface="system-ui"/>
              </a:rPr>
              <a:t>Matriz de correlación</a:t>
            </a:r>
            <a:endParaRPr lang="en-US" sz="3600" dirty="0">
              <a:solidFill>
                <a:schemeClr val="bg1"/>
              </a:solidFill>
            </a:endParaRPr>
          </a:p>
        </p:txBody>
      </p:sp>
      <p:sp>
        <p:nvSpPr>
          <p:cNvPr id="7" name="Rectangle 6">
            <a:extLst>
              <a:ext uri="{FF2B5EF4-FFF2-40B4-BE49-F238E27FC236}">
                <a16:creationId xmlns:a16="http://schemas.microsoft.com/office/drawing/2014/main" id="{3B808D13-1B75-1FF4-B003-6225EC539A8D}"/>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B0F518DB-138A-BCFA-032E-889EEA07D6FC}"/>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D2DDB0FE-1C71-DE6A-C52A-AF5F07392B8C}"/>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CC43A2B5-85C7-8D3E-81B6-7EB554109F00}"/>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pic>
        <p:nvPicPr>
          <p:cNvPr id="4" name="Picture 3">
            <a:extLst>
              <a:ext uri="{FF2B5EF4-FFF2-40B4-BE49-F238E27FC236}">
                <a16:creationId xmlns:a16="http://schemas.microsoft.com/office/drawing/2014/main" id="{9152F110-4155-27B9-5CDD-963C875FD23D}"/>
              </a:ext>
            </a:extLst>
          </p:cNvPr>
          <p:cNvPicPr>
            <a:picLocks noChangeAspect="1"/>
          </p:cNvPicPr>
          <p:nvPr/>
        </p:nvPicPr>
        <p:blipFill>
          <a:blip r:embed="rId4"/>
          <a:srcRect t="10059"/>
          <a:stretch>
            <a:fillRect/>
          </a:stretch>
        </p:blipFill>
        <p:spPr>
          <a:xfrm>
            <a:off x="728737" y="1034590"/>
            <a:ext cx="6179439" cy="5344933"/>
          </a:xfrm>
          <a:prstGeom prst="rect">
            <a:avLst/>
          </a:prstGeom>
        </p:spPr>
      </p:pic>
      <p:sp>
        <p:nvSpPr>
          <p:cNvPr id="5" name="TextBox 4">
            <a:extLst>
              <a:ext uri="{FF2B5EF4-FFF2-40B4-BE49-F238E27FC236}">
                <a16:creationId xmlns:a16="http://schemas.microsoft.com/office/drawing/2014/main" id="{978EC943-DA28-888E-A86D-A53C27D4736A}"/>
              </a:ext>
            </a:extLst>
          </p:cNvPr>
          <p:cNvSpPr txBox="1"/>
          <p:nvPr/>
        </p:nvSpPr>
        <p:spPr>
          <a:xfrm>
            <a:off x="7502996" y="1346191"/>
            <a:ext cx="3886742" cy="2553891"/>
          </a:xfrm>
          <a:prstGeom prst="roundRect">
            <a:avLst/>
          </a:prstGeom>
          <a:noFill/>
          <a:ln>
            <a:solidFill>
              <a:srgbClr val="5DFDCB"/>
            </a:solidFill>
          </a:ln>
        </p:spPr>
        <p:txBody>
          <a:bodyPr wrap="square">
            <a:spAutoFit/>
          </a:bodyPr>
          <a:lstStyle/>
          <a:p>
            <a:r>
              <a:rPr lang="es-ES" dirty="0">
                <a:solidFill>
                  <a:srgbClr val="A8B3C7"/>
                </a:solidFill>
                <a:latin typeface="system-ui"/>
              </a:rPr>
              <a:t>A partir de la matriz de correlación podemos comprobar que la transmitancia depende fuertemente de la densidad del material, que la temperatura interior superficial y del aire están relacionadas como así también la radiación solar y la temperatura superficial externa.</a:t>
            </a:r>
            <a:endParaRPr lang="en-US" dirty="0"/>
          </a:p>
        </p:txBody>
      </p:sp>
    </p:spTree>
    <p:extLst>
      <p:ext uri="{BB962C8B-B14F-4D97-AF65-F5344CB8AC3E}">
        <p14:creationId xmlns:p14="http://schemas.microsoft.com/office/powerpoint/2010/main" val="2469352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93F31-3752-A232-9568-F2D5C366472D}"/>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48CE97D1-196F-3B35-24E2-1E33D3A313B0}"/>
              </a:ext>
            </a:extLst>
          </p:cNvPr>
          <p:cNvGrpSpPr/>
          <p:nvPr/>
        </p:nvGrpSpPr>
        <p:grpSpPr>
          <a:xfrm>
            <a:off x="9832" y="-4010"/>
            <a:ext cx="12192000" cy="6858000"/>
            <a:chOff x="0" y="0"/>
            <a:chExt cx="12192000" cy="6858000"/>
          </a:xfrm>
        </p:grpSpPr>
        <p:pic>
          <p:nvPicPr>
            <p:cNvPr id="11" name="Picture 10">
              <a:extLst>
                <a:ext uri="{FF2B5EF4-FFF2-40B4-BE49-F238E27FC236}">
                  <a16:creationId xmlns:a16="http://schemas.microsoft.com/office/drawing/2014/main" id="{DF8ED4DC-655F-DE25-B606-A621705E208F}"/>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9B24266C-14B2-4BEA-D175-2750C31BA095}"/>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0809AF5E-60D2-51EA-A7AB-F133704BB495}"/>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6E4A4406-CF99-C056-DE31-AA8DE4419986}"/>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03920ED5-A17A-168C-66DF-9909DC393563}"/>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4FC822B9-24F3-7053-48C2-87CEF3E38698}"/>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12578171-02E4-4E1D-AFB0-B1E11C582A17}"/>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F6C027C5-286B-1F6D-0AF4-BB1B8EF264E0}"/>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6FE10EC4-7287-90CE-1EE2-9A2F83DB7A49}"/>
              </a:ext>
            </a:extLst>
          </p:cNvPr>
          <p:cNvSpPr txBox="1"/>
          <p:nvPr/>
        </p:nvSpPr>
        <p:spPr>
          <a:xfrm>
            <a:off x="995025" y="142576"/>
            <a:ext cx="10099154" cy="646331"/>
          </a:xfrm>
          <a:prstGeom prst="rect">
            <a:avLst/>
          </a:prstGeom>
          <a:noFill/>
        </p:spPr>
        <p:txBody>
          <a:bodyPr wrap="square">
            <a:spAutoFit/>
          </a:bodyPr>
          <a:lstStyle/>
          <a:p>
            <a:r>
              <a:rPr lang="es-ES" sz="3600" b="1" dirty="0">
                <a:solidFill>
                  <a:schemeClr val="bg1"/>
                </a:solidFill>
                <a:latin typeface="system-ui"/>
              </a:rPr>
              <a:t>Modelos y Ajuste de </a:t>
            </a:r>
            <a:r>
              <a:rPr lang="es-ES" sz="3600" b="1" dirty="0" err="1">
                <a:solidFill>
                  <a:schemeClr val="bg1"/>
                </a:solidFill>
                <a:latin typeface="system-ui"/>
              </a:rPr>
              <a:t>hiperparámetros</a:t>
            </a:r>
            <a:endParaRPr lang="en-US" sz="3600" dirty="0">
              <a:solidFill>
                <a:schemeClr val="bg1"/>
              </a:solidFill>
            </a:endParaRPr>
          </a:p>
        </p:txBody>
      </p:sp>
      <p:sp>
        <p:nvSpPr>
          <p:cNvPr id="7" name="Rectangle 6">
            <a:extLst>
              <a:ext uri="{FF2B5EF4-FFF2-40B4-BE49-F238E27FC236}">
                <a16:creationId xmlns:a16="http://schemas.microsoft.com/office/drawing/2014/main" id="{CE2BC2CE-0376-E71A-B324-013E7A71F91F}"/>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F2E48A70-3359-705A-340A-38FB9AC1ABFF}"/>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21974105-8E82-97D3-C819-28526F06EFF8}"/>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0BA7EDC8-588C-F30F-901B-39D411F7B82A}"/>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5" name="TextBox 4">
            <a:extLst>
              <a:ext uri="{FF2B5EF4-FFF2-40B4-BE49-F238E27FC236}">
                <a16:creationId xmlns:a16="http://schemas.microsoft.com/office/drawing/2014/main" id="{308B6C40-B8BC-0A81-4C8A-97EC67D6CD1A}"/>
              </a:ext>
            </a:extLst>
          </p:cNvPr>
          <p:cNvSpPr txBox="1"/>
          <p:nvPr/>
        </p:nvSpPr>
        <p:spPr>
          <a:xfrm>
            <a:off x="703006" y="1507804"/>
            <a:ext cx="10805651" cy="369332"/>
          </a:xfrm>
          <a:prstGeom prst="rect">
            <a:avLst/>
          </a:prstGeom>
          <a:noFill/>
        </p:spPr>
        <p:txBody>
          <a:bodyPr wrap="square">
            <a:spAutoFit/>
          </a:bodyPr>
          <a:lstStyle/>
          <a:p>
            <a:r>
              <a:rPr lang="es-ES" dirty="0">
                <a:solidFill>
                  <a:srgbClr val="A8B3C7"/>
                </a:solidFill>
                <a:latin typeface="system-ui"/>
              </a:rPr>
              <a:t>Aplicando </a:t>
            </a:r>
            <a:r>
              <a:rPr lang="es-ES" dirty="0" err="1">
                <a:solidFill>
                  <a:srgbClr val="A8B3C7"/>
                </a:solidFill>
                <a:latin typeface="system-ui"/>
              </a:rPr>
              <a:t>GridSearch</a:t>
            </a:r>
            <a:r>
              <a:rPr lang="es-ES" dirty="0">
                <a:solidFill>
                  <a:srgbClr val="A8B3C7"/>
                </a:solidFill>
                <a:latin typeface="system-ui"/>
              </a:rPr>
              <a:t> dentro de un pipeline se ajustaron los </a:t>
            </a:r>
            <a:r>
              <a:rPr lang="es-ES" dirty="0" err="1">
                <a:solidFill>
                  <a:srgbClr val="A8B3C7"/>
                </a:solidFill>
                <a:latin typeface="system-ui"/>
              </a:rPr>
              <a:t>hiperparametros</a:t>
            </a:r>
            <a:r>
              <a:rPr lang="es-ES" dirty="0">
                <a:solidFill>
                  <a:srgbClr val="A8B3C7"/>
                </a:solidFill>
                <a:latin typeface="system-ui"/>
              </a:rPr>
              <a:t> de cada modelo:</a:t>
            </a:r>
            <a:endParaRPr lang="en-US" dirty="0"/>
          </a:p>
        </p:txBody>
      </p:sp>
      <p:sp>
        <p:nvSpPr>
          <p:cNvPr id="2" name="TextBox 1">
            <a:extLst>
              <a:ext uri="{FF2B5EF4-FFF2-40B4-BE49-F238E27FC236}">
                <a16:creationId xmlns:a16="http://schemas.microsoft.com/office/drawing/2014/main" id="{C77C99F7-49B1-1A0B-E85B-D2D005AA798B}"/>
              </a:ext>
            </a:extLst>
          </p:cNvPr>
          <p:cNvSpPr txBox="1"/>
          <p:nvPr/>
        </p:nvSpPr>
        <p:spPr>
          <a:xfrm>
            <a:off x="629265" y="2673170"/>
            <a:ext cx="3491445" cy="1634490"/>
          </a:xfrm>
          <a:prstGeom prst="roundRect">
            <a:avLst/>
          </a:prstGeom>
          <a:noFill/>
          <a:ln w="3175">
            <a:solidFill>
              <a:srgbClr val="5DFDCB"/>
            </a:solidFill>
          </a:ln>
        </p:spPr>
        <p:txBody>
          <a:bodyPr wrap="square">
            <a:spAutoFit/>
          </a:bodyPr>
          <a:lstStyle/>
          <a:p>
            <a:r>
              <a:rPr lang="es-ES" b="1" dirty="0" err="1">
                <a:solidFill>
                  <a:srgbClr val="A8B3C7"/>
                </a:solidFill>
                <a:latin typeface="system-ui"/>
              </a:rPr>
              <a:t>Gradient</a:t>
            </a:r>
            <a:r>
              <a:rPr lang="es-ES" b="1" dirty="0">
                <a:solidFill>
                  <a:srgbClr val="A8B3C7"/>
                </a:solidFill>
                <a:latin typeface="system-ui"/>
              </a:rPr>
              <a:t> </a:t>
            </a:r>
            <a:r>
              <a:rPr lang="es-ES" b="1" dirty="0" err="1">
                <a:solidFill>
                  <a:srgbClr val="A8B3C7"/>
                </a:solidFill>
                <a:latin typeface="system-ui"/>
              </a:rPr>
              <a:t>Boosting</a:t>
            </a:r>
            <a:endParaRPr lang="es-ES" b="1" dirty="0">
              <a:solidFill>
                <a:srgbClr val="A8B3C7"/>
              </a:solidFill>
              <a:latin typeface="system-ui"/>
            </a:endParaRPr>
          </a:p>
          <a:p>
            <a:endParaRPr lang="es-ES" dirty="0">
              <a:solidFill>
                <a:srgbClr val="A8B3C7"/>
              </a:solidFill>
              <a:latin typeface="system-ui"/>
            </a:endParaRPr>
          </a:p>
          <a:p>
            <a:pPr marL="285750" indent="-285750">
              <a:buFont typeface="Arial" panose="020B0604020202020204" pitchFamily="34" charset="0"/>
              <a:buChar char="•"/>
            </a:pPr>
            <a:r>
              <a:rPr lang="es-ES" dirty="0">
                <a:solidFill>
                  <a:srgbClr val="A8B3C7"/>
                </a:solidFill>
                <a:latin typeface="system-ui"/>
              </a:rPr>
              <a:t>N </a:t>
            </a:r>
            <a:r>
              <a:rPr lang="es-ES" dirty="0" err="1">
                <a:solidFill>
                  <a:srgbClr val="A8B3C7"/>
                </a:solidFill>
                <a:latin typeface="system-ui"/>
              </a:rPr>
              <a:t>Estimators</a:t>
            </a:r>
            <a:r>
              <a:rPr lang="es-ES" dirty="0">
                <a:solidFill>
                  <a:srgbClr val="A8B3C7"/>
                </a:solidFill>
                <a:latin typeface="system-ui"/>
              </a:rPr>
              <a:t>: </a:t>
            </a:r>
            <a:r>
              <a:rPr lang="es-ES" dirty="0">
                <a:solidFill>
                  <a:srgbClr val="5DFDCB"/>
                </a:solidFill>
                <a:latin typeface="system-ui"/>
              </a:rPr>
              <a:t>500</a:t>
            </a:r>
            <a:r>
              <a:rPr lang="es-ES" dirty="0">
                <a:solidFill>
                  <a:srgbClr val="A8B3C7"/>
                </a:solidFill>
                <a:latin typeface="system-ui"/>
              </a:rPr>
              <a:t> y 1000</a:t>
            </a:r>
          </a:p>
          <a:p>
            <a:pPr marL="285750" indent="-285750">
              <a:buFont typeface="Arial" panose="020B0604020202020204" pitchFamily="34" charset="0"/>
              <a:buChar char="•"/>
            </a:pPr>
            <a:r>
              <a:rPr lang="es-ES" dirty="0" err="1">
                <a:solidFill>
                  <a:srgbClr val="A8B3C7"/>
                </a:solidFill>
                <a:latin typeface="system-ui"/>
              </a:rPr>
              <a:t>Learning</a:t>
            </a:r>
            <a:r>
              <a:rPr lang="es-ES" dirty="0">
                <a:solidFill>
                  <a:srgbClr val="A8B3C7"/>
                </a:solidFill>
                <a:latin typeface="system-ui"/>
              </a:rPr>
              <a:t> </a:t>
            </a:r>
            <a:r>
              <a:rPr lang="es-ES" dirty="0" err="1">
                <a:solidFill>
                  <a:srgbClr val="A8B3C7"/>
                </a:solidFill>
                <a:latin typeface="system-ui"/>
              </a:rPr>
              <a:t>rate</a:t>
            </a:r>
            <a:r>
              <a:rPr lang="es-ES" dirty="0">
                <a:solidFill>
                  <a:srgbClr val="A8B3C7"/>
                </a:solidFill>
                <a:latin typeface="system-ui"/>
              </a:rPr>
              <a:t>: 0.01, </a:t>
            </a:r>
            <a:r>
              <a:rPr lang="es-ES" dirty="0">
                <a:solidFill>
                  <a:srgbClr val="5DFDCB"/>
                </a:solidFill>
                <a:latin typeface="system-ui"/>
              </a:rPr>
              <a:t>0.05</a:t>
            </a:r>
            <a:r>
              <a:rPr lang="es-ES" dirty="0">
                <a:solidFill>
                  <a:srgbClr val="A8B3C7"/>
                </a:solidFill>
                <a:latin typeface="system-ui"/>
              </a:rPr>
              <a:t> y 0.1</a:t>
            </a:r>
          </a:p>
          <a:p>
            <a:pPr marL="285750" indent="-285750">
              <a:buFont typeface="Arial" panose="020B0604020202020204" pitchFamily="34" charset="0"/>
              <a:buChar char="•"/>
            </a:pPr>
            <a:r>
              <a:rPr lang="es-ES" dirty="0">
                <a:solidFill>
                  <a:srgbClr val="A8B3C7"/>
                </a:solidFill>
                <a:latin typeface="system-ui"/>
              </a:rPr>
              <a:t>Max. </a:t>
            </a:r>
            <a:r>
              <a:rPr lang="es-ES" dirty="0" err="1">
                <a:solidFill>
                  <a:srgbClr val="A8B3C7"/>
                </a:solidFill>
                <a:latin typeface="system-ui"/>
              </a:rPr>
              <a:t>depth</a:t>
            </a:r>
            <a:r>
              <a:rPr lang="es-ES" dirty="0">
                <a:solidFill>
                  <a:srgbClr val="A8B3C7"/>
                </a:solidFill>
                <a:latin typeface="system-ui"/>
              </a:rPr>
              <a:t>: </a:t>
            </a:r>
            <a:r>
              <a:rPr lang="es-ES" dirty="0">
                <a:solidFill>
                  <a:srgbClr val="5DFDCB"/>
                </a:solidFill>
                <a:latin typeface="system-ui"/>
              </a:rPr>
              <a:t>5</a:t>
            </a:r>
            <a:r>
              <a:rPr lang="es-ES" dirty="0">
                <a:solidFill>
                  <a:srgbClr val="A8B3C7"/>
                </a:solidFill>
                <a:latin typeface="system-ui"/>
              </a:rPr>
              <a:t> y 10</a:t>
            </a:r>
          </a:p>
        </p:txBody>
      </p:sp>
      <p:sp>
        <p:nvSpPr>
          <p:cNvPr id="6" name="TextBox 5">
            <a:extLst>
              <a:ext uri="{FF2B5EF4-FFF2-40B4-BE49-F238E27FC236}">
                <a16:creationId xmlns:a16="http://schemas.microsoft.com/office/drawing/2014/main" id="{DDB5C729-7DA7-12D8-E1D0-73D0D6C614CD}"/>
              </a:ext>
            </a:extLst>
          </p:cNvPr>
          <p:cNvSpPr txBox="1"/>
          <p:nvPr/>
        </p:nvSpPr>
        <p:spPr>
          <a:xfrm>
            <a:off x="4555206" y="2673170"/>
            <a:ext cx="3333986" cy="2247424"/>
          </a:xfrm>
          <a:prstGeom prst="roundRect">
            <a:avLst/>
          </a:prstGeom>
          <a:noFill/>
          <a:ln w="3175">
            <a:solidFill>
              <a:srgbClr val="5DFDCB"/>
            </a:solidFill>
          </a:ln>
        </p:spPr>
        <p:txBody>
          <a:bodyPr wrap="square">
            <a:spAutoFit/>
          </a:bodyPr>
          <a:lstStyle/>
          <a:p>
            <a:r>
              <a:rPr lang="es-ES" b="1" dirty="0">
                <a:solidFill>
                  <a:srgbClr val="A8B3C7"/>
                </a:solidFill>
                <a:latin typeface="system-ui"/>
              </a:rPr>
              <a:t>Support Vector </a:t>
            </a:r>
            <a:r>
              <a:rPr lang="es-ES" b="1" dirty="0" err="1">
                <a:solidFill>
                  <a:srgbClr val="A8B3C7"/>
                </a:solidFill>
                <a:latin typeface="system-ui"/>
              </a:rPr>
              <a:t>Regressor</a:t>
            </a:r>
            <a:endParaRPr lang="es-ES" b="1" dirty="0">
              <a:solidFill>
                <a:srgbClr val="A8B3C7"/>
              </a:solidFill>
              <a:latin typeface="system-ui"/>
            </a:endParaRPr>
          </a:p>
          <a:p>
            <a:endParaRPr lang="es-ES" dirty="0">
              <a:solidFill>
                <a:srgbClr val="A8B3C7"/>
              </a:solidFill>
              <a:latin typeface="system-ui"/>
            </a:endParaRPr>
          </a:p>
          <a:p>
            <a:pPr marL="285750" indent="-285750">
              <a:buFont typeface="Arial" panose="020B0604020202020204" pitchFamily="34" charset="0"/>
              <a:buChar char="•"/>
            </a:pPr>
            <a:r>
              <a:rPr lang="es-ES" dirty="0" err="1">
                <a:solidFill>
                  <a:srgbClr val="A8B3C7"/>
                </a:solidFill>
                <a:latin typeface="system-ui"/>
              </a:rPr>
              <a:t>Kernels</a:t>
            </a:r>
            <a:r>
              <a:rPr lang="es-ES" dirty="0">
                <a:solidFill>
                  <a:srgbClr val="A8B3C7"/>
                </a:solidFill>
                <a:latin typeface="system-ui"/>
              </a:rPr>
              <a:t>: </a:t>
            </a:r>
            <a:r>
              <a:rPr lang="es-ES" dirty="0">
                <a:solidFill>
                  <a:srgbClr val="5DFDCB"/>
                </a:solidFill>
                <a:latin typeface="system-ui"/>
              </a:rPr>
              <a:t>RBF</a:t>
            </a:r>
            <a:r>
              <a:rPr lang="es-ES" dirty="0">
                <a:solidFill>
                  <a:srgbClr val="A8B3C7"/>
                </a:solidFill>
                <a:latin typeface="system-ui"/>
              </a:rPr>
              <a:t>, Linear, </a:t>
            </a:r>
            <a:r>
              <a:rPr lang="es-ES" dirty="0" err="1">
                <a:solidFill>
                  <a:srgbClr val="A8B3C7"/>
                </a:solidFill>
                <a:latin typeface="system-ui"/>
              </a:rPr>
              <a:t>Poly</a:t>
            </a:r>
            <a:r>
              <a:rPr lang="es-ES" dirty="0">
                <a:solidFill>
                  <a:srgbClr val="A8B3C7"/>
                </a:solidFill>
                <a:latin typeface="system-ui"/>
              </a:rPr>
              <a:t> y </a:t>
            </a:r>
            <a:r>
              <a:rPr lang="es-ES" dirty="0" err="1">
                <a:solidFill>
                  <a:srgbClr val="A8B3C7"/>
                </a:solidFill>
                <a:latin typeface="system-ui"/>
              </a:rPr>
              <a:t>Sigmoid</a:t>
            </a:r>
            <a:endParaRPr lang="es-ES" dirty="0">
              <a:solidFill>
                <a:srgbClr val="A8B3C7"/>
              </a:solidFill>
              <a:latin typeface="system-ui"/>
            </a:endParaRPr>
          </a:p>
          <a:p>
            <a:pPr marL="285750" indent="-285750">
              <a:buFont typeface="Arial" panose="020B0604020202020204" pitchFamily="34" charset="0"/>
              <a:buChar char="•"/>
            </a:pPr>
            <a:r>
              <a:rPr lang="es-ES" dirty="0">
                <a:solidFill>
                  <a:srgbClr val="A8B3C7"/>
                </a:solidFill>
                <a:latin typeface="system-ui"/>
              </a:rPr>
              <a:t>C: 5, 10 y </a:t>
            </a:r>
            <a:r>
              <a:rPr lang="es-ES" dirty="0">
                <a:solidFill>
                  <a:srgbClr val="5DFDCB"/>
                </a:solidFill>
                <a:latin typeface="system-ui"/>
              </a:rPr>
              <a:t>100</a:t>
            </a:r>
          </a:p>
          <a:p>
            <a:pPr marL="285750" indent="-285750">
              <a:buFont typeface="Arial" panose="020B0604020202020204" pitchFamily="34" charset="0"/>
              <a:buChar char="•"/>
            </a:pPr>
            <a:r>
              <a:rPr lang="es-ES" dirty="0" err="1">
                <a:solidFill>
                  <a:srgbClr val="A8B3C7"/>
                </a:solidFill>
                <a:latin typeface="system-ui"/>
              </a:rPr>
              <a:t>Epsilon</a:t>
            </a:r>
            <a:r>
              <a:rPr lang="es-ES" dirty="0">
                <a:solidFill>
                  <a:srgbClr val="A8B3C7"/>
                </a:solidFill>
                <a:latin typeface="system-ui"/>
              </a:rPr>
              <a:t>: </a:t>
            </a:r>
            <a:r>
              <a:rPr lang="es-ES" dirty="0">
                <a:solidFill>
                  <a:srgbClr val="5DFDCB"/>
                </a:solidFill>
                <a:latin typeface="system-ui"/>
              </a:rPr>
              <a:t>0.01</a:t>
            </a:r>
            <a:r>
              <a:rPr lang="es-ES" dirty="0">
                <a:solidFill>
                  <a:srgbClr val="A8B3C7"/>
                </a:solidFill>
                <a:latin typeface="system-ui"/>
              </a:rPr>
              <a:t>, 0.1 y 0.5</a:t>
            </a:r>
          </a:p>
          <a:p>
            <a:pPr marL="285750" indent="-285750">
              <a:buFont typeface="Arial" panose="020B0604020202020204" pitchFamily="34" charset="0"/>
              <a:buChar char="•"/>
            </a:pPr>
            <a:r>
              <a:rPr lang="es-ES" dirty="0">
                <a:solidFill>
                  <a:srgbClr val="A8B3C7"/>
                </a:solidFill>
                <a:latin typeface="system-ui"/>
              </a:rPr>
              <a:t>Gamma: 0.01, </a:t>
            </a:r>
            <a:r>
              <a:rPr lang="es-ES" dirty="0">
                <a:solidFill>
                  <a:srgbClr val="5DFDCB"/>
                </a:solidFill>
                <a:latin typeface="system-ui"/>
              </a:rPr>
              <a:t>0.1</a:t>
            </a:r>
            <a:r>
              <a:rPr lang="es-ES" dirty="0">
                <a:solidFill>
                  <a:srgbClr val="A8B3C7"/>
                </a:solidFill>
                <a:latin typeface="system-ui"/>
              </a:rPr>
              <a:t> y 0.5</a:t>
            </a:r>
          </a:p>
        </p:txBody>
      </p:sp>
      <p:sp>
        <p:nvSpPr>
          <p:cNvPr id="8" name="TextBox 7">
            <a:extLst>
              <a:ext uri="{FF2B5EF4-FFF2-40B4-BE49-F238E27FC236}">
                <a16:creationId xmlns:a16="http://schemas.microsoft.com/office/drawing/2014/main" id="{48E35D70-99A6-4B32-0468-7D46D38ADBD4}"/>
              </a:ext>
            </a:extLst>
          </p:cNvPr>
          <p:cNvSpPr txBox="1"/>
          <p:nvPr/>
        </p:nvSpPr>
        <p:spPr>
          <a:xfrm>
            <a:off x="8355635" y="2673170"/>
            <a:ext cx="3333986" cy="2247424"/>
          </a:xfrm>
          <a:prstGeom prst="roundRect">
            <a:avLst/>
          </a:prstGeom>
          <a:noFill/>
          <a:ln w="3175">
            <a:solidFill>
              <a:srgbClr val="5DFDCB"/>
            </a:solidFill>
          </a:ln>
        </p:spPr>
        <p:txBody>
          <a:bodyPr wrap="square">
            <a:spAutoFit/>
          </a:bodyPr>
          <a:lstStyle/>
          <a:p>
            <a:r>
              <a:rPr lang="es-ES" b="1" dirty="0">
                <a:solidFill>
                  <a:srgbClr val="A8B3C7"/>
                </a:solidFill>
                <a:latin typeface="system-ui"/>
              </a:rPr>
              <a:t>Red Neuronal</a:t>
            </a:r>
          </a:p>
          <a:p>
            <a:endParaRPr lang="es-ES" dirty="0">
              <a:solidFill>
                <a:srgbClr val="A8B3C7"/>
              </a:solidFill>
              <a:latin typeface="system-ui"/>
            </a:endParaRPr>
          </a:p>
          <a:p>
            <a:pPr marL="285750" indent="-285750">
              <a:buFont typeface="Arial" panose="020B0604020202020204" pitchFamily="34" charset="0"/>
              <a:buChar char="•"/>
            </a:pPr>
            <a:r>
              <a:rPr lang="es-ES" dirty="0">
                <a:solidFill>
                  <a:srgbClr val="A8B3C7"/>
                </a:solidFill>
                <a:latin typeface="system-ui"/>
              </a:rPr>
              <a:t>Neuronas: 32, 64 y </a:t>
            </a:r>
            <a:r>
              <a:rPr lang="es-ES" dirty="0">
                <a:solidFill>
                  <a:srgbClr val="5DFDCB"/>
                </a:solidFill>
                <a:latin typeface="system-ui"/>
              </a:rPr>
              <a:t>128</a:t>
            </a:r>
          </a:p>
          <a:p>
            <a:pPr marL="285750" indent="-285750">
              <a:buFont typeface="Arial" panose="020B0604020202020204" pitchFamily="34" charset="0"/>
              <a:buChar char="•"/>
            </a:pPr>
            <a:r>
              <a:rPr lang="es-ES" dirty="0">
                <a:solidFill>
                  <a:srgbClr val="A8B3C7"/>
                </a:solidFill>
                <a:latin typeface="system-ui"/>
              </a:rPr>
              <a:t>Activación: </a:t>
            </a:r>
            <a:r>
              <a:rPr lang="es-ES" dirty="0" err="1">
                <a:solidFill>
                  <a:srgbClr val="5DFDCB"/>
                </a:solidFill>
                <a:latin typeface="system-ui"/>
              </a:rPr>
              <a:t>relu</a:t>
            </a:r>
            <a:endParaRPr lang="es-ES" dirty="0">
              <a:solidFill>
                <a:srgbClr val="5DFDCB"/>
              </a:solidFill>
              <a:latin typeface="system-ui"/>
            </a:endParaRPr>
          </a:p>
          <a:p>
            <a:pPr marL="285750" indent="-285750">
              <a:buFont typeface="Arial" panose="020B0604020202020204" pitchFamily="34" charset="0"/>
              <a:buChar char="•"/>
            </a:pPr>
            <a:r>
              <a:rPr lang="es-ES" dirty="0" err="1">
                <a:solidFill>
                  <a:srgbClr val="A8B3C7"/>
                </a:solidFill>
                <a:latin typeface="system-ui"/>
              </a:rPr>
              <a:t>Optimizer</a:t>
            </a:r>
            <a:r>
              <a:rPr lang="es-ES" dirty="0">
                <a:solidFill>
                  <a:srgbClr val="A8B3C7"/>
                </a:solidFill>
                <a:latin typeface="system-ui"/>
              </a:rPr>
              <a:t>: </a:t>
            </a:r>
            <a:r>
              <a:rPr lang="es-ES" dirty="0" err="1">
                <a:solidFill>
                  <a:srgbClr val="5DFDCB"/>
                </a:solidFill>
                <a:latin typeface="system-ui"/>
              </a:rPr>
              <a:t>adam</a:t>
            </a:r>
            <a:endParaRPr lang="es-ES" dirty="0">
              <a:solidFill>
                <a:srgbClr val="5DFDCB"/>
              </a:solidFill>
              <a:latin typeface="system-ui"/>
            </a:endParaRPr>
          </a:p>
          <a:p>
            <a:pPr marL="285750" indent="-285750">
              <a:buFont typeface="Arial" panose="020B0604020202020204" pitchFamily="34" charset="0"/>
              <a:buChar char="•"/>
            </a:pPr>
            <a:r>
              <a:rPr lang="es-ES" dirty="0" err="1">
                <a:solidFill>
                  <a:srgbClr val="A8B3C7"/>
                </a:solidFill>
                <a:latin typeface="system-ui"/>
              </a:rPr>
              <a:t>Epochs</a:t>
            </a:r>
            <a:r>
              <a:rPr lang="es-ES" dirty="0">
                <a:solidFill>
                  <a:srgbClr val="A8B3C7"/>
                </a:solidFill>
                <a:latin typeface="system-ui"/>
              </a:rPr>
              <a:t>: 200 y </a:t>
            </a:r>
            <a:r>
              <a:rPr lang="es-ES" dirty="0">
                <a:solidFill>
                  <a:srgbClr val="5DFDCB"/>
                </a:solidFill>
                <a:latin typeface="system-ui"/>
              </a:rPr>
              <a:t>500</a:t>
            </a:r>
          </a:p>
          <a:p>
            <a:pPr marL="285750" indent="-285750">
              <a:buFont typeface="Arial" panose="020B0604020202020204" pitchFamily="34" charset="0"/>
              <a:buChar char="•"/>
            </a:pPr>
            <a:r>
              <a:rPr lang="es-ES" dirty="0" err="1">
                <a:solidFill>
                  <a:srgbClr val="A8B3C7"/>
                </a:solidFill>
                <a:latin typeface="system-ui"/>
              </a:rPr>
              <a:t>Batch</a:t>
            </a:r>
            <a:r>
              <a:rPr lang="es-ES" dirty="0">
                <a:solidFill>
                  <a:srgbClr val="A8B3C7"/>
                </a:solidFill>
                <a:latin typeface="system-ui"/>
              </a:rPr>
              <a:t> </a:t>
            </a:r>
            <a:r>
              <a:rPr lang="es-ES" dirty="0" err="1">
                <a:solidFill>
                  <a:srgbClr val="A8B3C7"/>
                </a:solidFill>
                <a:latin typeface="system-ui"/>
              </a:rPr>
              <a:t>size</a:t>
            </a:r>
            <a:r>
              <a:rPr lang="es-ES" dirty="0">
                <a:solidFill>
                  <a:srgbClr val="A8B3C7"/>
                </a:solidFill>
                <a:latin typeface="system-ui"/>
              </a:rPr>
              <a:t>: </a:t>
            </a:r>
            <a:r>
              <a:rPr lang="es-ES" dirty="0">
                <a:solidFill>
                  <a:srgbClr val="5DFDCB"/>
                </a:solidFill>
                <a:latin typeface="system-ui"/>
              </a:rPr>
              <a:t>10</a:t>
            </a:r>
            <a:r>
              <a:rPr lang="es-ES" dirty="0">
                <a:solidFill>
                  <a:srgbClr val="A8B3C7"/>
                </a:solidFill>
                <a:latin typeface="system-ui"/>
              </a:rPr>
              <a:t> y 20</a:t>
            </a:r>
          </a:p>
        </p:txBody>
      </p:sp>
    </p:spTree>
    <p:extLst>
      <p:ext uri="{BB962C8B-B14F-4D97-AF65-F5344CB8AC3E}">
        <p14:creationId xmlns:p14="http://schemas.microsoft.com/office/powerpoint/2010/main" val="3919402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907E6-60F7-130E-0D3C-703EB52F40EA}"/>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B61C9599-88ED-AEA4-1B41-0F8667F010AF}"/>
              </a:ext>
            </a:extLst>
          </p:cNvPr>
          <p:cNvGrpSpPr/>
          <p:nvPr/>
        </p:nvGrpSpPr>
        <p:grpSpPr>
          <a:xfrm>
            <a:off x="9832" y="-4010"/>
            <a:ext cx="12192000" cy="6858000"/>
            <a:chOff x="0" y="0"/>
            <a:chExt cx="12192000" cy="6858000"/>
          </a:xfrm>
        </p:grpSpPr>
        <p:pic>
          <p:nvPicPr>
            <p:cNvPr id="11" name="Picture 10">
              <a:extLst>
                <a:ext uri="{FF2B5EF4-FFF2-40B4-BE49-F238E27FC236}">
                  <a16:creationId xmlns:a16="http://schemas.microsoft.com/office/drawing/2014/main" id="{7FB87552-F0D6-E34F-BA2F-E21C26A89798}"/>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83923C8F-2DD3-21C9-775A-56D1A55B9844}"/>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DB46AB2A-C56C-4AA0-1AE5-902D820240E3}"/>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3E20121A-944C-D005-9F2C-8C60B5191C5D}"/>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25AC0A19-2289-7B59-0FD3-9E406AAF5F70}"/>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CFD14805-8B89-6C9F-71D5-A59A12E93D51}"/>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2F570EDF-EC73-21AE-6FAA-D227ADA08EA6}"/>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D3B4CE20-A360-6CCC-101C-34AECAFF6CA2}"/>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1FF64345-CD30-A95D-6DED-56B4EA6E9EC5}"/>
              </a:ext>
            </a:extLst>
          </p:cNvPr>
          <p:cNvSpPr txBox="1"/>
          <p:nvPr/>
        </p:nvSpPr>
        <p:spPr>
          <a:xfrm>
            <a:off x="995025" y="142576"/>
            <a:ext cx="10099154" cy="646331"/>
          </a:xfrm>
          <a:prstGeom prst="rect">
            <a:avLst/>
          </a:prstGeom>
          <a:noFill/>
        </p:spPr>
        <p:txBody>
          <a:bodyPr wrap="square">
            <a:spAutoFit/>
          </a:bodyPr>
          <a:lstStyle/>
          <a:p>
            <a:r>
              <a:rPr lang="es-ES" sz="3600" b="1" dirty="0">
                <a:solidFill>
                  <a:schemeClr val="bg1"/>
                </a:solidFill>
                <a:latin typeface="system-ui"/>
              </a:rPr>
              <a:t>Resultados y modelo elegido</a:t>
            </a:r>
            <a:endParaRPr lang="en-US" sz="3600" dirty="0">
              <a:solidFill>
                <a:schemeClr val="bg1"/>
              </a:solidFill>
            </a:endParaRPr>
          </a:p>
        </p:txBody>
      </p:sp>
      <p:sp>
        <p:nvSpPr>
          <p:cNvPr id="7" name="Rectangle 6">
            <a:extLst>
              <a:ext uri="{FF2B5EF4-FFF2-40B4-BE49-F238E27FC236}">
                <a16:creationId xmlns:a16="http://schemas.microsoft.com/office/drawing/2014/main" id="{717AD802-0E9F-672C-B407-1D8B874DE513}"/>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2C595150-381D-03F0-2D12-7253369B6CAF}"/>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D82A1E55-A662-0821-511A-8CBDFCB9A0B3}"/>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46ABDD7F-6E7A-D55A-CB6A-8C7867643213}"/>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pic>
        <p:nvPicPr>
          <p:cNvPr id="6" name="Picture 5">
            <a:extLst>
              <a:ext uri="{FF2B5EF4-FFF2-40B4-BE49-F238E27FC236}">
                <a16:creationId xmlns:a16="http://schemas.microsoft.com/office/drawing/2014/main" id="{881F4F5A-6CD5-5E3A-CD74-D85B8C241AAD}"/>
              </a:ext>
            </a:extLst>
          </p:cNvPr>
          <p:cNvPicPr>
            <a:picLocks noChangeAspect="1"/>
          </p:cNvPicPr>
          <p:nvPr/>
        </p:nvPicPr>
        <p:blipFill>
          <a:blip r:embed="rId4"/>
          <a:stretch>
            <a:fillRect/>
          </a:stretch>
        </p:blipFill>
        <p:spPr>
          <a:xfrm>
            <a:off x="629265" y="915647"/>
            <a:ext cx="10722506" cy="3529154"/>
          </a:xfrm>
          <a:prstGeom prst="rect">
            <a:avLst/>
          </a:prstGeom>
        </p:spPr>
      </p:pic>
      <p:pic>
        <p:nvPicPr>
          <p:cNvPr id="9" name="Picture 8">
            <a:extLst>
              <a:ext uri="{FF2B5EF4-FFF2-40B4-BE49-F238E27FC236}">
                <a16:creationId xmlns:a16="http://schemas.microsoft.com/office/drawing/2014/main" id="{BB43970D-664D-C802-6325-651103A0AE7F}"/>
              </a:ext>
            </a:extLst>
          </p:cNvPr>
          <p:cNvPicPr>
            <a:picLocks noChangeAspect="1"/>
          </p:cNvPicPr>
          <p:nvPr/>
        </p:nvPicPr>
        <p:blipFill>
          <a:blip r:embed="rId5"/>
          <a:srcRect l="2472" t="20860" r="1749" b="21606"/>
          <a:stretch>
            <a:fillRect/>
          </a:stretch>
        </p:blipFill>
        <p:spPr>
          <a:xfrm>
            <a:off x="859893" y="4649295"/>
            <a:ext cx="9954451" cy="1642816"/>
          </a:xfrm>
          <a:prstGeom prst="rect">
            <a:avLst/>
          </a:prstGeom>
        </p:spPr>
      </p:pic>
    </p:spTree>
    <p:extLst>
      <p:ext uri="{BB962C8B-B14F-4D97-AF65-F5344CB8AC3E}">
        <p14:creationId xmlns:p14="http://schemas.microsoft.com/office/powerpoint/2010/main" val="3557565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17906-4B93-8781-68CE-F5C11AD3C821}"/>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0FEB0B07-BEFB-A188-E72A-BC4B2C973620}"/>
              </a:ext>
            </a:extLst>
          </p:cNvPr>
          <p:cNvGrpSpPr/>
          <p:nvPr/>
        </p:nvGrpSpPr>
        <p:grpSpPr>
          <a:xfrm>
            <a:off x="9832" y="-4010"/>
            <a:ext cx="12192000" cy="6862010"/>
            <a:chOff x="0" y="0"/>
            <a:chExt cx="12192000" cy="6858000"/>
          </a:xfrm>
        </p:grpSpPr>
        <p:pic>
          <p:nvPicPr>
            <p:cNvPr id="11" name="Picture 10">
              <a:extLst>
                <a:ext uri="{FF2B5EF4-FFF2-40B4-BE49-F238E27FC236}">
                  <a16:creationId xmlns:a16="http://schemas.microsoft.com/office/drawing/2014/main" id="{5093D7B6-2A0A-806E-E7EA-FE2D3A939E1A}"/>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087F2F27-D6E2-0C03-EE63-0708FBB2EDF4}"/>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3618D639-36CE-0407-9C5C-75A4BCD459E9}"/>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A56E9310-1006-2C55-6962-C421C724C96E}"/>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F8E8552A-607E-1E70-0EBE-3EC1B170ABF4}"/>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31928F57-E519-3449-D87B-51372747EAFF}"/>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4132F5A4-4F17-C932-91B4-709D115D70C0}"/>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DD3C2BC1-2470-B323-D757-4494760BB3A4}"/>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996EE3D1-0520-0D91-C450-67D395AC6048}"/>
              </a:ext>
            </a:extLst>
          </p:cNvPr>
          <p:cNvSpPr txBox="1"/>
          <p:nvPr/>
        </p:nvSpPr>
        <p:spPr>
          <a:xfrm>
            <a:off x="995025" y="142576"/>
            <a:ext cx="10099154" cy="646331"/>
          </a:xfrm>
          <a:prstGeom prst="rect">
            <a:avLst/>
          </a:prstGeom>
          <a:noFill/>
        </p:spPr>
        <p:txBody>
          <a:bodyPr wrap="square">
            <a:spAutoFit/>
          </a:bodyPr>
          <a:lstStyle/>
          <a:p>
            <a:r>
              <a:rPr lang="es-ES" sz="3600" b="1" dirty="0">
                <a:solidFill>
                  <a:schemeClr val="bg1"/>
                </a:solidFill>
                <a:latin typeface="system-ui"/>
              </a:rPr>
              <a:t>Predictor de Transmitancia</a:t>
            </a:r>
            <a:endParaRPr lang="en-US" sz="3600" dirty="0">
              <a:solidFill>
                <a:schemeClr val="bg1"/>
              </a:solidFill>
            </a:endParaRPr>
          </a:p>
        </p:txBody>
      </p:sp>
      <p:sp>
        <p:nvSpPr>
          <p:cNvPr id="5" name="TextBox 4">
            <a:extLst>
              <a:ext uri="{FF2B5EF4-FFF2-40B4-BE49-F238E27FC236}">
                <a16:creationId xmlns:a16="http://schemas.microsoft.com/office/drawing/2014/main" id="{2A3C6D59-A090-426E-1709-2D66BBB274B6}"/>
              </a:ext>
            </a:extLst>
          </p:cNvPr>
          <p:cNvSpPr txBox="1"/>
          <p:nvPr/>
        </p:nvSpPr>
        <p:spPr>
          <a:xfrm>
            <a:off x="6438666" y="1080829"/>
            <a:ext cx="4990995" cy="5026496"/>
          </a:xfrm>
          <a:prstGeom prst="roundRect">
            <a:avLst/>
          </a:prstGeom>
          <a:noFill/>
          <a:ln w="3175" cap="flat" cmpd="sng" algn="ctr">
            <a:solidFill>
              <a:srgbClr val="5DFDCB">
                <a:alpha val="81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a:spAutoFit/>
          </a:bodyPr>
          <a:lstStyle/>
          <a:p>
            <a:pPr marL="342900" indent="-342900">
              <a:lnSpc>
                <a:spcPct val="150000"/>
              </a:lnSpc>
              <a:buFont typeface="Arial" panose="020B0604020202020204" pitchFamily="34" charset="0"/>
              <a:buChar char="•"/>
            </a:pPr>
            <a:r>
              <a:rPr lang="es-ES" sz="1400" b="0" i="0" dirty="0">
                <a:solidFill>
                  <a:srgbClr val="A8B3C7"/>
                </a:solidFill>
                <a:effectLst/>
                <a:latin typeface="system-ui"/>
              </a:rPr>
              <a:t>Con la red neuronal entrenada como modelo definitivo, se diseña una interfase interactiva capaz de calcular la transmitancia térmica (U) en tiempo real. Esta herramienta permite visualizar los resultados de forma inmediata y comprender el efecto de variables como temperatura, flujo de calor y espesor de pared.</a:t>
            </a:r>
          </a:p>
          <a:p>
            <a:pPr marL="342900" indent="-342900">
              <a:lnSpc>
                <a:spcPct val="150000"/>
              </a:lnSpc>
              <a:buFont typeface="Arial" panose="020B0604020202020204" pitchFamily="34" charset="0"/>
              <a:buChar char="•"/>
            </a:pPr>
            <a:r>
              <a:rPr lang="es-ES" sz="1400" b="0" i="0" dirty="0">
                <a:solidFill>
                  <a:srgbClr val="A8B3C7"/>
                </a:solidFill>
                <a:effectLst/>
                <a:latin typeface="system-ui"/>
              </a:rPr>
              <a:t>La interfase integra:</a:t>
            </a:r>
          </a:p>
          <a:p>
            <a:pPr>
              <a:lnSpc>
                <a:spcPct val="150000"/>
              </a:lnSpc>
            </a:pPr>
            <a:r>
              <a:rPr lang="es-ES" sz="1400" b="0" i="0" dirty="0">
                <a:solidFill>
                  <a:srgbClr val="A8B3C7"/>
                </a:solidFill>
                <a:effectLst/>
                <a:latin typeface="system-ui"/>
              </a:rPr>
              <a:t>🔹 Entrada de variables medidas o simuladas.</a:t>
            </a:r>
          </a:p>
          <a:p>
            <a:pPr>
              <a:lnSpc>
                <a:spcPct val="150000"/>
              </a:lnSpc>
            </a:pPr>
            <a:r>
              <a:rPr lang="es-ES" sz="1400" b="0" i="0" dirty="0">
                <a:solidFill>
                  <a:srgbClr val="A8B3C7"/>
                </a:solidFill>
                <a:effectLst/>
                <a:latin typeface="system-ui"/>
              </a:rPr>
              <a:t>🔹 Cálculo instantáneo de U mediante el modelo neuronal.</a:t>
            </a:r>
          </a:p>
          <a:p>
            <a:pPr>
              <a:lnSpc>
                <a:spcPct val="150000"/>
              </a:lnSpc>
            </a:pPr>
            <a:r>
              <a:rPr lang="es-ES" sz="1400" b="0" i="0" dirty="0">
                <a:solidFill>
                  <a:srgbClr val="A8B3C7"/>
                </a:solidFill>
                <a:effectLst/>
                <a:latin typeface="system-ui"/>
              </a:rPr>
              <a:t>🔹 Representación visual y comparación con valores normativos.</a:t>
            </a:r>
          </a:p>
          <a:p>
            <a:pPr marL="342900" indent="-342900">
              <a:lnSpc>
                <a:spcPct val="150000"/>
              </a:lnSpc>
              <a:buFont typeface="Arial" panose="020B0604020202020204" pitchFamily="34" charset="0"/>
              <a:buChar char="•"/>
            </a:pPr>
            <a:r>
              <a:rPr lang="es-ES" sz="1400" b="0" i="0" dirty="0">
                <a:solidFill>
                  <a:srgbClr val="A8B3C7"/>
                </a:solidFill>
                <a:effectLst/>
                <a:latin typeface="system-ui"/>
              </a:rPr>
              <a:t>El sistema combina interpretabilidad con usabilidad práctica, facilitando la aplicación del modelo en entornos experimentales o de simulación climática.</a:t>
            </a:r>
          </a:p>
        </p:txBody>
      </p:sp>
      <p:sp>
        <p:nvSpPr>
          <p:cNvPr id="7" name="Rectangle 6">
            <a:extLst>
              <a:ext uri="{FF2B5EF4-FFF2-40B4-BE49-F238E27FC236}">
                <a16:creationId xmlns:a16="http://schemas.microsoft.com/office/drawing/2014/main" id="{EB09A350-6B53-E766-FEFB-7FB396A6FF7D}"/>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A2EDFB5C-CB04-9D0A-D47D-EFBC13916FFF}"/>
              </a:ext>
            </a:extLst>
          </p:cNvPr>
          <p:cNvSpPr/>
          <p:nvPr/>
        </p:nvSpPr>
        <p:spPr>
          <a:xfrm rot="10800000">
            <a:off x="11598441"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FECA7F54-E3A2-C619-83A4-A7B11EED4901}"/>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18B34B0A-D4EB-A28E-D2BF-D2D76051A50A}"/>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pic>
        <p:nvPicPr>
          <p:cNvPr id="9" name="Picture 8">
            <a:extLst>
              <a:ext uri="{FF2B5EF4-FFF2-40B4-BE49-F238E27FC236}">
                <a16:creationId xmlns:a16="http://schemas.microsoft.com/office/drawing/2014/main" id="{A34CEAC6-171F-3462-ED03-797B9A2B5AF7}"/>
              </a:ext>
            </a:extLst>
          </p:cNvPr>
          <p:cNvPicPr>
            <a:picLocks noChangeAspect="1"/>
          </p:cNvPicPr>
          <p:nvPr/>
        </p:nvPicPr>
        <p:blipFill>
          <a:blip r:embed="rId4"/>
          <a:srcRect l="1939" r="1260" b="2367"/>
          <a:stretch>
            <a:fillRect/>
          </a:stretch>
        </p:blipFill>
        <p:spPr>
          <a:xfrm>
            <a:off x="580146" y="1199009"/>
            <a:ext cx="5686149" cy="5056917"/>
          </a:xfrm>
          <a:prstGeom prst="rect">
            <a:avLst/>
          </a:prstGeom>
        </p:spPr>
      </p:pic>
    </p:spTree>
    <p:extLst>
      <p:ext uri="{BB962C8B-B14F-4D97-AF65-F5344CB8AC3E}">
        <p14:creationId xmlns:p14="http://schemas.microsoft.com/office/powerpoint/2010/main" val="1721413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144DF-9A56-E100-6545-C711BE6FA702}"/>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86DB31B2-CFD1-F853-ED91-FE5FDE890E9B}"/>
              </a:ext>
            </a:extLst>
          </p:cNvPr>
          <p:cNvGrpSpPr/>
          <p:nvPr/>
        </p:nvGrpSpPr>
        <p:grpSpPr>
          <a:xfrm>
            <a:off x="9832" y="12032"/>
            <a:ext cx="12192000" cy="6858000"/>
            <a:chOff x="0" y="0"/>
            <a:chExt cx="12192000" cy="6858000"/>
          </a:xfrm>
        </p:grpSpPr>
        <p:pic>
          <p:nvPicPr>
            <p:cNvPr id="11" name="Picture 10">
              <a:extLst>
                <a:ext uri="{FF2B5EF4-FFF2-40B4-BE49-F238E27FC236}">
                  <a16:creationId xmlns:a16="http://schemas.microsoft.com/office/drawing/2014/main" id="{C3744E27-DADA-E82C-EC44-0169286D53C5}"/>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2F508C38-2065-9898-C406-C96F08EEFDA5}"/>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36A03959-13C4-3CF2-55A7-33EFC92A7EBB}"/>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9A9E69FC-7CAF-BCA4-BCDD-39722BC26B9A}"/>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8A02D75D-35C3-7260-AF34-EBCBDCBAC8F7}"/>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F4C7292D-8F5D-9FF7-A81C-E005A5D41161}"/>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35370EDF-982F-71EB-B2A2-E71473B9FC2B}"/>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890B638B-8F80-575C-4403-52F8D6BFA761}"/>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1A467E54-91BB-F85C-6F7F-6967F0650491}"/>
              </a:ext>
            </a:extLst>
          </p:cNvPr>
          <p:cNvSpPr txBox="1"/>
          <p:nvPr/>
        </p:nvSpPr>
        <p:spPr>
          <a:xfrm>
            <a:off x="995025" y="142576"/>
            <a:ext cx="10099154" cy="646331"/>
          </a:xfrm>
          <a:prstGeom prst="rect">
            <a:avLst/>
          </a:prstGeom>
          <a:noFill/>
        </p:spPr>
        <p:txBody>
          <a:bodyPr wrap="square">
            <a:spAutoFit/>
          </a:bodyPr>
          <a:lstStyle/>
          <a:p>
            <a:r>
              <a:rPr lang="es-ES" sz="3600" b="1" dirty="0">
                <a:solidFill>
                  <a:schemeClr val="bg1"/>
                </a:solidFill>
                <a:latin typeface="system-ui"/>
              </a:rPr>
              <a:t>Análisis de ahorros y costos</a:t>
            </a:r>
            <a:endParaRPr lang="en-US" sz="3600" dirty="0">
              <a:solidFill>
                <a:schemeClr val="bg1"/>
              </a:solidFill>
            </a:endParaRPr>
          </a:p>
        </p:txBody>
      </p:sp>
      <p:sp>
        <p:nvSpPr>
          <p:cNvPr id="7" name="Rectangle 6">
            <a:extLst>
              <a:ext uri="{FF2B5EF4-FFF2-40B4-BE49-F238E27FC236}">
                <a16:creationId xmlns:a16="http://schemas.microsoft.com/office/drawing/2014/main" id="{6570BFF6-D40C-FDC0-80FD-B2330D8ADF23}"/>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6DE70072-5BC0-9604-4C02-65109C2EAA39}"/>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15F40B9A-EFC9-7F4A-AE16-100A049D958C}"/>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8B0887E2-1B86-25A8-2516-8D0296EBE19E}"/>
              </a:ext>
            </a:extLst>
          </p:cNvPr>
          <p:cNvSpPr/>
          <p:nvPr/>
        </p:nvSpPr>
        <p:spPr>
          <a:xfrm rot="5400000" flipH="1">
            <a:off x="7808709" y="3157290"/>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pic>
        <p:nvPicPr>
          <p:cNvPr id="6" name="Picture 5">
            <a:extLst>
              <a:ext uri="{FF2B5EF4-FFF2-40B4-BE49-F238E27FC236}">
                <a16:creationId xmlns:a16="http://schemas.microsoft.com/office/drawing/2014/main" id="{853BCE5A-DEAA-B765-9DA8-7AC97BC91301}"/>
              </a:ext>
            </a:extLst>
          </p:cNvPr>
          <p:cNvPicPr>
            <a:picLocks noChangeAspect="1"/>
          </p:cNvPicPr>
          <p:nvPr/>
        </p:nvPicPr>
        <p:blipFill>
          <a:blip r:embed="rId4"/>
          <a:stretch>
            <a:fillRect/>
          </a:stretch>
        </p:blipFill>
        <p:spPr>
          <a:xfrm>
            <a:off x="762422" y="1729372"/>
            <a:ext cx="10810142" cy="3386578"/>
          </a:xfrm>
          <a:prstGeom prst="rect">
            <a:avLst/>
          </a:prstGeom>
        </p:spPr>
      </p:pic>
    </p:spTree>
    <p:extLst>
      <p:ext uri="{BB962C8B-B14F-4D97-AF65-F5344CB8AC3E}">
        <p14:creationId xmlns:p14="http://schemas.microsoft.com/office/powerpoint/2010/main" val="2393287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A2660-562B-2EE7-3E9F-550EB699D662}"/>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F0B9F8DC-D912-EDB6-296C-B2F64F6F39B8}"/>
              </a:ext>
            </a:extLst>
          </p:cNvPr>
          <p:cNvGrpSpPr/>
          <p:nvPr/>
        </p:nvGrpSpPr>
        <p:grpSpPr>
          <a:xfrm>
            <a:off x="9832" y="-4010"/>
            <a:ext cx="12192000" cy="6858000"/>
            <a:chOff x="0" y="0"/>
            <a:chExt cx="12192000" cy="6858000"/>
          </a:xfrm>
        </p:grpSpPr>
        <p:pic>
          <p:nvPicPr>
            <p:cNvPr id="11" name="Picture 10">
              <a:extLst>
                <a:ext uri="{FF2B5EF4-FFF2-40B4-BE49-F238E27FC236}">
                  <a16:creationId xmlns:a16="http://schemas.microsoft.com/office/drawing/2014/main" id="{B43DAB7C-FCFE-D3E9-02DD-C9C261F84AD3}"/>
                </a:ext>
              </a:extLst>
            </p:cNvPr>
            <p:cNvPicPr>
              <a:picLocks noChangeAspect="1"/>
            </p:cNvPicPr>
            <p:nvPr/>
          </p:nvPicPr>
          <p:blipFill>
            <a:blip r:embed="rId3"/>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D1405C4D-6A4F-04F4-6F32-6888AC79F277}"/>
                </a:ext>
              </a:extLst>
            </p:cNvPr>
            <p:cNvPicPr>
              <a:picLocks noChangeAspect="1"/>
            </p:cNvPicPr>
            <p:nvPr/>
          </p:nvPicPr>
          <p:blipFill>
            <a:blip r:embed="rId3"/>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73FC6034-10B5-BED1-19EB-A36B201E74E3}"/>
                </a:ext>
              </a:extLst>
            </p:cNvPr>
            <p:cNvPicPr>
              <a:picLocks noChangeAspect="1"/>
            </p:cNvPicPr>
            <p:nvPr/>
          </p:nvPicPr>
          <p:blipFill>
            <a:blip r:embed="rId3"/>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B951ABD9-BAD0-4E55-981C-3BF4D972A2B4}"/>
                </a:ext>
              </a:extLst>
            </p:cNvPr>
            <p:cNvPicPr>
              <a:picLocks noChangeAspect="1"/>
            </p:cNvPicPr>
            <p:nvPr/>
          </p:nvPicPr>
          <p:blipFill>
            <a:blip r:embed="rId3"/>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8463F5D8-9206-ACD6-C54C-2CBC3C0E3F67}"/>
                </a:ext>
              </a:extLst>
            </p:cNvPr>
            <p:cNvPicPr>
              <a:picLocks noChangeAspect="1"/>
            </p:cNvPicPr>
            <p:nvPr/>
          </p:nvPicPr>
          <p:blipFill>
            <a:blip r:embed="rId3"/>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40E63BAF-E3DD-253C-8A60-E4CE3476A2FD}"/>
                </a:ext>
              </a:extLst>
            </p:cNvPr>
            <p:cNvPicPr>
              <a:picLocks noChangeAspect="1"/>
            </p:cNvPicPr>
            <p:nvPr/>
          </p:nvPicPr>
          <p:blipFill>
            <a:blip r:embed="rId3"/>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104BFF1B-5F53-3F2E-6D94-2059D66BB02F}"/>
                </a:ext>
              </a:extLst>
            </p:cNvPr>
            <p:cNvPicPr>
              <a:picLocks noChangeAspect="1"/>
            </p:cNvPicPr>
            <p:nvPr/>
          </p:nvPicPr>
          <p:blipFill>
            <a:blip r:embed="rId3"/>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2D80D136-D829-B1B3-8F9C-ABE16A8F76EA}"/>
                </a:ext>
              </a:extLst>
            </p:cNvPr>
            <p:cNvPicPr>
              <a:picLocks noChangeAspect="1"/>
            </p:cNvPicPr>
            <p:nvPr/>
          </p:nvPicPr>
          <p:blipFill>
            <a:blip r:embed="rId3"/>
            <a:srcRect r="61980"/>
            <a:stretch>
              <a:fillRect/>
            </a:stretch>
          </p:blipFill>
          <p:spPr>
            <a:xfrm>
              <a:off x="10714262" y="3047468"/>
              <a:ext cx="1477738" cy="3810532"/>
            </a:xfrm>
            <a:prstGeom prst="rect">
              <a:avLst/>
            </a:prstGeom>
          </p:spPr>
        </p:pic>
      </p:grpSp>
      <p:sp>
        <p:nvSpPr>
          <p:cNvPr id="3" name="TextBox 2">
            <a:extLst>
              <a:ext uri="{FF2B5EF4-FFF2-40B4-BE49-F238E27FC236}">
                <a16:creationId xmlns:a16="http://schemas.microsoft.com/office/drawing/2014/main" id="{65720833-7438-0574-054E-4A46265DE675}"/>
              </a:ext>
            </a:extLst>
          </p:cNvPr>
          <p:cNvSpPr txBox="1"/>
          <p:nvPr/>
        </p:nvSpPr>
        <p:spPr>
          <a:xfrm>
            <a:off x="995025" y="142576"/>
            <a:ext cx="10099154" cy="646331"/>
          </a:xfrm>
          <a:prstGeom prst="rect">
            <a:avLst/>
          </a:prstGeom>
          <a:noFill/>
        </p:spPr>
        <p:txBody>
          <a:bodyPr wrap="square">
            <a:spAutoFit/>
          </a:bodyPr>
          <a:lstStyle/>
          <a:p>
            <a:r>
              <a:rPr lang="es-ES" sz="3600" b="1" dirty="0">
                <a:solidFill>
                  <a:schemeClr val="bg1"/>
                </a:solidFill>
                <a:latin typeface="system-ui"/>
              </a:rPr>
              <a:t>Conclusiones</a:t>
            </a:r>
            <a:endParaRPr lang="en-US" sz="3600" dirty="0">
              <a:solidFill>
                <a:schemeClr val="bg1"/>
              </a:solidFill>
            </a:endParaRPr>
          </a:p>
        </p:txBody>
      </p:sp>
      <p:sp>
        <p:nvSpPr>
          <p:cNvPr id="7" name="Rectangle 6">
            <a:extLst>
              <a:ext uri="{FF2B5EF4-FFF2-40B4-BE49-F238E27FC236}">
                <a16:creationId xmlns:a16="http://schemas.microsoft.com/office/drawing/2014/main" id="{1AA9F7BD-B925-A2AE-E189-86A56BAD575F}"/>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Rectangle 20">
            <a:extLst>
              <a:ext uri="{FF2B5EF4-FFF2-40B4-BE49-F238E27FC236}">
                <a16:creationId xmlns:a16="http://schemas.microsoft.com/office/drawing/2014/main" id="{D3949C11-88CB-9C13-FC97-A908249E03A2}"/>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Rectangle 22">
            <a:extLst>
              <a:ext uri="{FF2B5EF4-FFF2-40B4-BE49-F238E27FC236}">
                <a16:creationId xmlns:a16="http://schemas.microsoft.com/office/drawing/2014/main" id="{7495B6B3-8DF6-4D47-24A3-58D702C7D5DB}"/>
              </a:ext>
            </a:extLst>
          </p:cNvPr>
          <p:cNvSpPr/>
          <p:nvPr/>
        </p:nvSpPr>
        <p:spPr>
          <a:xfrm rot="16200000">
            <a:off x="4503962" y="-2536213"/>
            <a:ext cx="45719" cy="6858000"/>
          </a:xfrm>
          <a:prstGeom prst="rect">
            <a:avLst/>
          </a:prstGeom>
          <a:gradFill rotWithShape="1">
            <a:gsLst>
              <a:gs pos="0">
                <a:srgbClr val="5DFDCB">
                  <a:lumMod val="0"/>
                </a:srgbClr>
              </a:gs>
              <a:gs pos="100000">
                <a:srgbClr val="5DFDCB">
                  <a:lumMod val="49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6" name="Rectangle 25">
            <a:extLst>
              <a:ext uri="{FF2B5EF4-FFF2-40B4-BE49-F238E27FC236}">
                <a16:creationId xmlns:a16="http://schemas.microsoft.com/office/drawing/2014/main" id="{E451D0C6-E595-7906-96E2-669F57ACEAD1}"/>
              </a:ext>
            </a:extLst>
          </p:cNvPr>
          <p:cNvSpPr/>
          <p:nvPr/>
        </p:nvSpPr>
        <p:spPr>
          <a:xfrm rot="5400000" flipH="1">
            <a:off x="7849878" y="2919171"/>
            <a:ext cx="76884" cy="6858000"/>
          </a:xfrm>
          <a:prstGeom prst="rect">
            <a:avLst/>
          </a:prstGeom>
          <a:gradFill rotWithShape="1">
            <a:gsLst>
              <a:gs pos="0">
                <a:srgbClr val="5DFDCB">
                  <a:lumMod val="0"/>
                </a:srgbClr>
              </a:gs>
              <a:gs pos="100000">
                <a:srgbClr val="8A5DFF">
                  <a:lumMod val="8200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6" name="TextBox 5">
            <a:extLst>
              <a:ext uri="{FF2B5EF4-FFF2-40B4-BE49-F238E27FC236}">
                <a16:creationId xmlns:a16="http://schemas.microsoft.com/office/drawing/2014/main" id="{B6D5D6A3-7FA6-A4F6-5A05-C7F51A2B38ED}"/>
              </a:ext>
            </a:extLst>
          </p:cNvPr>
          <p:cNvSpPr txBox="1"/>
          <p:nvPr/>
        </p:nvSpPr>
        <p:spPr>
          <a:xfrm>
            <a:off x="1816421" y="1393128"/>
            <a:ext cx="8578821" cy="4667945"/>
          </a:xfrm>
          <a:prstGeom prst="rect">
            <a:avLst/>
          </a:prstGeom>
          <a:noFill/>
        </p:spPr>
        <p:txBody>
          <a:bodyPr wrap="square">
            <a:spAutoFit/>
          </a:bodyPr>
          <a:lstStyle/>
          <a:p>
            <a:pPr algn="l">
              <a:spcBef>
                <a:spcPts val="450"/>
              </a:spcBef>
              <a:spcAft>
                <a:spcPts val="450"/>
              </a:spcAft>
              <a:buFont typeface="Arial" panose="020B0604020202020204" pitchFamily="34" charset="0"/>
              <a:buChar char="•"/>
            </a:pPr>
            <a:r>
              <a:rPr lang="es-ES" sz="2400" b="0" i="0" dirty="0">
                <a:solidFill>
                  <a:srgbClr val="E9F1FF"/>
                </a:solidFill>
                <a:effectLst/>
                <a:latin typeface="system-ui"/>
              </a:rPr>
              <a:t>El modelo de Red Neuronal fue el que más se aproximó al valor del ensayo físico real.</a:t>
            </a:r>
          </a:p>
          <a:p>
            <a:pPr algn="l">
              <a:spcBef>
                <a:spcPts val="450"/>
              </a:spcBef>
              <a:spcAft>
                <a:spcPts val="450"/>
              </a:spcAft>
              <a:buFont typeface="Arial" panose="020B0604020202020204" pitchFamily="34" charset="0"/>
              <a:buChar char="•"/>
            </a:pPr>
            <a:r>
              <a:rPr lang="es-ES" sz="2400" b="0" i="0" dirty="0">
                <a:solidFill>
                  <a:srgbClr val="E9F1FF"/>
                </a:solidFill>
                <a:effectLst/>
                <a:latin typeface="system-ui"/>
              </a:rPr>
              <a:t>Otros modelos muestran buen R², pero difieren numéricamente del ensayo.</a:t>
            </a:r>
          </a:p>
          <a:p>
            <a:pPr algn="l">
              <a:spcBef>
                <a:spcPts val="450"/>
              </a:spcBef>
              <a:spcAft>
                <a:spcPts val="450"/>
              </a:spcAft>
              <a:buFont typeface="Arial" panose="020B0604020202020204" pitchFamily="34" charset="0"/>
              <a:buChar char="•"/>
            </a:pPr>
            <a:r>
              <a:rPr lang="es-ES" sz="2400" b="0" i="0" dirty="0">
                <a:solidFill>
                  <a:srgbClr val="E9F1FF"/>
                </a:solidFill>
                <a:effectLst/>
                <a:latin typeface="system-ui"/>
              </a:rPr>
              <a:t>Las variaciones de U podrían deberse a errores de medición, especialmente en horarios de alta radiación (14–16 </a:t>
            </a:r>
            <a:r>
              <a:rPr lang="es-ES" sz="2400" b="0" i="0" dirty="0" err="1">
                <a:solidFill>
                  <a:srgbClr val="E9F1FF"/>
                </a:solidFill>
                <a:effectLst/>
                <a:latin typeface="system-ui"/>
              </a:rPr>
              <a:t>hs</a:t>
            </a:r>
            <a:r>
              <a:rPr lang="es-ES" sz="2400" b="0" i="0" dirty="0">
                <a:solidFill>
                  <a:srgbClr val="E9F1FF"/>
                </a:solidFill>
                <a:effectLst/>
                <a:latin typeface="system-ui"/>
              </a:rPr>
              <a:t>).</a:t>
            </a:r>
          </a:p>
          <a:p>
            <a:pPr algn="l">
              <a:spcBef>
                <a:spcPts val="450"/>
              </a:spcBef>
              <a:spcAft>
                <a:spcPts val="450"/>
              </a:spcAft>
              <a:buFont typeface="Arial" panose="020B0604020202020204" pitchFamily="34" charset="0"/>
              <a:buChar char="•"/>
            </a:pPr>
            <a:r>
              <a:rPr lang="es-ES" sz="2400" b="0" i="0" dirty="0">
                <a:solidFill>
                  <a:srgbClr val="E9F1FF"/>
                </a:solidFill>
                <a:effectLst/>
                <a:latin typeface="system-ui"/>
              </a:rPr>
              <a:t>El algoritmo podría permitir estimaciones de transmitancia con datos medidos, incluso online si se conectaran sensores y adquisidores.</a:t>
            </a:r>
          </a:p>
          <a:p>
            <a:pPr algn="l">
              <a:spcBef>
                <a:spcPts val="450"/>
              </a:spcBef>
              <a:spcAft>
                <a:spcPts val="450"/>
              </a:spcAft>
              <a:buFont typeface="Arial" panose="020B0604020202020204" pitchFamily="34" charset="0"/>
              <a:buChar char="•"/>
            </a:pPr>
            <a:r>
              <a:rPr lang="es-ES" sz="2400" b="0" i="0" dirty="0">
                <a:solidFill>
                  <a:srgbClr val="E9F1FF"/>
                </a:solidFill>
                <a:effectLst/>
                <a:latin typeface="system-ui"/>
              </a:rPr>
              <a:t>El modelo admite tanto valores medidos como valores simulados por lo que implica un importante ahorro de dinero en ensayos.</a:t>
            </a:r>
          </a:p>
        </p:txBody>
      </p:sp>
    </p:spTree>
    <p:extLst>
      <p:ext uri="{BB962C8B-B14F-4D97-AF65-F5344CB8AC3E}">
        <p14:creationId xmlns:p14="http://schemas.microsoft.com/office/powerpoint/2010/main" val="2725499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FE378-0BF1-8621-86C7-4FA8C7F95652}"/>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7435559C-B8C3-E784-AE58-0A0167C7465F}"/>
              </a:ext>
            </a:extLst>
          </p:cNvPr>
          <p:cNvGrpSpPr/>
          <p:nvPr/>
        </p:nvGrpSpPr>
        <p:grpSpPr>
          <a:xfrm>
            <a:off x="0" y="0"/>
            <a:ext cx="12192000" cy="6858000"/>
            <a:chOff x="0" y="0"/>
            <a:chExt cx="12192000" cy="6858000"/>
          </a:xfrm>
        </p:grpSpPr>
        <p:pic>
          <p:nvPicPr>
            <p:cNvPr id="11" name="Picture 10">
              <a:extLst>
                <a:ext uri="{FF2B5EF4-FFF2-40B4-BE49-F238E27FC236}">
                  <a16:creationId xmlns:a16="http://schemas.microsoft.com/office/drawing/2014/main" id="{69865688-8047-E651-14C3-D9909B927108}"/>
                </a:ext>
              </a:extLst>
            </p:cNvPr>
            <p:cNvPicPr>
              <a:picLocks noChangeAspect="1"/>
            </p:cNvPicPr>
            <p:nvPr/>
          </p:nvPicPr>
          <p:blipFill>
            <a:blip r:embed="rId2"/>
            <a:stretch>
              <a:fillRect/>
            </a:stretch>
          </p:blipFill>
          <p:spPr>
            <a:xfrm>
              <a:off x="0" y="0"/>
              <a:ext cx="3886742" cy="3810532"/>
            </a:xfrm>
            <a:prstGeom prst="rect">
              <a:avLst/>
            </a:prstGeom>
          </p:spPr>
        </p:pic>
        <p:pic>
          <p:nvPicPr>
            <p:cNvPr id="12" name="Picture 11">
              <a:extLst>
                <a:ext uri="{FF2B5EF4-FFF2-40B4-BE49-F238E27FC236}">
                  <a16:creationId xmlns:a16="http://schemas.microsoft.com/office/drawing/2014/main" id="{7161D105-1707-75E8-1751-8520F78A73AB}"/>
                </a:ext>
              </a:extLst>
            </p:cNvPr>
            <p:cNvPicPr>
              <a:picLocks noChangeAspect="1"/>
            </p:cNvPicPr>
            <p:nvPr/>
          </p:nvPicPr>
          <p:blipFill>
            <a:blip r:embed="rId2"/>
            <a:stretch>
              <a:fillRect/>
            </a:stretch>
          </p:blipFill>
          <p:spPr>
            <a:xfrm>
              <a:off x="0" y="3047468"/>
              <a:ext cx="3886742" cy="3810532"/>
            </a:xfrm>
            <a:prstGeom prst="rect">
              <a:avLst/>
            </a:prstGeom>
          </p:spPr>
        </p:pic>
        <p:pic>
          <p:nvPicPr>
            <p:cNvPr id="13" name="Picture 12">
              <a:extLst>
                <a:ext uri="{FF2B5EF4-FFF2-40B4-BE49-F238E27FC236}">
                  <a16:creationId xmlns:a16="http://schemas.microsoft.com/office/drawing/2014/main" id="{00E1AB25-0D06-1438-43A8-40708717D938}"/>
                </a:ext>
              </a:extLst>
            </p:cNvPr>
            <p:cNvPicPr>
              <a:picLocks noChangeAspect="1"/>
            </p:cNvPicPr>
            <p:nvPr/>
          </p:nvPicPr>
          <p:blipFill>
            <a:blip r:embed="rId2"/>
            <a:stretch>
              <a:fillRect/>
            </a:stretch>
          </p:blipFill>
          <p:spPr>
            <a:xfrm>
              <a:off x="3653062" y="0"/>
              <a:ext cx="3886742" cy="3810532"/>
            </a:xfrm>
            <a:prstGeom prst="rect">
              <a:avLst/>
            </a:prstGeom>
          </p:spPr>
        </p:pic>
        <p:pic>
          <p:nvPicPr>
            <p:cNvPr id="14" name="Picture 13">
              <a:extLst>
                <a:ext uri="{FF2B5EF4-FFF2-40B4-BE49-F238E27FC236}">
                  <a16:creationId xmlns:a16="http://schemas.microsoft.com/office/drawing/2014/main" id="{35C4507D-0751-F7BF-F9C3-8E28779A4F2F}"/>
                </a:ext>
              </a:extLst>
            </p:cNvPr>
            <p:cNvPicPr>
              <a:picLocks noChangeAspect="1"/>
            </p:cNvPicPr>
            <p:nvPr/>
          </p:nvPicPr>
          <p:blipFill>
            <a:blip r:embed="rId2"/>
            <a:stretch>
              <a:fillRect/>
            </a:stretch>
          </p:blipFill>
          <p:spPr>
            <a:xfrm>
              <a:off x="3653062" y="3047468"/>
              <a:ext cx="3886742" cy="3810532"/>
            </a:xfrm>
            <a:prstGeom prst="rect">
              <a:avLst/>
            </a:prstGeom>
          </p:spPr>
        </p:pic>
        <p:pic>
          <p:nvPicPr>
            <p:cNvPr id="15" name="Picture 14">
              <a:extLst>
                <a:ext uri="{FF2B5EF4-FFF2-40B4-BE49-F238E27FC236}">
                  <a16:creationId xmlns:a16="http://schemas.microsoft.com/office/drawing/2014/main" id="{762D7B31-39F3-6F91-0BD5-CDE9DE57C81C}"/>
                </a:ext>
              </a:extLst>
            </p:cNvPr>
            <p:cNvPicPr>
              <a:picLocks noChangeAspect="1"/>
            </p:cNvPicPr>
            <p:nvPr/>
          </p:nvPicPr>
          <p:blipFill>
            <a:blip r:embed="rId2"/>
            <a:stretch>
              <a:fillRect/>
            </a:stretch>
          </p:blipFill>
          <p:spPr>
            <a:xfrm>
              <a:off x="7300502" y="0"/>
              <a:ext cx="3886742" cy="3810532"/>
            </a:xfrm>
            <a:prstGeom prst="rect">
              <a:avLst/>
            </a:prstGeom>
          </p:spPr>
        </p:pic>
        <p:pic>
          <p:nvPicPr>
            <p:cNvPr id="16" name="Picture 15">
              <a:extLst>
                <a:ext uri="{FF2B5EF4-FFF2-40B4-BE49-F238E27FC236}">
                  <a16:creationId xmlns:a16="http://schemas.microsoft.com/office/drawing/2014/main" id="{5CCAE140-F594-E9C8-2AD9-BA0685BCA2C1}"/>
                </a:ext>
              </a:extLst>
            </p:cNvPr>
            <p:cNvPicPr>
              <a:picLocks noChangeAspect="1"/>
            </p:cNvPicPr>
            <p:nvPr/>
          </p:nvPicPr>
          <p:blipFill>
            <a:blip r:embed="rId2"/>
            <a:stretch>
              <a:fillRect/>
            </a:stretch>
          </p:blipFill>
          <p:spPr>
            <a:xfrm>
              <a:off x="7300502" y="3047468"/>
              <a:ext cx="3886742" cy="3810532"/>
            </a:xfrm>
            <a:prstGeom prst="rect">
              <a:avLst/>
            </a:prstGeom>
          </p:spPr>
        </p:pic>
        <p:pic>
          <p:nvPicPr>
            <p:cNvPr id="17" name="Picture 16">
              <a:extLst>
                <a:ext uri="{FF2B5EF4-FFF2-40B4-BE49-F238E27FC236}">
                  <a16:creationId xmlns:a16="http://schemas.microsoft.com/office/drawing/2014/main" id="{1651EE45-A423-0023-56D0-ABE4F6C538D6}"/>
                </a:ext>
              </a:extLst>
            </p:cNvPr>
            <p:cNvPicPr>
              <a:picLocks noChangeAspect="1"/>
            </p:cNvPicPr>
            <p:nvPr/>
          </p:nvPicPr>
          <p:blipFill>
            <a:blip r:embed="rId2"/>
            <a:srcRect r="61980"/>
            <a:stretch>
              <a:fillRect/>
            </a:stretch>
          </p:blipFill>
          <p:spPr>
            <a:xfrm>
              <a:off x="10714262" y="0"/>
              <a:ext cx="1477738" cy="3810532"/>
            </a:xfrm>
            <a:prstGeom prst="rect">
              <a:avLst/>
            </a:prstGeom>
          </p:spPr>
        </p:pic>
        <p:pic>
          <p:nvPicPr>
            <p:cNvPr id="18" name="Picture 17">
              <a:extLst>
                <a:ext uri="{FF2B5EF4-FFF2-40B4-BE49-F238E27FC236}">
                  <a16:creationId xmlns:a16="http://schemas.microsoft.com/office/drawing/2014/main" id="{DA3F459F-F0DD-BA0A-021C-297B3346ED9F}"/>
                </a:ext>
              </a:extLst>
            </p:cNvPr>
            <p:cNvPicPr>
              <a:picLocks noChangeAspect="1"/>
            </p:cNvPicPr>
            <p:nvPr/>
          </p:nvPicPr>
          <p:blipFill>
            <a:blip r:embed="rId2"/>
            <a:srcRect r="61980"/>
            <a:stretch>
              <a:fillRect/>
            </a:stretch>
          </p:blipFill>
          <p:spPr>
            <a:xfrm>
              <a:off x="10714262" y="3047468"/>
              <a:ext cx="1477738" cy="3810532"/>
            </a:xfrm>
            <a:prstGeom prst="rect">
              <a:avLst/>
            </a:prstGeom>
          </p:spPr>
        </p:pic>
      </p:grpSp>
      <p:sp>
        <p:nvSpPr>
          <p:cNvPr id="22" name="TextBox 21">
            <a:extLst>
              <a:ext uri="{FF2B5EF4-FFF2-40B4-BE49-F238E27FC236}">
                <a16:creationId xmlns:a16="http://schemas.microsoft.com/office/drawing/2014/main" id="{D6095B63-F6D7-5D8B-29AC-A2ECD9BDBDDC}"/>
              </a:ext>
            </a:extLst>
          </p:cNvPr>
          <p:cNvSpPr txBox="1"/>
          <p:nvPr/>
        </p:nvSpPr>
        <p:spPr>
          <a:xfrm>
            <a:off x="4700864" y="5148538"/>
            <a:ext cx="2871012" cy="1464231"/>
          </a:xfrm>
          <a:prstGeom prst="roundRect">
            <a:avLst/>
          </a:prstGeom>
          <a:noFill/>
          <a:ln>
            <a:solidFill>
              <a:srgbClr val="5DFDCB">
                <a:alpha val="44000"/>
              </a:srgbClr>
            </a:solidFill>
          </a:ln>
        </p:spPr>
        <p:txBody>
          <a:bodyPr wrap="square">
            <a:spAutoFit/>
          </a:bodyPr>
          <a:lstStyle/>
          <a:p>
            <a:pPr algn="l">
              <a:buNone/>
            </a:pPr>
            <a:r>
              <a:rPr lang="es-ES" sz="1600" b="0" i="0" dirty="0">
                <a:solidFill>
                  <a:srgbClr val="A8B3C7"/>
                </a:solidFill>
                <a:effectLst/>
                <a:latin typeface="system-ui"/>
              </a:rPr>
              <a:t>👨‍🎓 Alumno: </a:t>
            </a:r>
            <a:r>
              <a:rPr lang="es-ES" sz="1600" b="1" i="0" dirty="0">
                <a:solidFill>
                  <a:srgbClr val="A8B3C7"/>
                </a:solidFill>
                <a:effectLst/>
                <a:latin typeface="system-ui"/>
              </a:rPr>
              <a:t>Ángel Carballo</a:t>
            </a:r>
          </a:p>
          <a:p>
            <a:pPr algn="l">
              <a:buNone/>
            </a:pPr>
            <a:endParaRPr lang="es-ES" sz="1600" b="1" i="0" dirty="0">
              <a:solidFill>
                <a:srgbClr val="A8B3C7"/>
              </a:solidFill>
              <a:effectLst/>
              <a:latin typeface="system-ui"/>
            </a:endParaRPr>
          </a:p>
          <a:p>
            <a:pPr algn="l">
              <a:buNone/>
            </a:pPr>
            <a:r>
              <a:rPr lang="es-ES" sz="1600" b="0" i="0" dirty="0">
                <a:solidFill>
                  <a:srgbClr val="A8B3C7"/>
                </a:solidFill>
                <a:effectLst/>
                <a:latin typeface="system-ui"/>
              </a:rPr>
              <a:t>👨‍🏫 Tutor: </a:t>
            </a:r>
            <a:r>
              <a:rPr lang="es-ES" sz="1600" b="1" i="0" dirty="0">
                <a:solidFill>
                  <a:srgbClr val="A8B3C7"/>
                </a:solidFill>
                <a:effectLst/>
                <a:latin typeface="system-ui"/>
              </a:rPr>
              <a:t>Julio Paredes</a:t>
            </a:r>
          </a:p>
          <a:p>
            <a:pPr algn="l">
              <a:buNone/>
            </a:pPr>
            <a:endParaRPr lang="es-ES" sz="1600" b="1" i="0" dirty="0">
              <a:solidFill>
                <a:srgbClr val="A8B3C7"/>
              </a:solidFill>
              <a:effectLst/>
              <a:latin typeface="system-ui"/>
            </a:endParaRPr>
          </a:p>
          <a:p>
            <a:pPr algn="l">
              <a:buNone/>
            </a:pPr>
            <a:r>
              <a:rPr lang="es-ES" sz="1600" b="0" i="0" dirty="0">
                <a:solidFill>
                  <a:srgbClr val="A8B3C7"/>
                </a:solidFill>
                <a:effectLst/>
                <a:latin typeface="system-ui"/>
              </a:rPr>
              <a:t>🗓️ Año: </a:t>
            </a:r>
            <a:r>
              <a:rPr lang="es-ES" sz="1600" b="1" i="0" dirty="0">
                <a:solidFill>
                  <a:srgbClr val="A8B3C7"/>
                </a:solidFill>
                <a:effectLst/>
                <a:latin typeface="system-ui"/>
              </a:rPr>
              <a:t>2025</a:t>
            </a:r>
            <a:endParaRPr lang="es-ES" sz="1600" b="0" i="0" dirty="0">
              <a:solidFill>
                <a:srgbClr val="A8B3C7"/>
              </a:solidFill>
              <a:effectLst/>
              <a:latin typeface="system-ui"/>
            </a:endParaRPr>
          </a:p>
        </p:txBody>
      </p:sp>
      <p:sp>
        <p:nvSpPr>
          <p:cNvPr id="24" name="TextBox 23">
            <a:extLst>
              <a:ext uri="{FF2B5EF4-FFF2-40B4-BE49-F238E27FC236}">
                <a16:creationId xmlns:a16="http://schemas.microsoft.com/office/drawing/2014/main" id="{9008FD93-AF14-320E-49CD-A2C492881837}"/>
              </a:ext>
            </a:extLst>
          </p:cNvPr>
          <p:cNvSpPr txBox="1"/>
          <p:nvPr/>
        </p:nvSpPr>
        <p:spPr>
          <a:xfrm>
            <a:off x="1271859" y="3164201"/>
            <a:ext cx="9729019" cy="646331"/>
          </a:xfrm>
          <a:prstGeom prst="rect">
            <a:avLst/>
          </a:prstGeom>
          <a:noFill/>
        </p:spPr>
        <p:txBody>
          <a:bodyPr wrap="square">
            <a:spAutoFit/>
          </a:bodyPr>
          <a:lstStyle/>
          <a:p>
            <a:pPr algn="ctr">
              <a:spcBef>
                <a:spcPts val="750"/>
              </a:spcBef>
              <a:spcAft>
                <a:spcPts val="600"/>
              </a:spcAft>
              <a:buNone/>
            </a:pPr>
            <a:r>
              <a:rPr lang="es-ES" sz="3600" b="1" dirty="0">
                <a:solidFill>
                  <a:srgbClr val="5DFDCB"/>
                </a:solidFill>
                <a:latin typeface="system-ui"/>
              </a:rPr>
              <a:t>¡MUCHAS GRACIAS!</a:t>
            </a:r>
          </a:p>
        </p:txBody>
      </p:sp>
      <p:pic>
        <p:nvPicPr>
          <p:cNvPr id="25" name="Picture 24">
            <a:extLst>
              <a:ext uri="{FF2B5EF4-FFF2-40B4-BE49-F238E27FC236}">
                <a16:creationId xmlns:a16="http://schemas.microsoft.com/office/drawing/2014/main" id="{DF5472E6-7A2C-56D8-0FD1-BFCB762F7ED8}"/>
              </a:ext>
            </a:extLst>
          </p:cNvPr>
          <p:cNvPicPr>
            <a:picLocks noChangeAspect="1"/>
          </p:cNvPicPr>
          <p:nvPr/>
        </p:nvPicPr>
        <p:blipFill>
          <a:blip r:embed="rId3"/>
          <a:stretch>
            <a:fillRect/>
          </a:stretch>
        </p:blipFill>
        <p:spPr>
          <a:xfrm>
            <a:off x="3433389" y="867311"/>
            <a:ext cx="5325218" cy="1047896"/>
          </a:xfrm>
          <a:prstGeom prst="rect">
            <a:avLst/>
          </a:prstGeom>
        </p:spPr>
      </p:pic>
      <p:sp>
        <p:nvSpPr>
          <p:cNvPr id="27" name="TextBox 26">
            <a:extLst>
              <a:ext uri="{FF2B5EF4-FFF2-40B4-BE49-F238E27FC236}">
                <a16:creationId xmlns:a16="http://schemas.microsoft.com/office/drawing/2014/main" id="{A916CC44-C16E-7A7F-68EE-C5F2DF417B24}"/>
              </a:ext>
            </a:extLst>
          </p:cNvPr>
          <p:cNvSpPr txBox="1"/>
          <p:nvPr/>
        </p:nvSpPr>
        <p:spPr>
          <a:xfrm>
            <a:off x="3238311" y="219386"/>
            <a:ext cx="5796117" cy="400110"/>
          </a:xfrm>
          <a:prstGeom prst="rect">
            <a:avLst/>
          </a:prstGeom>
          <a:noFill/>
        </p:spPr>
        <p:txBody>
          <a:bodyPr wrap="square">
            <a:spAutoFit/>
          </a:bodyPr>
          <a:lstStyle/>
          <a:p>
            <a:pPr algn="l">
              <a:spcAft>
                <a:spcPts val="450"/>
              </a:spcAft>
              <a:buNone/>
            </a:pPr>
            <a:r>
              <a:rPr lang="es-ES" sz="2000" b="0" i="0" dirty="0">
                <a:solidFill>
                  <a:srgbClr val="A8B3C7"/>
                </a:solidFill>
                <a:effectLst/>
                <a:latin typeface="system-ui"/>
              </a:rPr>
              <a:t>Diplomatura en Python orientada a científico de datos</a:t>
            </a:r>
          </a:p>
        </p:txBody>
      </p:sp>
      <p:sp>
        <p:nvSpPr>
          <p:cNvPr id="28" name="Rectangle 27">
            <a:extLst>
              <a:ext uri="{FF2B5EF4-FFF2-40B4-BE49-F238E27FC236}">
                <a16:creationId xmlns:a16="http://schemas.microsoft.com/office/drawing/2014/main" id="{E2CB4918-1647-4177-A0F8-0ADA226A0A8E}"/>
              </a:ext>
            </a:extLst>
          </p:cNvPr>
          <p:cNvSpPr/>
          <p:nvPr/>
        </p:nvSpPr>
        <p:spPr>
          <a:xfrm>
            <a:off x="-1" y="0"/>
            <a:ext cx="629266" cy="6858000"/>
          </a:xfrm>
          <a:prstGeom prst="rect">
            <a:avLst/>
          </a:prstGeom>
          <a:gradFill flip="none" rotWithShape="1">
            <a:gsLst>
              <a:gs pos="0">
                <a:srgbClr val="5DFDCB">
                  <a:lumMod val="0"/>
                </a:srgbClr>
              </a:gs>
              <a:gs pos="100000">
                <a:srgbClr val="5DFDCB">
                  <a:lumMod val="49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9" name="Rectangle 28">
            <a:extLst>
              <a:ext uri="{FF2B5EF4-FFF2-40B4-BE49-F238E27FC236}">
                <a16:creationId xmlns:a16="http://schemas.microsoft.com/office/drawing/2014/main" id="{180B81E2-10AF-F85C-7C32-A5271806FC5E}"/>
              </a:ext>
            </a:extLst>
          </p:cNvPr>
          <p:cNvSpPr/>
          <p:nvPr/>
        </p:nvSpPr>
        <p:spPr>
          <a:xfrm rot="10800000">
            <a:off x="11582399" y="0"/>
            <a:ext cx="609598" cy="6858000"/>
          </a:xfrm>
          <a:prstGeom prst="rect">
            <a:avLst/>
          </a:prstGeom>
          <a:gradFill flip="none" rotWithShape="1">
            <a:gsLst>
              <a:gs pos="0">
                <a:srgbClr val="5DFDCB">
                  <a:lumMod val="0"/>
                </a:srgbClr>
              </a:gs>
              <a:gs pos="100000">
                <a:srgbClr val="8A5DFF">
                  <a:lumMod val="82000"/>
                </a:srgbClr>
              </a:gs>
            </a:gsLst>
            <a:lin ang="108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extLst>
      <p:ext uri="{BB962C8B-B14F-4D97-AF65-F5344CB8AC3E}">
        <p14:creationId xmlns:p14="http://schemas.microsoft.com/office/powerpoint/2010/main" val="3743129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657</TotalTime>
  <Words>1554</Words>
  <Application>Microsoft Office PowerPoint</Application>
  <PresentationFormat>Widescreen</PresentationFormat>
  <Paragraphs>156</Paragraphs>
  <Slides>20</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Google Sans Text</vt:lpstr>
      <vt:lpstr>system-ui</vt:lpstr>
      <vt:lpstr>Aptos</vt:lpstr>
      <vt:lpstr>Aptos Display</vt:lpstr>
      <vt:lpstr>Arial</vt:lpstr>
      <vt:lpstr>Cambria Math</vt:lpstr>
      <vt:lpstr>Tw Cen MT</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CARBALLO Angel Andres    TENARIS</dc:creator>
  <cp:lastModifiedBy>CARBALLO Angel Andres    TENARIS</cp:lastModifiedBy>
  <cp:revision>12</cp:revision>
  <dcterms:created xsi:type="dcterms:W3CDTF">2025-10-29T18:42:27Z</dcterms:created>
  <dcterms:modified xsi:type="dcterms:W3CDTF">2025-11-11T14:23:31Z</dcterms:modified>
</cp:coreProperties>
</file>